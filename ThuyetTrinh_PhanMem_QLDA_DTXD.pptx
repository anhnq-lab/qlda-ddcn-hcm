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Ban lãnh đạo, các đồng chí.
Hôm nay, thay mặt đơn vị phát triển CIC — Công ty Cổ phần Công nghệ và Tư vấn CIC, tôi xin trân trọng giới thiệu Hệ thống Quản lý Dự án Đầu tư Xây dựng — giải pháp số hóa toàn diện được thiết kế riêng cho Ban Quản lý dự án Đầu tư xây dựng các công trình Dân dụng và Công nghiệp trực thuộc UBND Thành phố Hồ Chí Minh.
Xin phép được trình bày nội dung chi tiết để quý Ban xem xét.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thuyết trình được cấu trúc thành 7 phần chính. Trước tiên, tôi sẽ trình bày bối cảnh và căn cứ pháp lý — vì sao tại thời điểm này chúng ta cần triển khai hệ thống quản lý dự án số hóa. Tiếp theo là tổng quan hệ thống, chi tiết 13 module chức năng, nền tảng công nghệ, cơ chế bảo mật, và cuối cùng là lợi ích cùng lộ trình triển khai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Ban, trước khi đi vào chi tiết phần mềm, xin phép trình bày bối cảnh chung.
Nhìn lại lịch sử phát triển, nhân loại đã trải qua 4 cuộc cách mạng công nghiệp. Cuộc Cách mạng 1.0 thay thế sức lao động thủ công bằng máy móc. Cách mạng 2.0 đưa sản xuất lên quy mô hàng loạt nhờ điện khí hóa. Cách mạng 3.0 mang đến tự động hóa qua máy tính và Internet.
Hiện nay chúng ta đang ở giữa Cách mạng Công nghiệp lần thứ 4, nơi dữ liệu trở thành tài sản cốt lõi. Đối với ngành xây dựng và quản lý dự án đầu tư công, tổ chức nào làm chủ được dữ liệu sớm sẽ quản lý hiệu quả hơn, minh bạch hơn và tiết kiệm nguồn lực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bối cảnh Cách mạng 4.0, Đảng và Nhà nước đã ban hành hàng loạt chính sách, pháp luật tạo nền tảng pháp lý cho chuyển đổi số.
Về quản lý dự án: Luật Đầu tư công 58/2024 thay thế Luật 39; Luật Xây dựng 135/2025 lần đầu quy định về chuyển đổi số và BIM; Luật Đấu thầu 22/2023 cùng các nghị định hướng dẫn.
Về chuyển đổi số: đặc biệt quan trọng là Nghị định 111/2024 về CSDL quốc gia xây dựng, Thông tư 24/2025 hướng dẫn chi tiết khoản 4 Điều 8 NĐ 111 về thông tin trong hệ thống CSDL quốc gia, và Nghị quyết 57 của Bộ Chính trị về đột phá chuyển đổi số quốc 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Pháp luật đã có, định hướng đã rõ ràng. Vậy thực trạng quản lý dự án hiện nay đang gặp những thách thức gì?
Xin thẳng thắn nhìn nhận 5 vấn đề cốt lõi: Thứ nhất, dữ liệu quản lý phân tán trên Excel, email, giấy tờ. Thứ hai, lãnh đạo thiếu công cụ theo dõi tiến độ theo thời gian thực. Thứ ba, việc tổng hợp báo cáo thủ công tốn thời gian và dễ sai sót. Thứ tư, nhiều văn bản pháp luật mới ban hành, khó đảm bảo tuân thủ đầy đủ. Thứ năm, chưa đáp ứng yêu cầu chuyển đổi số — chưa kết nối CSDL quốc gia, chưa ứng dụng BIM, AI, chưa có Môi trường dữ liệu chung CDE theo ISO 19650.
Đứng trước các thách thức đó, hệ thống QLDA ĐTXD được xây dựng với 5 trụ cột giải pháp toàn diện như quý Ban thấy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trình bày tổng quan về hệ thống. Đây là nền tảng web, cán bộ chỉ cần mở trình duyệt là sử dụng được, không cần cài đặt phần mềm.
Hệ thống gồm hơn 13 module chức năng, phục vụ toàn bộ 5 Ban QLDA trực thuộc. Tích hợp BIM 3D Viewer để xem mô hình công trình dạng IFC trực tiếp trên trình duyệt. AI Gemini hỗ trợ tóm tắt tình hình và phát hiện bất thường. Bảo mật theo cơ chế RBAC kết hợp Row Level Security, đảm bảo mỗi người chỉ truy cập được dữ liệu thuộc phạm vi quản lý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phép trình bày chi tiết các module chức năng — phần này là nội dung trọng tâm của bài thuyết trình.
Nhóm đầu tiên gồm 6 module: Dashboard tổng quan với KPI thời gian thực và AI tóm tắt; Module Quản lý Dự án với 8 tab chi tiết theo Luật ĐTC; BIM 3D Viewer xem mô hình IFC trực tiếp; CDE — Môi trường dữ liệu chung theo chuẩn ISO 19650 với workflow duyệt tài liệu; Quản lý Hợp đồng theo dõi toàn bộ vòng đời; và Quản lý Thanh toán giải ngân.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theo là 6 module còn lại: Quản lý Công việc theo phương pháp Kanban với 17 mẫu quy trình ĐTXD; Quản lý Nhân sự cán bộ 5 Ban QLDA; Quản lý Nhà thầu tích hợp AI chấm điểm tự động; Hồ sơ Tài liệu dự án; Tra cứu Văn bản pháp luật liên kết trực tiếp vào dự án; và Báo cáo kết hợp Quản trị hệ thống với audit log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trong những tính năng đột phá của hệ thống. Lần đầu tiên, cán bộ Ban QLDA có thể xem trực tiếp mô hình 3D công trình ngay trên trình duyệt web, không cần cài bất kỳ phần mềm chuyên dụng nào.
Hệ thống hỗ trợ upload file IFC, tự động render 3D với các công cụ: ViewCube điều hướng, chế độ Walkthrough đi bộ trong mô hình, cây Model Tree phân cấp theo tầng, bảng thuộc tính Properties kỹ thuật, Section Plane cắt mặt cắt, công cụ đo lường, và quản lý tài sản Facility Management theo vị trí trong mô hình BIM.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Quý Ban có thể quan tâm: hệ thống được xây dựng trên nền tảng công nghệ nào?
Kiến trúc gồm 4 tầng: Frontend sử dụng React 18 với TypeScript, đảm bảo hiệu suất và bảo trì dài hạn. Giao diện UI/UX responsive, hỗ trợ Dark/Light mode, biểu đồ Recharts và bản đồ Leaflet. Backend dựa trên Supabase — nền tảng PostgreSQL với xác thực, lưu trữ file và cơ chế bảo mật Row Level Security. Tầng AI và BIM tích hợp Gemini API cho phân tích thông minh, Three.js và IFC.js cho mô hình 3D.
Đặc biệt, hệ thống là Single Page Application — tải một lần, điều hướng tức thì, dữ liệu cập nhật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dữ liệu dự án đầu tư công, bảo mật là yếu tố hết sức quan trọng. Hệ thống được thiết kế với 6 lớp bảo mật.
Thứ nhất, xác thực người dùng qua Supabase Auth với phiên đăng nhập an toàn. Thứ hai, phân quyền RBAC theo ma trận Vai trò × Tài nguyên × Hành động. Thứ ba, Row Level Security ở tầng cơ sở dữ liệu — mỗi truy vấn tự động lọc theo quyền người dùng. Thứ tư, Audit Trail ghi nhận toàn bộ thao tác — ai làm gì, lúc nào. Thứ năm, toàn bộ kết nối HTTPS được mã hóa. Thứ sáu, chức năng Impersonation cho phép quản trị viên hỗ trợ người dùng bằng cách xem hệ thống dưới góc nhìn của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Ban, khi triển khai hệ thống này, Ban QLDA sẽ đạt được những kết quả cụ thể sau: Giảm 80 phần trăm thời gian lập báo cáo nhờ tự động hóa biểu mẫu. Đạt 100 phần trăm minh bạch tiến độ với dashboard thời gian thực. Tốc độ tra cứu tăng gấp 5 lần nhờ tập trung dữ liệu. Và không cần cài đặt phần mềm — truy cập qua trình duyệt trên mọi thiết bị.
Ngoài ra, hệ thống còn mang lại giá trị về tuân thủ pháp luật, tích hợp BIM 3D, AI thông minh, và CDE theo chuẩn quốc tế ISO 19650.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lộ trình triển khai, toàn bộ việc triển khai được gói gọn trong 1 quý — Quý 2 năm 2026, tương đương 12 tuần làm việc.
Tuần 1 đến 2: thiết lập hạ tầng, cấu hình phân quyền và nhập dữ liệu hiện có vào hệ thống. Tuần 3 đến 6: triển khai toàn bộ module nghiệp vụ bao gồm quản lý dự án, hợp đồng, thanh toán, CDE, BIM. Tuần 7 đến 10: tích hợp AI Analytics, báo cáo theo mẫu, kết nối CSDL quốc gia theo Nghị định 111. Tuần 11 đến 12: đào tạo người dùng toàn bộ 5 Ban QLDA, chạy song song để kiểm tra, nghiệm thu và chính thức đưa vào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Ban, trên đây là toàn bộ nội dung giới thiệu về Hệ thống Quản lý Dự án Đầu tư Xây dựng.
Chúng tôi tin tưởng rằng đây là giải pháp phù hợp để Ban QLDA ĐTXD các công trình Dân dụng và Công nghiệp từng bước thực hiện chuyển đổi số, nâng cao hiệu lực hiệu quả quản lý nhà nước trong lĩnh vực đầu tư xây dựng, đáp ứng yêu cầu ngày càng cao của pháp luật và thực tiễn công tác.
Xin trân trọng cảm ơn quý Ban đã lắng nghe. Kính mời quý Ban cho ý kiến chỉ đạo.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017"/>
          </a:solidFill>
          <a:ln/>
        </p:spPr>
      </p:sp>
      <p:sp>
        <p:nvSpPr>
          <p:cNvPr id="3" name="Text 1"/>
          <p:cNvSpPr/>
          <p:nvPr/>
        </p:nvSpPr>
        <p:spPr>
          <a:xfrm>
            <a:off x="548640" y="1097280"/>
            <a:ext cx="8046720" cy="1463040"/>
          </a:xfrm>
          <a:prstGeom prst="rect">
            <a:avLst/>
          </a:prstGeom>
          <a:noFill/>
          <a:ln/>
        </p:spPr>
        <p:txBody>
          <a:bodyPr wrap="square" rtlCol="0" anchor="ctr"/>
          <a:lstStyle/>
          <a:p>
            <a:pPr algn="l" indent="0" marL="0">
              <a:lnSpc>
                <a:spcPct val="120000"/>
              </a:lnSpc>
              <a:buNone/>
            </a:pPr>
            <a:r>
              <a:rPr lang="en-US" sz="3600" b="1" dirty="0">
                <a:solidFill>
                  <a:srgbClr val="FFFFFF"/>
                </a:solidFill>
                <a:latin typeface="Arial" pitchFamily="34" charset="0"/>
                <a:ea typeface="Arial" pitchFamily="34" charset="-122"/>
                <a:cs typeface="Arial" pitchFamily="34" charset="-120"/>
              </a:rPr>
              <a:t>HỆ THỐNG QUẢN LÝ DỰ ÁN</a:t>
            </a:r>
            <a:endParaRPr lang="en-US" sz="3600" dirty="0"/>
          </a:p>
          <a:p>
            <a:pPr algn="l" indent="0" marL="0">
              <a:lnSpc>
                <a:spcPct val="120000"/>
              </a:lnSpc>
              <a:buNone/>
            </a:pPr>
            <a:r>
              <a:rPr lang="en-US" sz="3600" b="1" dirty="0">
                <a:solidFill>
                  <a:srgbClr val="FFFFFF"/>
                </a:solidFill>
                <a:latin typeface="Arial" pitchFamily="34" charset="0"/>
                <a:ea typeface="Arial" pitchFamily="34" charset="-122"/>
                <a:cs typeface="Arial" pitchFamily="34" charset="-120"/>
              </a:rPr>
              <a:t>ĐẦU TƯ XÂY DỰNG</a:t>
            </a:r>
            <a:endParaRPr lang="en-US" sz="3600" dirty="0"/>
          </a:p>
        </p:txBody>
      </p:sp>
      <p:sp>
        <p:nvSpPr>
          <p:cNvPr id="4" name="Shape 2"/>
          <p:cNvSpPr/>
          <p:nvPr/>
        </p:nvSpPr>
        <p:spPr>
          <a:xfrm>
            <a:off x="548640" y="2651760"/>
            <a:ext cx="1828800" cy="45720"/>
          </a:xfrm>
          <a:prstGeom prst="rect">
            <a:avLst/>
          </a:prstGeom>
          <a:solidFill>
            <a:srgbClr val="D4A017"/>
          </a:solidFill>
          <a:ln/>
        </p:spPr>
      </p:sp>
      <p:sp>
        <p:nvSpPr>
          <p:cNvPr id="5" name="Text 3"/>
          <p:cNvSpPr/>
          <p:nvPr/>
        </p:nvSpPr>
        <p:spPr>
          <a:xfrm>
            <a:off x="548640" y="2834640"/>
            <a:ext cx="8046720" cy="731520"/>
          </a:xfrm>
          <a:prstGeom prst="rect">
            <a:avLst/>
          </a:prstGeom>
          <a:noFill/>
          <a:ln/>
        </p:spPr>
        <p:txBody>
          <a:bodyPr wrap="square" rtlCol="0" anchor="ctr"/>
          <a:lstStyle/>
          <a:p>
            <a:pPr indent="0" marL="0">
              <a:lnSpc>
                <a:spcPct val="130000"/>
              </a:lnSpc>
              <a:buNone/>
            </a:pPr>
            <a:r>
              <a:rPr lang="en-US" sz="1600" dirty="0">
                <a:solidFill>
                  <a:srgbClr val="F0D68A"/>
                </a:solidFill>
                <a:latin typeface="Arial" pitchFamily="34" charset="0"/>
                <a:ea typeface="Arial" pitchFamily="34" charset="-122"/>
                <a:cs typeface="Arial" pitchFamily="34" charset="-120"/>
              </a:rPr>
              <a:t>Ban QLDA ĐTXD các công trình Dân dụng và Công nghiệp</a:t>
            </a:r>
            <a:endParaRPr lang="en-US" sz="1600" dirty="0"/>
          </a:p>
          <a:p>
            <a:pPr indent="0" marL="0">
              <a:lnSpc>
                <a:spcPct val="130000"/>
              </a:lnSpc>
              <a:buNone/>
            </a:pPr>
            <a:r>
              <a:rPr lang="en-US" sz="1600" dirty="0">
                <a:solidFill>
                  <a:srgbClr val="F0D68A"/>
                </a:solidFill>
                <a:latin typeface="Arial" pitchFamily="34" charset="0"/>
                <a:ea typeface="Arial" pitchFamily="34" charset="-122"/>
                <a:cs typeface="Arial" pitchFamily="34" charset="-120"/>
              </a:rPr>
              <a:t>UBND Thành phố Hồ Chí Minh</a:t>
            </a:r>
            <a:endParaRPr lang="en-US" sz="1600" dirty="0"/>
          </a:p>
        </p:txBody>
      </p:sp>
      <p:sp>
        <p:nvSpPr>
          <p:cNvPr id="6" name="Text 4"/>
          <p:cNvSpPr/>
          <p:nvPr/>
        </p:nvSpPr>
        <p:spPr>
          <a:xfrm>
            <a:off x="548640" y="4206240"/>
            <a:ext cx="8046720" cy="365760"/>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Phiên bản 1.0  •  12/03/2026</a:t>
            </a:r>
            <a:pPr indent="0" marL="0">
              <a:buNone/>
            </a:pPr>
            <a:r>
              <a:rPr lang="en-US" sz="1200" dirty="0">
                <a:solidFill>
                  <a:srgbClr val="8899AA"/>
                </a:solidFill>
                <a:latin typeface="Arial" pitchFamily="34" charset="0"/>
                <a:ea typeface="Arial" pitchFamily="34" charset="-122"/>
                <a:cs typeface="Arial" pitchFamily="34" charset="-120"/>
              </a:rPr>
              <a:t>  •  CIC Technology and Consultancy JSC</a:t>
            </a:r>
            <a:endParaRPr lang="en-US" sz="1200" dirty="0"/>
          </a:p>
        </p:txBody>
      </p:sp>
      <p:sp>
        <p:nvSpPr>
          <p:cNvPr id="7" name="Shape 5"/>
          <p:cNvSpPr/>
          <p:nvPr/>
        </p:nvSpPr>
        <p:spPr>
          <a:xfrm>
            <a:off x="0" y="5088636"/>
            <a:ext cx="9144000" cy="54864"/>
          </a:xfrm>
          <a:prstGeom prst="rect">
            <a:avLst/>
          </a:prstGeom>
          <a:solidFill>
            <a:srgbClr val="D4A01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NỘI DUNG THUYẾT TRÌNH</a:t>
            </a:r>
            <a:endParaRPr lang="en-US" sz="2800" dirty="0"/>
          </a:p>
        </p:txBody>
      </p:sp>
      <p:sp>
        <p:nvSpPr>
          <p:cNvPr id="3" name="Shape 1"/>
          <p:cNvSpPr/>
          <p:nvPr/>
        </p:nvSpPr>
        <p:spPr>
          <a:xfrm>
            <a:off x="548640" y="1143000"/>
            <a:ext cx="1371600" cy="36576"/>
          </a:xfrm>
          <a:prstGeom prst="rect">
            <a:avLst/>
          </a:prstGeom>
          <a:solidFill>
            <a:srgbClr val="D4A017"/>
          </a:solidFill>
          <a:ln/>
        </p:spPr>
      </p:sp>
      <p:sp>
        <p:nvSpPr>
          <p:cNvPr id="4" name="Shape 2"/>
          <p:cNvSpPr/>
          <p:nvPr/>
        </p:nvSpPr>
        <p:spPr>
          <a:xfrm>
            <a:off x="548640" y="1371600"/>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5" name="Shape 3"/>
          <p:cNvSpPr/>
          <p:nvPr/>
        </p:nvSpPr>
        <p:spPr>
          <a:xfrm>
            <a:off x="731520" y="1389888"/>
            <a:ext cx="411480" cy="411480"/>
          </a:xfrm>
          <a:prstGeom prst="ellipse">
            <a:avLst/>
          </a:prstGeom>
          <a:solidFill>
            <a:srgbClr val="D4A017"/>
          </a:solidFill>
          <a:ln/>
        </p:spPr>
      </p:sp>
      <p:sp>
        <p:nvSpPr>
          <p:cNvPr id="6" name="Text 4"/>
          <p:cNvSpPr/>
          <p:nvPr/>
        </p:nvSpPr>
        <p:spPr>
          <a:xfrm>
            <a:off x="731520" y="1389888"/>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371600" y="1371600"/>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Bối cảnh &amp; Mục tiêu</a:t>
            </a:r>
            <a:endParaRPr lang="en-US" sz="1500" dirty="0"/>
          </a:p>
        </p:txBody>
      </p:sp>
      <p:sp>
        <p:nvSpPr>
          <p:cNvPr id="8" name="Shape 6"/>
          <p:cNvSpPr/>
          <p:nvPr/>
        </p:nvSpPr>
        <p:spPr>
          <a:xfrm>
            <a:off x="548640" y="1901952"/>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Shape 7"/>
          <p:cNvSpPr/>
          <p:nvPr/>
        </p:nvSpPr>
        <p:spPr>
          <a:xfrm>
            <a:off x="731520" y="1920240"/>
            <a:ext cx="411480" cy="411480"/>
          </a:xfrm>
          <a:prstGeom prst="ellipse">
            <a:avLst/>
          </a:prstGeom>
          <a:solidFill>
            <a:srgbClr val="3B82F6"/>
          </a:solidFill>
          <a:ln/>
        </p:spPr>
      </p:sp>
      <p:sp>
        <p:nvSpPr>
          <p:cNvPr id="10" name="Text 8"/>
          <p:cNvSpPr/>
          <p:nvPr/>
        </p:nvSpPr>
        <p:spPr>
          <a:xfrm>
            <a:off x="731520" y="192024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1" name="Text 9"/>
          <p:cNvSpPr/>
          <p:nvPr/>
        </p:nvSpPr>
        <p:spPr>
          <a:xfrm>
            <a:off x="1371600" y="1901952"/>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Tổng quan Hệ thống</a:t>
            </a:r>
            <a:endParaRPr lang="en-US" sz="1500" dirty="0"/>
          </a:p>
        </p:txBody>
      </p:sp>
      <p:sp>
        <p:nvSpPr>
          <p:cNvPr id="12" name="Shape 10"/>
          <p:cNvSpPr/>
          <p:nvPr/>
        </p:nvSpPr>
        <p:spPr>
          <a:xfrm>
            <a:off x="548640" y="2432304"/>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3" name="Shape 11"/>
          <p:cNvSpPr/>
          <p:nvPr/>
        </p:nvSpPr>
        <p:spPr>
          <a:xfrm>
            <a:off x="731520" y="2450592"/>
            <a:ext cx="411480" cy="411480"/>
          </a:xfrm>
          <a:prstGeom prst="ellipse">
            <a:avLst/>
          </a:prstGeom>
          <a:solidFill>
            <a:srgbClr val="10B981"/>
          </a:solidFill>
          <a:ln/>
        </p:spPr>
      </p:sp>
      <p:sp>
        <p:nvSpPr>
          <p:cNvPr id="14" name="Text 12"/>
          <p:cNvSpPr/>
          <p:nvPr/>
        </p:nvSpPr>
        <p:spPr>
          <a:xfrm>
            <a:off x="731520" y="2450592"/>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5" name="Text 13"/>
          <p:cNvSpPr/>
          <p:nvPr/>
        </p:nvSpPr>
        <p:spPr>
          <a:xfrm>
            <a:off x="1371600" y="2432304"/>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Các Module Chức năng</a:t>
            </a:r>
            <a:endParaRPr lang="en-US" sz="1500" dirty="0"/>
          </a:p>
        </p:txBody>
      </p:sp>
      <p:sp>
        <p:nvSpPr>
          <p:cNvPr id="16" name="Shape 14"/>
          <p:cNvSpPr/>
          <p:nvPr/>
        </p:nvSpPr>
        <p:spPr>
          <a:xfrm>
            <a:off x="548640" y="2962656"/>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7" name="Shape 15"/>
          <p:cNvSpPr/>
          <p:nvPr/>
        </p:nvSpPr>
        <p:spPr>
          <a:xfrm>
            <a:off x="731520" y="2980944"/>
            <a:ext cx="411480" cy="411480"/>
          </a:xfrm>
          <a:prstGeom prst="ellipse">
            <a:avLst/>
          </a:prstGeom>
          <a:solidFill>
            <a:srgbClr val="F97316"/>
          </a:solidFill>
          <a:ln/>
        </p:spPr>
      </p:sp>
      <p:sp>
        <p:nvSpPr>
          <p:cNvPr id="18" name="Text 16"/>
          <p:cNvSpPr/>
          <p:nvPr/>
        </p:nvSpPr>
        <p:spPr>
          <a:xfrm>
            <a:off x="731520" y="2980944"/>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19" name="Text 17"/>
          <p:cNvSpPr/>
          <p:nvPr/>
        </p:nvSpPr>
        <p:spPr>
          <a:xfrm>
            <a:off x="1371600" y="2962656"/>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Công nghệ &amp; Kiến trúc</a:t>
            </a:r>
            <a:endParaRPr lang="en-US" sz="1500" dirty="0"/>
          </a:p>
        </p:txBody>
      </p:sp>
      <p:sp>
        <p:nvSpPr>
          <p:cNvPr id="20" name="Shape 18"/>
          <p:cNvSpPr/>
          <p:nvPr/>
        </p:nvSpPr>
        <p:spPr>
          <a:xfrm>
            <a:off x="548640" y="3493008"/>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1" name="Shape 19"/>
          <p:cNvSpPr/>
          <p:nvPr/>
        </p:nvSpPr>
        <p:spPr>
          <a:xfrm>
            <a:off x="731520" y="3511296"/>
            <a:ext cx="411480" cy="411480"/>
          </a:xfrm>
          <a:prstGeom prst="ellipse">
            <a:avLst/>
          </a:prstGeom>
          <a:solidFill>
            <a:srgbClr val="D4A017"/>
          </a:solidFill>
          <a:ln/>
        </p:spPr>
      </p:sp>
      <p:sp>
        <p:nvSpPr>
          <p:cNvPr id="22" name="Text 20"/>
          <p:cNvSpPr/>
          <p:nvPr/>
        </p:nvSpPr>
        <p:spPr>
          <a:xfrm>
            <a:off x="731520" y="3511296"/>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23" name="Text 21"/>
          <p:cNvSpPr/>
          <p:nvPr/>
        </p:nvSpPr>
        <p:spPr>
          <a:xfrm>
            <a:off x="1371600" y="3493008"/>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Bảo mật &amp; Phân quyền</a:t>
            </a:r>
            <a:endParaRPr lang="en-US" sz="1500" dirty="0"/>
          </a:p>
        </p:txBody>
      </p:sp>
      <p:sp>
        <p:nvSpPr>
          <p:cNvPr id="24" name="Shape 22"/>
          <p:cNvSpPr/>
          <p:nvPr/>
        </p:nvSpPr>
        <p:spPr>
          <a:xfrm>
            <a:off x="548640" y="4023360"/>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5" name="Shape 23"/>
          <p:cNvSpPr/>
          <p:nvPr/>
        </p:nvSpPr>
        <p:spPr>
          <a:xfrm>
            <a:off x="731520" y="4041648"/>
            <a:ext cx="411480" cy="411480"/>
          </a:xfrm>
          <a:prstGeom prst="ellipse">
            <a:avLst/>
          </a:prstGeom>
          <a:solidFill>
            <a:srgbClr val="3B82F6"/>
          </a:solidFill>
          <a:ln/>
        </p:spPr>
      </p:sp>
      <p:sp>
        <p:nvSpPr>
          <p:cNvPr id="26" name="Text 24"/>
          <p:cNvSpPr/>
          <p:nvPr/>
        </p:nvSpPr>
        <p:spPr>
          <a:xfrm>
            <a:off x="731520" y="4041648"/>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06</a:t>
            </a:r>
            <a:endParaRPr lang="en-US" sz="1400" dirty="0"/>
          </a:p>
        </p:txBody>
      </p:sp>
      <p:sp>
        <p:nvSpPr>
          <p:cNvPr id="27" name="Text 25"/>
          <p:cNvSpPr/>
          <p:nvPr/>
        </p:nvSpPr>
        <p:spPr>
          <a:xfrm>
            <a:off x="1371600" y="4023360"/>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Lợi ích &amp; Giá trị</a:t>
            </a:r>
            <a:endParaRPr lang="en-US" sz="1500" dirty="0"/>
          </a:p>
        </p:txBody>
      </p:sp>
      <p:sp>
        <p:nvSpPr>
          <p:cNvPr id="28" name="Shape 26"/>
          <p:cNvSpPr/>
          <p:nvPr/>
        </p:nvSpPr>
        <p:spPr>
          <a:xfrm>
            <a:off x="548640" y="4553712"/>
            <a:ext cx="8046720" cy="438912"/>
          </a:xfrm>
          <a:prstGeom prst="roundRect">
            <a:avLst>
              <a:gd name="adj" fmla="val 2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9" name="Shape 27"/>
          <p:cNvSpPr/>
          <p:nvPr/>
        </p:nvSpPr>
        <p:spPr>
          <a:xfrm>
            <a:off x="731520" y="4572000"/>
            <a:ext cx="411480" cy="411480"/>
          </a:xfrm>
          <a:prstGeom prst="ellipse">
            <a:avLst/>
          </a:prstGeom>
          <a:solidFill>
            <a:srgbClr val="10B981"/>
          </a:solidFill>
          <a:ln/>
        </p:spPr>
      </p:sp>
      <p:sp>
        <p:nvSpPr>
          <p:cNvPr id="30" name="Text 28"/>
          <p:cNvSpPr/>
          <p:nvPr/>
        </p:nvSpPr>
        <p:spPr>
          <a:xfrm>
            <a:off x="731520" y="4572000"/>
            <a:ext cx="41148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07</a:t>
            </a:r>
            <a:endParaRPr lang="en-US" sz="1400" dirty="0"/>
          </a:p>
        </p:txBody>
      </p:sp>
      <p:sp>
        <p:nvSpPr>
          <p:cNvPr id="31" name="Text 29"/>
          <p:cNvSpPr/>
          <p:nvPr/>
        </p:nvSpPr>
        <p:spPr>
          <a:xfrm>
            <a:off x="1371600" y="4553712"/>
            <a:ext cx="6400800"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Lộ trình Triển khai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CUỘC CÁCH MẠNG CÔNG NGHIỆP &amp; CHUYỂN ĐỔI SỐ</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Dữ liệu — tài sản cốt lõi trong kỷ nguyên 4.0</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731520" y="1691640"/>
            <a:ext cx="7680960" cy="36576"/>
          </a:xfrm>
          <a:prstGeom prst="rect">
            <a:avLst/>
          </a:prstGeom>
          <a:solidFill>
            <a:srgbClr val="D4A017"/>
          </a:solidFill>
          <a:ln/>
        </p:spPr>
      </p:sp>
      <p:sp>
        <p:nvSpPr>
          <p:cNvPr id="6" name="Shape 4"/>
          <p:cNvSpPr/>
          <p:nvPr/>
        </p:nvSpPr>
        <p:spPr>
          <a:xfrm>
            <a:off x="1143000" y="1554480"/>
            <a:ext cx="274320" cy="274320"/>
          </a:xfrm>
          <a:prstGeom prst="ellipse">
            <a:avLst/>
          </a:prstGeom>
          <a:solidFill>
            <a:srgbClr val="8899AA"/>
          </a:solidFill>
          <a:ln/>
        </p:spPr>
      </p:sp>
      <p:sp>
        <p:nvSpPr>
          <p:cNvPr id="7" name="Shape 5"/>
          <p:cNvSpPr/>
          <p:nvPr/>
        </p:nvSpPr>
        <p:spPr>
          <a:xfrm>
            <a:off x="365760" y="2011680"/>
            <a:ext cx="1965960" cy="1645920"/>
          </a:xfrm>
          <a:prstGeom prst="roundRect">
            <a:avLst>
              <a:gd name="adj" fmla="val 6667"/>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8" name="Text 6"/>
          <p:cNvSpPr/>
          <p:nvPr/>
        </p:nvSpPr>
        <p:spPr>
          <a:xfrm>
            <a:off x="365760" y="2103120"/>
            <a:ext cx="1965960" cy="320040"/>
          </a:xfrm>
          <a:prstGeom prst="rect">
            <a:avLst/>
          </a:prstGeom>
          <a:noFill/>
          <a:ln/>
        </p:spPr>
        <p:txBody>
          <a:bodyPr wrap="square" rtlCol="0" anchor="ctr"/>
          <a:lstStyle/>
          <a:p>
            <a:pPr algn="ctr" indent="0" marL="0">
              <a:buNone/>
            </a:pPr>
            <a:r>
              <a:rPr lang="en-US" sz="1800" b="1" dirty="0">
                <a:solidFill>
                  <a:srgbClr val="8899AA"/>
                </a:solidFill>
                <a:latin typeface="Arial" pitchFamily="34" charset="0"/>
                <a:ea typeface="Arial" pitchFamily="34" charset="-122"/>
                <a:cs typeface="Arial" pitchFamily="34" charset="-120"/>
              </a:rPr>
              <a:t>1.0</a:t>
            </a:r>
            <a:endParaRPr lang="en-US" sz="1800" dirty="0"/>
          </a:p>
        </p:txBody>
      </p:sp>
      <p:sp>
        <p:nvSpPr>
          <p:cNvPr id="9" name="Text 7"/>
          <p:cNvSpPr/>
          <p:nvPr/>
        </p:nvSpPr>
        <p:spPr>
          <a:xfrm>
            <a:off x="365760" y="2377440"/>
            <a:ext cx="1965960" cy="18288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Cuối TK 18</a:t>
            </a:r>
            <a:endParaRPr lang="en-US" sz="900" dirty="0"/>
          </a:p>
        </p:txBody>
      </p:sp>
      <p:sp>
        <p:nvSpPr>
          <p:cNvPr id="10" name="Text 8"/>
          <p:cNvSpPr/>
          <p:nvPr/>
        </p:nvSpPr>
        <p:spPr>
          <a:xfrm>
            <a:off x="365760" y="2606040"/>
            <a:ext cx="19659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Cơ giới hóa</a:t>
            </a:r>
            <a:endParaRPr lang="en-US" sz="1100" dirty="0"/>
          </a:p>
        </p:txBody>
      </p:sp>
      <p:sp>
        <p:nvSpPr>
          <p:cNvPr id="11" name="Shape 9"/>
          <p:cNvSpPr/>
          <p:nvPr/>
        </p:nvSpPr>
        <p:spPr>
          <a:xfrm>
            <a:off x="914400" y="2926080"/>
            <a:ext cx="868680" cy="18288"/>
          </a:xfrm>
          <a:prstGeom prst="rect">
            <a:avLst/>
          </a:prstGeom>
          <a:solidFill>
            <a:srgbClr val="8899AA"/>
          </a:solidFill>
          <a:ln/>
        </p:spPr>
      </p:sp>
      <p:sp>
        <p:nvSpPr>
          <p:cNvPr id="12" name="Text 10"/>
          <p:cNvSpPr/>
          <p:nvPr/>
        </p:nvSpPr>
        <p:spPr>
          <a:xfrm>
            <a:off x="457200" y="3017520"/>
            <a:ext cx="1783080" cy="548640"/>
          </a:xfrm>
          <a:prstGeom prst="rect">
            <a:avLst/>
          </a:prstGeom>
          <a:noFill/>
          <a:ln/>
        </p:spPr>
        <p:txBody>
          <a:bodyPr wrap="square" rtlCol="0" anchor="t"/>
          <a:lstStyle/>
          <a:p>
            <a:pPr algn="ctr" indent="0" marL="0">
              <a:lnSpc>
                <a:spcPct val="130000"/>
              </a:lnSpc>
              <a:buNone/>
            </a:pPr>
            <a:r>
              <a:rPr lang="en-US" sz="900" dirty="0">
                <a:solidFill>
                  <a:srgbClr val="8899AA"/>
                </a:solidFill>
                <a:latin typeface="Arial" pitchFamily="34" charset="0"/>
                <a:ea typeface="Arial" pitchFamily="34" charset="-122"/>
                <a:cs typeface="Arial" pitchFamily="34" charset="-120"/>
              </a:rPr>
              <a:t>Máy hơi nước thay sức lao động thủ công</a:t>
            </a:r>
            <a:endParaRPr lang="en-US" sz="900" dirty="0"/>
          </a:p>
        </p:txBody>
      </p:sp>
      <p:sp>
        <p:nvSpPr>
          <p:cNvPr id="13" name="Shape 11"/>
          <p:cNvSpPr/>
          <p:nvPr/>
        </p:nvSpPr>
        <p:spPr>
          <a:xfrm>
            <a:off x="3291840" y="1554480"/>
            <a:ext cx="274320" cy="274320"/>
          </a:xfrm>
          <a:prstGeom prst="ellipse">
            <a:avLst/>
          </a:prstGeom>
          <a:solidFill>
            <a:srgbClr val="8899AA"/>
          </a:solidFill>
          <a:ln/>
        </p:spPr>
      </p:sp>
      <p:sp>
        <p:nvSpPr>
          <p:cNvPr id="14" name="Shape 12"/>
          <p:cNvSpPr/>
          <p:nvPr/>
        </p:nvSpPr>
        <p:spPr>
          <a:xfrm>
            <a:off x="2514600" y="2011680"/>
            <a:ext cx="1965960" cy="1645920"/>
          </a:xfrm>
          <a:prstGeom prst="roundRect">
            <a:avLst>
              <a:gd name="adj" fmla="val 6667"/>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5" name="Text 13"/>
          <p:cNvSpPr/>
          <p:nvPr/>
        </p:nvSpPr>
        <p:spPr>
          <a:xfrm>
            <a:off x="2514600" y="2103120"/>
            <a:ext cx="1965960" cy="320040"/>
          </a:xfrm>
          <a:prstGeom prst="rect">
            <a:avLst/>
          </a:prstGeom>
          <a:noFill/>
          <a:ln/>
        </p:spPr>
        <p:txBody>
          <a:bodyPr wrap="square" rtlCol="0" anchor="ctr"/>
          <a:lstStyle/>
          <a:p>
            <a:pPr algn="ctr" indent="0" marL="0">
              <a:buNone/>
            </a:pPr>
            <a:r>
              <a:rPr lang="en-US" sz="1800" b="1" dirty="0">
                <a:solidFill>
                  <a:srgbClr val="8899AA"/>
                </a:solidFill>
                <a:latin typeface="Arial" pitchFamily="34" charset="0"/>
                <a:ea typeface="Arial" pitchFamily="34" charset="-122"/>
                <a:cs typeface="Arial" pitchFamily="34" charset="-120"/>
              </a:rPr>
              <a:t>2.0</a:t>
            </a:r>
            <a:endParaRPr lang="en-US" sz="1800" dirty="0"/>
          </a:p>
        </p:txBody>
      </p:sp>
      <p:sp>
        <p:nvSpPr>
          <p:cNvPr id="16" name="Text 14"/>
          <p:cNvSpPr/>
          <p:nvPr/>
        </p:nvSpPr>
        <p:spPr>
          <a:xfrm>
            <a:off x="2514600" y="2377440"/>
            <a:ext cx="1965960" cy="18288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Cuối TK 19</a:t>
            </a:r>
            <a:endParaRPr lang="en-US" sz="900" dirty="0"/>
          </a:p>
        </p:txBody>
      </p:sp>
      <p:sp>
        <p:nvSpPr>
          <p:cNvPr id="17" name="Text 15"/>
          <p:cNvSpPr/>
          <p:nvPr/>
        </p:nvSpPr>
        <p:spPr>
          <a:xfrm>
            <a:off x="2514600" y="2606040"/>
            <a:ext cx="19659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Sản xuất hàng loạt</a:t>
            </a:r>
            <a:endParaRPr lang="en-US" sz="1100" dirty="0"/>
          </a:p>
        </p:txBody>
      </p:sp>
      <p:sp>
        <p:nvSpPr>
          <p:cNvPr id="18" name="Shape 16"/>
          <p:cNvSpPr/>
          <p:nvPr/>
        </p:nvSpPr>
        <p:spPr>
          <a:xfrm>
            <a:off x="3063240" y="2926080"/>
            <a:ext cx="868680" cy="18288"/>
          </a:xfrm>
          <a:prstGeom prst="rect">
            <a:avLst/>
          </a:prstGeom>
          <a:solidFill>
            <a:srgbClr val="8899AA"/>
          </a:solidFill>
          <a:ln/>
        </p:spPr>
      </p:sp>
      <p:sp>
        <p:nvSpPr>
          <p:cNvPr id="19" name="Text 17"/>
          <p:cNvSpPr/>
          <p:nvPr/>
        </p:nvSpPr>
        <p:spPr>
          <a:xfrm>
            <a:off x="2606040" y="3017520"/>
            <a:ext cx="1783080" cy="548640"/>
          </a:xfrm>
          <a:prstGeom prst="rect">
            <a:avLst/>
          </a:prstGeom>
          <a:noFill/>
          <a:ln/>
        </p:spPr>
        <p:txBody>
          <a:bodyPr wrap="square" rtlCol="0" anchor="t"/>
          <a:lstStyle/>
          <a:p>
            <a:pPr algn="ctr" indent="0" marL="0">
              <a:lnSpc>
                <a:spcPct val="130000"/>
              </a:lnSpc>
              <a:buNone/>
            </a:pPr>
            <a:r>
              <a:rPr lang="en-US" sz="900" dirty="0">
                <a:solidFill>
                  <a:srgbClr val="8899AA"/>
                </a:solidFill>
                <a:latin typeface="Arial" pitchFamily="34" charset="0"/>
                <a:ea typeface="Arial" pitchFamily="34" charset="-122"/>
                <a:cs typeface="Arial" pitchFamily="34" charset="-120"/>
              </a:rPr>
              <a:t>Điện khí hóa, công nghiệp hiện đại</a:t>
            </a:r>
            <a:endParaRPr lang="en-US" sz="900" dirty="0"/>
          </a:p>
        </p:txBody>
      </p:sp>
      <p:sp>
        <p:nvSpPr>
          <p:cNvPr id="20" name="Shape 18"/>
          <p:cNvSpPr/>
          <p:nvPr/>
        </p:nvSpPr>
        <p:spPr>
          <a:xfrm>
            <a:off x="5440680" y="1554480"/>
            <a:ext cx="274320" cy="274320"/>
          </a:xfrm>
          <a:prstGeom prst="ellipse">
            <a:avLst/>
          </a:prstGeom>
          <a:solidFill>
            <a:srgbClr val="3B82F6"/>
          </a:solidFill>
          <a:ln/>
        </p:spPr>
      </p:sp>
      <p:sp>
        <p:nvSpPr>
          <p:cNvPr id="21" name="Shape 19"/>
          <p:cNvSpPr/>
          <p:nvPr/>
        </p:nvSpPr>
        <p:spPr>
          <a:xfrm>
            <a:off x="4663440" y="2011680"/>
            <a:ext cx="1965960" cy="1645920"/>
          </a:xfrm>
          <a:prstGeom prst="roundRect">
            <a:avLst>
              <a:gd name="adj" fmla="val 6667"/>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2" name="Text 20"/>
          <p:cNvSpPr/>
          <p:nvPr/>
        </p:nvSpPr>
        <p:spPr>
          <a:xfrm>
            <a:off x="4663440" y="2103120"/>
            <a:ext cx="1965960" cy="320040"/>
          </a:xfrm>
          <a:prstGeom prst="rect">
            <a:avLst/>
          </a:prstGeom>
          <a:noFill/>
          <a:ln/>
        </p:spPr>
        <p:txBody>
          <a:bodyPr wrap="square" rtlCol="0" anchor="ctr"/>
          <a:lstStyle/>
          <a:p>
            <a:pPr algn="ctr" indent="0" marL="0">
              <a:buNone/>
            </a:pPr>
            <a:r>
              <a:rPr lang="en-US" sz="1800" b="1" dirty="0">
                <a:solidFill>
                  <a:srgbClr val="3B82F6"/>
                </a:solidFill>
                <a:latin typeface="Arial" pitchFamily="34" charset="0"/>
                <a:ea typeface="Arial" pitchFamily="34" charset="-122"/>
                <a:cs typeface="Arial" pitchFamily="34" charset="-120"/>
              </a:rPr>
              <a:t>3.0</a:t>
            </a:r>
            <a:endParaRPr lang="en-US" sz="1800" dirty="0"/>
          </a:p>
        </p:txBody>
      </p:sp>
      <p:sp>
        <p:nvSpPr>
          <p:cNvPr id="23" name="Text 21"/>
          <p:cNvSpPr/>
          <p:nvPr/>
        </p:nvSpPr>
        <p:spPr>
          <a:xfrm>
            <a:off x="4663440" y="2377440"/>
            <a:ext cx="1965960" cy="18288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Giữa TK 20</a:t>
            </a:r>
            <a:endParaRPr lang="en-US" sz="900" dirty="0"/>
          </a:p>
        </p:txBody>
      </p:sp>
      <p:sp>
        <p:nvSpPr>
          <p:cNvPr id="24" name="Text 22"/>
          <p:cNvSpPr/>
          <p:nvPr/>
        </p:nvSpPr>
        <p:spPr>
          <a:xfrm>
            <a:off x="4663440" y="2606040"/>
            <a:ext cx="19659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Tự động hóa</a:t>
            </a:r>
            <a:endParaRPr lang="en-US" sz="1100" dirty="0"/>
          </a:p>
        </p:txBody>
      </p:sp>
      <p:sp>
        <p:nvSpPr>
          <p:cNvPr id="25" name="Shape 23"/>
          <p:cNvSpPr/>
          <p:nvPr/>
        </p:nvSpPr>
        <p:spPr>
          <a:xfrm>
            <a:off x="5212080" y="2926080"/>
            <a:ext cx="868680" cy="18288"/>
          </a:xfrm>
          <a:prstGeom prst="rect">
            <a:avLst/>
          </a:prstGeom>
          <a:solidFill>
            <a:srgbClr val="3B82F6"/>
          </a:solidFill>
          <a:ln/>
        </p:spPr>
      </p:sp>
      <p:sp>
        <p:nvSpPr>
          <p:cNvPr id="26" name="Text 24"/>
          <p:cNvSpPr/>
          <p:nvPr/>
        </p:nvSpPr>
        <p:spPr>
          <a:xfrm>
            <a:off x="4754880" y="3017520"/>
            <a:ext cx="1783080" cy="548640"/>
          </a:xfrm>
          <a:prstGeom prst="rect">
            <a:avLst/>
          </a:prstGeom>
          <a:noFill/>
          <a:ln/>
        </p:spPr>
        <p:txBody>
          <a:bodyPr wrap="square" rtlCol="0" anchor="t"/>
          <a:lstStyle/>
          <a:p>
            <a:pPr algn="ctr" indent="0" marL="0">
              <a:lnSpc>
                <a:spcPct val="130000"/>
              </a:lnSpc>
              <a:buNone/>
            </a:pPr>
            <a:r>
              <a:rPr lang="en-US" sz="900" dirty="0">
                <a:solidFill>
                  <a:srgbClr val="8899AA"/>
                </a:solidFill>
                <a:latin typeface="Arial" pitchFamily="34" charset="0"/>
                <a:ea typeface="Arial" pitchFamily="34" charset="-122"/>
                <a:cs typeface="Arial" pitchFamily="34" charset="-120"/>
              </a:rPr>
              <a:t>Máy tính, Internet, kết nối toàn cầu</a:t>
            </a:r>
            <a:endParaRPr lang="en-US" sz="900" dirty="0"/>
          </a:p>
        </p:txBody>
      </p:sp>
      <p:sp>
        <p:nvSpPr>
          <p:cNvPr id="27" name="Shape 25"/>
          <p:cNvSpPr/>
          <p:nvPr/>
        </p:nvSpPr>
        <p:spPr>
          <a:xfrm>
            <a:off x="7589520" y="1554480"/>
            <a:ext cx="274320" cy="274320"/>
          </a:xfrm>
          <a:prstGeom prst="ellipse">
            <a:avLst/>
          </a:prstGeom>
          <a:solidFill>
            <a:srgbClr val="D4A017"/>
          </a:solidFill>
          <a:ln/>
        </p:spPr>
      </p:sp>
      <p:sp>
        <p:nvSpPr>
          <p:cNvPr id="28" name="Shape 26"/>
          <p:cNvSpPr/>
          <p:nvPr/>
        </p:nvSpPr>
        <p:spPr>
          <a:xfrm>
            <a:off x="6812280" y="2011680"/>
            <a:ext cx="1965960" cy="1645920"/>
          </a:xfrm>
          <a:prstGeom prst="roundRect">
            <a:avLst>
              <a:gd name="adj" fmla="val 6667"/>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9" name="Text 27"/>
          <p:cNvSpPr/>
          <p:nvPr/>
        </p:nvSpPr>
        <p:spPr>
          <a:xfrm>
            <a:off x="6812280" y="2103120"/>
            <a:ext cx="1965960" cy="320040"/>
          </a:xfrm>
          <a:prstGeom prst="rect">
            <a:avLst/>
          </a:prstGeom>
          <a:noFill/>
          <a:ln/>
        </p:spPr>
        <p:txBody>
          <a:bodyPr wrap="square" rtlCol="0" anchor="ctr"/>
          <a:lstStyle/>
          <a:p>
            <a:pPr algn="ctr" indent="0" marL="0">
              <a:buNone/>
            </a:pPr>
            <a:r>
              <a:rPr lang="en-US" sz="1800" b="1" dirty="0">
                <a:solidFill>
                  <a:srgbClr val="D4A017"/>
                </a:solidFill>
                <a:latin typeface="Arial" pitchFamily="34" charset="0"/>
                <a:ea typeface="Arial" pitchFamily="34" charset="-122"/>
                <a:cs typeface="Arial" pitchFamily="34" charset="-120"/>
              </a:rPr>
              <a:t>4.0</a:t>
            </a:r>
            <a:endParaRPr lang="en-US" sz="1800" dirty="0"/>
          </a:p>
        </p:txBody>
      </p:sp>
      <p:sp>
        <p:nvSpPr>
          <p:cNvPr id="30" name="Text 28"/>
          <p:cNvSpPr/>
          <p:nvPr/>
        </p:nvSpPr>
        <p:spPr>
          <a:xfrm>
            <a:off x="6812280" y="2377440"/>
            <a:ext cx="1965960" cy="182880"/>
          </a:xfrm>
          <a:prstGeom prst="rect">
            <a:avLst/>
          </a:prstGeom>
          <a:noFill/>
          <a:ln/>
        </p:spPr>
        <p:txBody>
          <a:bodyPr wrap="square" rtlCol="0" anchor="ctr"/>
          <a:lstStyle/>
          <a:p>
            <a:pPr algn="ctr" indent="0" marL="0">
              <a:buNone/>
            </a:pPr>
            <a:r>
              <a:rPr lang="en-US" sz="900" dirty="0">
                <a:solidFill>
                  <a:srgbClr val="8899AA"/>
                </a:solidFill>
                <a:latin typeface="Arial" pitchFamily="34" charset="0"/>
                <a:ea typeface="Arial" pitchFamily="34" charset="-122"/>
                <a:cs typeface="Arial" pitchFamily="34" charset="-120"/>
              </a:rPr>
              <a:t>Hiện tại</a:t>
            </a:r>
            <a:endParaRPr lang="en-US" sz="900" dirty="0"/>
          </a:p>
        </p:txBody>
      </p:sp>
      <p:sp>
        <p:nvSpPr>
          <p:cNvPr id="31" name="Text 29"/>
          <p:cNvSpPr/>
          <p:nvPr/>
        </p:nvSpPr>
        <p:spPr>
          <a:xfrm>
            <a:off x="6812280" y="2606040"/>
            <a:ext cx="196596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Số hóa toàn diện</a:t>
            </a:r>
            <a:endParaRPr lang="en-US" sz="1100" dirty="0"/>
          </a:p>
        </p:txBody>
      </p:sp>
      <p:sp>
        <p:nvSpPr>
          <p:cNvPr id="32" name="Shape 30"/>
          <p:cNvSpPr/>
          <p:nvPr/>
        </p:nvSpPr>
        <p:spPr>
          <a:xfrm>
            <a:off x="7360920" y="2926080"/>
            <a:ext cx="868680" cy="18288"/>
          </a:xfrm>
          <a:prstGeom prst="rect">
            <a:avLst/>
          </a:prstGeom>
          <a:solidFill>
            <a:srgbClr val="D4A017"/>
          </a:solidFill>
          <a:ln/>
        </p:spPr>
      </p:sp>
      <p:sp>
        <p:nvSpPr>
          <p:cNvPr id="33" name="Text 31"/>
          <p:cNvSpPr/>
          <p:nvPr/>
        </p:nvSpPr>
        <p:spPr>
          <a:xfrm>
            <a:off x="6903720" y="3017520"/>
            <a:ext cx="1783080" cy="548640"/>
          </a:xfrm>
          <a:prstGeom prst="rect">
            <a:avLst/>
          </a:prstGeom>
          <a:noFill/>
          <a:ln/>
        </p:spPr>
        <p:txBody>
          <a:bodyPr wrap="square" rtlCol="0" anchor="t"/>
          <a:lstStyle/>
          <a:p>
            <a:pPr algn="ctr" indent="0" marL="0">
              <a:lnSpc>
                <a:spcPct val="130000"/>
              </a:lnSpc>
              <a:buNone/>
            </a:pPr>
            <a:r>
              <a:rPr lang="en-US" sz="900" dirty="0">
                <a:solidFill>
                  <a:srgbClr val="8899AA"/>
                </a:solidFill>
                <a:latin typeface="Arial" pitchFamily="34" charset="0"/>
                <a:ea typeface="Arial" pitchFamily="34" charset="-122"/>
                <a:cs typeface="Arial" pitchFamily="34" charset="-120"/>
              </a:rPr>
              <a:t>AI, IoT, BIM — dữ liệu là tài sản</a:t>
            </a:r>
            <a:endParaRPr lang="en-US" sz="900" dirty="0"/>
          </a:p>
        </p:txBody>
      </p:sp>
      <p:sp>
        <p:nvSpPr>
          <p:cNvPr id="34" name="Shape 32"/>
          <p:cNvSpPr/>
          <p:nvPr/>
        </p:nvSpPr>
        <p:spPr>
          <a:xfrm>
            <a:off x="365760" y="3931920"/>
            <a:ext cx="841248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35" name="Text 33"/>
          <p:cNvSpPr/>
          <p:nvPr/>
        </p:nvSpPr>
        <p:spPr>
          <a:xfrm>
            <a:off x="640080" y="3977640"/>
            <a:ext cx="7955280" cy="640080"/>
          </a:xfrm>
          <a:prstGeom prst="rect">
            <a:avLst/>
          </a:prstGeom>
          <a:noFill/>
          <a:ln/>
        </p:spPr>
        <p:txBody>
          <a:bodyPr wrap="square" rtlCol="0" anchor="ctr"/>
          <a:lstStyle/>
          <a:p>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300" i="1" dirty="0">
                <a:solidFill>
                  <a:srgbClr val="F0D68A"/>
                </a:solidFill>
                <a:latin typeface="Arial" pitchFamily="34" charset="0"/>
                <a:ea typeface="Arial" pitchFamily="34" charset="-122"/>
                <a:cs typeface="Arial" pitchFamily="34" charset="-120"/>
              </a:rPr>
              <a:t>Tổ chức nào làm chủ dữ liệu sớm — tổ chức đó sẽ quản lý hiệu quả hơn, minh bạch hơn và tiết kiệm nguồn lực hơn.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CĂN CỨ PHÁP LÝ</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Khung pháp lý cho quản lý dự án đầu tư xây dựng và chuyển đổi số</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4023360" cy="3291840"/>
          </a:xfrm>
          <a:prstGeom prst="roundRect">
            <a:avLst>
              <a:gd name="adj" fmla="val 3333"/>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548640" y="1463040"/>
            <a:ext cx="3657600" cy="36576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  VỀ QUẢN LÝ DỰ ÁN ĐTXD</a:t>
            </a:r>
            <a:endParaRPr lang="en-US" sz="1300" dirty="0"/>
          </a:p>
        </p:txBody>
      </p:sp>
      <p:sp>
        <p:nvSpPr>
          <p:cNvPr id="7" name="Text 5"/>
          <p:cNvSpPr/>
          <p:nvPr/>
        </p:nvSpPr>
        <p:spPr>
          <a:xfrm>
            <a:off x="548640" y="1920240"/>
            <a:ext cx="3657600" cy="2560320"/>
          </a:xfrm>
          <a:prstGeom prst="rect">
            <a:avLst/>
          </a:prstGeom>
          <a:noFill/>
          <a:ln/>
        </p:spPr>
        <p:txBody>
          <a:bodyPr wrap="square" rtlCol="0" anchor="t"/>
          <a:lstStyle/>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Luật Đầu tư công 58/2024/QH15</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Quản lý, sử dụng vốn đầu tư công</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Luật Xây dựng 135/2025/QH15</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QLDA ĐTXD, chuyển đổi số và BIM</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Luật Đấu thầu 22/2023/QH15</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Lựa chọn nhà thầu, nhà đầu tư</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NĐ 175/2024 • NĐ 214/2025</a:t>
            </a:r>
            <a:endParaRPr lang="en-US" sz="1100" dirty="0"/>
          </a:p>
          <a:p>
            <a:pPr indent="0" marL="0">
              <a:buNone/>
            </a:pPr>
            <a:r>
              <a:rPr lang="en-US" sz="1000" dirty="0">
                <a:solidFill>
                  <a:srgbClr val="8899AA"/>
                </a:solidFill>
                <a:latin typeface="Arial" pitchFamily="34" charset="0"/>
                <a:ea typeface="Arial" pitchFamily="34" charset="-122"/>
                <a:cs typeface="Arial" pitchFamily="34" charset="-120"/>
              </a:rPr>
              <a:t>Hướng dẫn thi hành Luật XD, Luật Đấu thầu</a:t>
            </a:r>
            <a:endParaRPr lang="en-US" sz="1100" dirty="0"/>
          </a:p>
        </p:txBody>
      </p:sp>
      <p:sp>
        <p:nvSpPr>
          <p:cNvPr id="8" name="Shape 6"/>
          <p:cNvSpPr/>
          <p:nvPr/>
        </p:nvSpPr>
        <p:spPr>
          <a:xfrm>
            <a:off x="4754880" y="1371600"/>
            <a:ext cx="4023360" cy="3291840"/>
          </a:xfrm>
          <a:prstGeom prst="roundRect">
            <a:avLst>
              <a:gd name="adj" fmla="val 3333"/>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Text 7"/>
          <p:cNvSpPr/>
          <p:nvPr/>
        </p:nvSpPr>
        <p:spPr>
          <a:xfrm>
            <a:off x="4937760" y="1463040"/>
            <a:ext cx="3657600" cy="36576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  VỀ CHUYỂN ĐỔI SỐ &amp; CSDL</a:t>
            </a:r>
            <a:endParaRPr lang="en-US" sz="1300" dirty="0"/>
          </a:p>
        </p:txBody>
      </p:sp>
      <p:sp>
        <p:nvSpPr>
          <p:cNvPr id="10" name="Text 8"/>
          <p:cNvSpPr/>
          <p:nvPr/>
        </p:nvSpPr>
        <p:spPr>
          <a:xfrm>
            <a:off x="4937760" y="1920240"/>
            <a:ext cx="3657600" cy="2560320"/>
          </a:xfrm>
          <a:prstGeom prst="rect">
            <a:avLst/>
          </a:prstGeom>
          <a:noFill/>
          <a:ln/>
        </p:spPr>
        <p:txBody>
          <a:bodyPr wrap="square" rtlCol="0" anchor="t"/>
          <a:lstStyle/>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Luật GDĐT 20/2023/QH15</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Công nhận giá trị pháp lý dữ liệu điện tử</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NĐ 111/2024/NĐ-CP</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CSDL quốc gia về hoạt động xây dựng</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Nghị quyết 57-NQ/TW (22/12/2024)</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Đột phá KHCN, đổi mới sáng tạo &amp; CĐS quốc gia</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TT 24/2025/TT-BXD</a:t>
            </a:r>
            <a:endParaRPr lang="en-US" sz="1100" dirty="0"/>
          </a:p>
          <a:p>
            <a:pPr indent="0" marL="0">
              <a:spcAft>
                <a:spcPts val="600"/>
              </a:spcAft>
              <a:buNone/>
            </a:pPr>
            <a:r>
              <a:rPr lang="en-US" sz="1000" dirty="0">
                <a:solidFill>
                  <a:srgbClr val="8899AA"/>
                </a:solidFill>
                <a:latin typeface="Arial" pitchFamily="34" charset="0"/>
                <a:ea typeface="Arial" pitchFamily="34" charset="-122"/>
                <a:cs typeface="Arial" pitchFamily="34" charset="-120"/>
              </a:rPr>
              <a:t>HD khoản 4 Điều 8 NĐ 111: CSDL quốc gia XD</a:t>
            </a:r>
            <a:endParaRPr lang="en-US" sz="1100" dirty="0"/>
          </a:p>
          <a:p>
            <a:pPr marL="342900" indent="-342900">
              <a:spcAft>
                <a:spcPts val="300"/>
              </a:spcAft>
              <a:buSzPct val="100000"/>
              <a:buChar char="•"/>
            </a:pPr>
            <a:r>
              <a:rPr lang="en-US" sz="1100" b="1" dirty="0">
                <a:solidFill>
                  <a:srgbClr val="E8E8E8"/>
                </a:solidFill>
                <a:latin typeface="Arial" pitchFamily="34" charset="0"/>
                <a:ea typeface="Arial" pitchFamily="34" charset="-122"/>
                <a:cs typeface="Arial" pitchFamily="34" charset="-120"/>
              </a:rPr>
              <a:t>QĐ 749 • QĐ 2289 • NQ 52</a:t>
            </a:r>
            <a:endParaRPr lang="en-US" sz="1100" dirty="0"/>
          </a:p>
          <a:p>
            <a:pPr indent="0" marL="0">
              <a:buNone/>
            </a:pPr>
            <a:r>
              <a:rPr lang="en-US" sz="1000" dirty="0">
                <a:solidFill>
                  <a:srgbClr val="8899AA"/>
                </a:solidFill>
                <a:latin typeface="Arial" pitchFamily="34" charset="0"/>
                <a:ea typeface="Arial" pitchFamily="34" charset="-122"/>
                <a:cs typeface="Arial" pitchFamily="34" charset="-120"/>
              </a:rPr>
              <a:t>CĐS quốc gia, chiến lược CMCN 4.0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THÁCH THỨC &amp; GIẢI PHÁP</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5 vấn đề cốt lõi và 5 trụ cột giải pháp</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4023360" cy="3291840"/>
          </a:xfrm>
          <a:prstGeom prst="roundRect">
            <a:avLst>
              <a:gd name="adj" fmla="val 3333"/>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548640" y="1463040"/>
            <a:ext cx="3657600" cy="365760"/>
          </a:xfrm>
          <a:prstGeom prst="rect">
            <a:avLst/>
          </a:prstGeom>
          <a:noFill/>
          <a:ln/>
        </p:spPr>
        <p:txBody>
          <a:bodyPr wrap="square" rtlCol="0" anchor="ctr"/>
          <a:lstStyle/>
          <a:p>
            <a:pPr indent="0" marL="0">
              <a:buNone/>
            </a:pPr>
            <a:r>
              <a:rPr lang="en-US" sz="1400" b="1" dirty="0">
                <a:solidFill>
                  <a:srgbClr val="F97316"/>
                </a:solidFill>
                <a:latin typeface="Arial" pitchFamily="34" charset="0"/>
                <a:ea typeface="Arial" pitchFamily="34" charset="-122"/>
                <a:cs typeface="Arial" pitchFamily="34" charset="-120"/>
              </a:rPr>
              <a:t>⚠  THÁCH THỨC HIỆN TẠI</a:t>
            </a:r>
            <a:endParaRPr lang="en-US" sz="1400" dirty="0"/>
          </a:p>
        </p:txBody>
      </p:sp>
      <p:sp>
        <p:nvSpPr>
          <p:cNvPr id="7" name="Text 5"/>
          <p:cNvSpPr/>
          <p:nvPr/>
        </p:nvSpPr>
        <p:spPr>
          <a:xfrm>
            <a:off x="548640" y="1874520"/>
            <a:ext cx="3657600" cy="2651760"/>
          </a:xfrm>
          <a:prstGeom prst="rect">
            <a:avLst/>
          </a:prstGeom>
          <a:noFill/>
          <a:ln/>
        </p:spPr>
        <p:txBody>
          <a:bodyPr wrap="square" rtlCol="0" anchor="t"/>
          <a:lstStyle/>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Quản lý phân tán</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Excel, email, giấy tờ</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Thiếu minh bạch tiến độ</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không theo dõi được realtime</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Báo cáo thủ công</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tốn thời gian, dễ sai sót</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Rủi ro pháp lý</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Luật ĐTC 2024, Luật XD 135/2025, Luật ĐT 2023</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Chưa đáp ứng CĐS</a:t>
            </a:r>
            <a:endParaRPr lang="en-US" sz="1200" dirty="0"/>
          </a:p>
          <a:p>
            <a:pPr indent="0" marL="0">
              <a:buNone/>
            </a:pPr>
            <a:r>
              <a:rPr lang="en-US" sz="1000" dirty="0">
                <a:solidFill>
                  <a:srgbClr val="8899AA"/>
                </a:solidFill>
                <a:latin typeface="Arial" pitchFamily="34" charset="0"/>
                <a:ea typeface="Arial" pitchFamily="34" charset="-122"/>
                <a:cs typeface="Arial" pitchFamily="34" charset="-120"/>
              </a:rPr>
              <a:t>chưa kết nối CSDL QG, chưa BIM/AI/CDE</a:t>
            </a:r>
            <a:endParaRPr lang="en-US" sz="1200" dirty="0"/>
          </a:p>
        </p:txBody>
      </p:sp>
      <p:sp>
        <p:nvSpPr>
          <p:cNvPr id="8" name="Shape 6"/>
          <p:cNvSpPr/>
          <p:nvPr/>
        </p:nvSpPr>
        <p:spPr>
          <a:xfrm>
            <a:off x="4754880" y="1371600"/>
            <a:ext cx="4023360" cy="3291840"/>
          </a:xfrm>
          <a:prstGeom prst="roundRect">
            <a:avLst>
              <a:gd name="adj" fmla="val 3333"/>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Text 7"/>
          <p:cNvSpPr/>
          <p:nvPr/>
        </p:nvSpPr>
        <p:spPr>
          <a:xfrm>
            <a:off x="4937760" y="1463040"/>
            <a:ext cx="3657600" cy="36576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  GIẢI PHÁP</a:t>
            </a:r>
            <a:endParaRPr lang="en-US" sz="1400" dirty="0"/>
          </a:p>
        </p:txBody>
      </p:sp>
      <p:sp>
        <p:nvSpPr>
          <p:cNvPr id="10" name="Text 8"/>
          <p:cNvSpPr/>
          <p:nvPr/>
        </p:nvSpPr>
        <p:spPr>
          <a:xfrm>
            <a:off x="4937760" y="1874520"/>
            <a:ext cx="3657600" cy="2651760"/>
          </a:xfrm>
          <a:prstGeom prst="rect">
            <a:avLst/>
          </a:prstGeom>
          <a:noFill/>
          <a:ln/>
        </p:spPr>
        <p:txBody>
          <a:bodyPr wrap="square" rtlCol="0" anchor="t"/>
          <a:lstStyle/>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Nền tảng tập trung</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tất cả dữ liệu trên một hệ thống</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Dashboard thời gian thực</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KPI, biểu đồ, bản đồ cập nhật tức thì</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Tự động hóa báo cáo</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biểu mẫu theo TT24/2025, Luật ĐTC</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Tuân thủ pháp luật</a:t>
            </a:r>
            <a:endParaRPr lang="en-US" sz="1200" dirty="0"/>
          </a:p>
          <a:p>
            <a:pPr indent="0" marL="0">
              <a:spcAft>
                <a:spcPts val="700"/>
              </a:spcAft>
              <a:buNone/>
            </a:pPr>
            <a:r>
              <a:rPr lang="en-US" sz="1000" dirty="0">
                <a:solidFill>
                  <a:srgbClr val="8899AA"/>
                </a:solidFill>
                <a:latin typeface="Arial" pitchFamily="34" charset="0"/>
                <a:ea typeface="Arial" pitchFamily="34" charset="-122"/>
                <a:cs typeface="Arial" pitchFamily="34" charset="-120"/>
              </a:rPr>
              <a:t>checklist tích hợp, cảnh báo tự động</a:t>
            </a:r>
            <a:endParaRPr lang="en-US" sz="1200" dirty="0"/>
          </a:p>
          <a:p>
            <a:pPr marL="342900" indent="-342900">
              <a:spcAft>
                <a:spcPts val="400"/>
              </a:spcAft>
              <a:buSzPct val="100000"/>
              <a:buChar char="•"/>
            </a:pPr>
            <a:r>
              <a:rPr lang="en-US" sz="1200" dirty="0">
                <a:solidFill>
                  <a:srgbClr val="E8E8E8"/>
                </a:solidFill>
                <a:latin typeface="Arial" pitchFamily="34" charset="0"/>
                <a:ea typeface="Arial" pitchFamily="34" charset="-122"/>
                <a:cs typeface="Arial" pitchFamily="34" charset="-120"/>
              </a:rPr>
              <a:t>Sẵn sàng cho 4.0</a:t>
            </a:r>
            <a:endParaRPr lang="en-US" sz="1200" dirty="0"/>
          </a:p>
          <a:p>
            <a:pPr indent="0" marL="0">
              <a:buNone/>
            </a:pPr>
            <a:r>
              <a:rPr lang="en-US" sz="1000" dirty="0">
                <a:solidFill>
                  <a:srgbClr val="8899AA"/>
                </a:solidFill>
                <a:latin typeface="Arial" pitchFamily="34" charset="0"/>
                <a:ea typeface="Arial" pitchFamily="34" charset="-122"/>
                <a:cs typeface="Arial" pitchFamily="34" charset="-120"/>
              </a:rPr>
              <a:t>BIM, AI, CDE, CSDL quốc gia (NĐ 111)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TỔNG QUAN HỆ THỐNG</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Nền tảng web hiện đại — truy cập mọi lúc, không cần cài đặt</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1572768" cy="1463040"/>
          </a:xfrm>
          <a:prstGeom prst="roundRect">
            <a:avLst>
              <a:gd name="adj" fmla="val 75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365760" y="1463040"/>
            <a:ext cx="1572768" cy="640080"/>
          </a:xfrm>
          <a:prstGeom prst="rect">
            <a:avLst/>
          </a:prstGeom>
          <a:noFill/>
          <a:ln/>
        </p:spPr>
        <p:txBody>
          <a:bodyPr wrap="square" rtlCol="0" anchor="ctr"/>
          <a:lstStyle/>
          <a:p>
            <a:pPr algn="ctr" indent="0" marL="0">
              <a:buNone/>
            </a:pPr>
            <a:r>
              <a:rPr lang="en-US" sz="2800" b="1" dirty="0">
                <a:solidFill>
                  <a:srgbClr val="D4A017"/>
                </a:solidFill>
                <a:latin typeface="Arial" pitchFamily="34" charset="0"/>
                <a:ea typeface="Arial" pitchFamily="34" charset="-122"/>
                <a:cs typeface="Arial" pitchFamily="34" charset="-120"/>
              </a:rPr>
              <a:t>13+</a:t>
            </a:r>
            <a:endParaRPr lang="en-US" sz="2800" dirty="0"/>
          </a:p>
        </p:txBody>
      </p:sp>
      <p:sp>
        <p:nvSpPr>
          <p:cNvPr id="7" name="Text 5"/>
          <p:cNvSpPr/>
          <p:nvPr/>
        </p:nvSpPr>
        <p:spPr>
          <a:xfrm>
            <a:off x="365760" y="2103120"/>
            <a:ext cx="1572768" cy="594360"/>
          </a:xfrm>
          <a:prstGeom prst="rect">
            <a:avLst/>
          </a:prstGeom>
          <a:noFill/>
          <a:ln/>
        </p:spPr>
        <p:txBody>
          <a:bodyPr wrap="square" rtlCol="0" anchor="t"/>
          <a:lstStyle/>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Module</a:t>
            </a:r>
            <a:endParaRPr lang="en-US" sz="1000" dirty="0"/>
          </a:p>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chức năng</a:t>
            </a:r>
            <a:endParaRPr lang="en-US" sz="1000" dirty="0"/>
          </a:p>
        </p:txBody>
      </p:sp>
      <p:sp>
        <p:nvSpPr>
          <p:cNvPr id="8" name="Shape 6"/>
          <p:cNvSpPr/>
          <p:nvPr/>
        </p:nvSpPr>
        <p:spPr>
          <a:xfrm>
            <a:off x="2121408" y="1371600"/>
            <a:ext cx="1572768" cy="1463040"/>
          </a:xfrm>
          <a:prstGeom prst="roundRect">
            <a:avLst>
              <a:gd name="adj" fmla="val 75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Text 7"/>
          <p:cNvSpPr/>
          <p:nvPr/>
        </p:nvSpPr>
        <p:spPr>
          <a:xfrm>
            <a:off x="2121408" y="1463040"/>
            <a:ext cx="1572768" cy="640080"/>
          </a:xfrm>
          <a:prstGeom prst="rect">
            <a:avLst/>
          </a:prstGeom>
          <a:noFill/>
          <a:ln/>
        </p:spPr>
        <p:txBody>
          <a:bodyPr wrap="square" rtlCol="0" anchor="ctr"/>
          <a:lstStyle/>
          <a:p>
            <a:pPr algn="ctr" indent="0" marL="0">
              <a:buNone/>
            </a:pPr>
            <a:r>
              <a:rPr lang="en-US" sz="2800" b="1" dirty="0">
                <a:solidFill>
                  <a:srgbClr val="3B82F6"/>
                </a:solidFill>
                <a:latin typeface="Arial" pitchFamily="34" charset="0"/>
                <a:ea typeface="Arial" pitchFamily="34" charset="-122"/>
                <a:cs typeface="Arial" pitchFamily="34" charset="-120"/>
              </a:rPr>
              <a:t>5</a:t>
            </a:r>
            <a:endParaRPr lang="en-US" sz="2800" dirty="0"/>
          </a:p>
        </p:txBody>
      </p:sp>
      <p:sp>
        <p:nvSpPr>
          <p:cNvPr id="10" name="Text 8"/>
          <p:cNvSpPr/>
          <p:nvPr/>
        </p:nvSpPr>
        <p:spPr>
          <a:xfrm>
            <a:off x="2121408" y="2103120"/>
            <a:ext cx="1572768" cy="594360"/>
          </a:xfrm>
          <a:prstGeom prst="rect">
            <a:avLst/>
          </a:prstGeom>
          <a:noFill/>
          <a:ln/>
        </p:spPr>
        <p:txBody>
          <a:bodyPr wrap="square" rtlCol="0" anchor="t"/>
          <a:lstStyle/>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Ban QLDA</a:t>
            </a:r>
            <a:endParaRPr lang="en-US" sz="1000" dirty="0"/>
          </a:p>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trực thuộc</a:t>
            </a:r>
            <a:endParaRPr lang="en-US" sz="1000" dirty="0"/>
          </a:p>
        </p:txBody>
      </p:sp>
      <p:sp>
        <p:nvSpPr>
          <p:cNvPr id="11" name="Shape 9"/>
          <p:cNvSpPr/>
          <p:nvPr/>
        </p:nvSpPr>
        <p:spPr>
          <a:xfrm>
            <a:off x="3877056" y="1371600"/>
            <a:ext cx="1572768" cy="1463040"/>
          </a:xfrm>
          <a:prstGeom prst="roundRect">
            <a:avLst>
              <a:gd name="adj" fmla="val 75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2" name="Text 10"/>
          <p:cNvSpPr/>
          <p:nvPr/>
        </p:nvSpPr>
        <p:spPr>
          <a:xfrm>
            <a:off x="3877056" y="1463040"/>
            <a:ext cx="1572768" cy="640080"/>
          </a:xfrm>
          <a:prstGeom prst="rect">
            <a:avLst/>
          </a:prstGeom>
          <a:noFill/>
          <a:ln/>
        </p:spPr>
        <p:txBody>
          <a:bodyPr wrap="square" rtlCol="0" anchor="ctr"/>
          <a:lstStyle/>
          <a:p>
            <a:pPr algn="ctr" indent="0" marL="0">
              <a:buNone/>
            </a:pPr>
            <a:r>
              <a:rPr lang="en-US" sz="2800" b="1" dirty="0">
                <a:solidFill>
                  <a:srgbClr val="10B981"/>
                </a:solidFill>
                <a:latin typeface="Arial" pitchFamily="34" charset="0"/>
                <a:ea typeface="Arial" pitchFamily="34" charset="-122"/>
                <a:cs typeface="Arial" pitchFamily="34" charset="-120"/>
              </a:rPr>
              <a:t>IFC</a:t>
            </a:r>
            <a:endParaRPr lang="en-US" sz="2800" dirty="0"/>
          </a:p>
        </p:txBody>
      </p:sp>
      <p:sp>
        <p:nvSpPr>
          <p:cNvPr id="13" name="Text 11"/>
          <p:cNvSpPr/>
          <p:nvPr/>
        </p:nvSpPr>
        <p:spPr>
          <a:xfrm>
            <a:off x="3877056" y="2103120"/>
            <a:ext cx="1572768" cy="594360"/>
          </a:xfrm>
          <a:prstGeom prst="rect">
            <a:avLst/>
          </a:prstGeom>
          <a:noFill/>
          <a:ln/>
        </p:spPr>
        <p:txBody>
          <a:bodyPr wrap="square" rtlCol="0" anchor="t"/>
          <a:lstStyle/>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BIM 3D</a:t>
            </a:r>
            <a:endParaRPr lang="en-US" sz="1000" dirty="0"/>
          </a:p>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Viewer</a:t>
            </a:r>
            <a:endParaRPr lang="en-US" sz="1000" dirty="0"/>
          </a:p>
        </p:txBody>
      </p:sp>
      <p:sp>
        <p:nvSpPr>
          <p:cNvPr id="14" name="Shape 12"/>
          <p:cNvSpPr/>
          <p:nvPr/>
        </p:nvSpPr>
        <p:spPr>
          <a:xfrm>
            <a:off x="5632704" y="1371600"/>
            <a:ext cx="1572768" cy="1463040"/>
          </a:xfrm>
          <a:prstGeom prst="roundRect">
            <a:avLst>
              <a:gd name="adj" fmla="val 75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5" name="Text 13"/>
          <p:cNvSpPr/>
          <p:nvPr/>
        </p:nvSpPr>
        <p:spPr>
          <a:xfrm>
            <a:off x="5632704" y="1463040"/>
            <a:ext cx="1572768" cy="640080"/>
          </a:xfrm>
          <a:prstGeom prst="rect">
            <a:avLst/>
          </a:prstGeom>
          <a:noFill/>
          <a:ln/>
        </p:spPr>
        <p:txBody>
          <a:bodyPr wrap="square" rtlCol="0" anchor="ctr"/>
          <a:lstStyle/>
          <a:p>
            <a:pPr algn="ctr" indent="0" marL="0">
              <a:buNone/>
            </a:pPr>
            <a:r>
              <a:rPr lang="en-US" sz="2800" b="1" dirty="0">
                <a:solidFill>
                  <a:srgbClr val="F97316"/>
                </a:solidFill>
                <a:latin typeface="Arial" pitchFamily="34" charset="0"/>
                <a:ea typeface="Arial" pitchFamily="34" charset="-122"/>
                <a:cs typeface="Arial" pitchFamily="34" charset="-120"/>
              </a:rPr>
              <a:t>Gemini</a:t>
            </a:r>
            <a:endParaRPr lang="en-US" sz="2800" dirty="0"/>
          </a:p>
        </p:txBody>
      </p:sp>
      <p:sp>
        <p:nvSpPr>
          <p:cNvPr id="16" name="Text 14"/>
          <p:cNvSpPr/>
          <p:nvPr/>
        </p:nvSpPr>
        <p:spPr>
          <a:xfrm>
            <a:off x="5632704" y="2103120"/>
            <a:ext cx="1572768" cy="594360"/>
          </a:xfrm>
          <a:prstGeom prst="rect">
            <a:avLst/>
          </a:prstGeom>
          <a:noFill/>
          <a:ln/>
        </p:spPr>
        <p:txBody>
          <a:bodyPr wrap="square" rtlCol="0" anchor="t"/>
          <a:lstStyle/>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AI</a:t>
            </a:r>
            <a:endParaRPr lang="en-US" sz="1000" dirty="0"/>
          </a:p>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tích hợp</a:t>
            </a:r>
            <a:endParaRPr lang="en-US" sz="1000" dirty="0"/>
          </a:p>
        </p:txBody>
      </p:sp>
      <p:sp>
        <p:nvSpPr>
          <p:cNvPr id="17" name="Shape 15"/>
          <p:cNvSpPr/>
          <p:nvPr/>
        </p:nvSpPr>
        <p:spPr>
          <a:xfrm>
            <a:off x="7388352" y="1371600"/>
            <a:ext cx="1572768" cy="1463040"/>
          </a:xfrm>
          <a:prstGeom prst="roundRect">
            <a:avLst>
              <a:gd name="adj" fmla="val 75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8" name="Text 16"/>
          <p:cNvSpPr/>
          <p:nvPr/>
        </p:nvSpPr>
        <p:spPr>
          <a:xfrm>
            <a:off x="7388352" y="1463040"/>
            <a:ext cx="1572768" cy="640080"/>
          </a:xfrm>
          <a:prstGeom prst="rect">
            <a:avLst/>
          </a:prstGeom>
          <a:noFill/>
          <a:ln/>
        </p:spPr>
        <p:txBody>
          <a:bodyPr wrap="square" rtlCol="0" anchor="ctr"/>
          <a:lstStyle/>
          <a:p>
            <a:pPr algn="ctr" indent="0" marL="0">
              <a:buNone/>
            </a:pPr>
            <a:r>
              <a:rPr lang="en-US" sz="2800" b="1" dirty="0">
                <a:solidFill>
                  <a:srgbClr val="D4A017"/>
                </a:solidFill>
                <a:latin typeface="Arial" pitchFamily="34" charset="0"/>
                <a:ea typeface="Arial" pitchFamily="34" charset="-122"/>
                <a:cs typeface="Arial" pitchFamily="34" charset="-120"/>
              </a:rPr>
              <a:t>RLS</a:t>
            </a:r>
            <a:endParaRPr lang="en-US" sz="2800" dirty="0"/>
          </a:p>
        </p:txBody>
      </p:sp>
      <p:sp>
        <p:nvSpPr>
          <p:cNvPr id="19" name="Text 17"/>
          <p:cNvSpPr/>
          <p:nvPr/>
        </p:nvSpPr>
        <p:spPr>
          <a:xfrm>
            <a:off x="7388352" y="2103120"/>
            <a:ext cx="1572768" cy="594360"/>
          </a:xfrm>
          <a:prstGeom prst="rect">
            <a:avLst/>
          </a:prstGeom>
          <a:noFill/>
          <a:ln/>
        </p:spPr>
        <p:txBody>
          <a:bodyPr wrap="square" rtlCol="0" anchor="t"/>
          <a:lstStyle/>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Bảo mật</a:t>
            </a:r>
            <a:endParaRPr lang="en-US" sz="1000" dirty="0"/>
          </a:p>
          <a:p>
            <a:pPr algn="ctr" indent="0" marL="0">
              <a:lnSpc>
                <a:spcPct val="120000"/>
              </a:lnSpc>
              <a:buNone/>
            </a:pPr>
            <a:r>
              <a:rPr lang="en-US" sz="1000" dirty="0">
                <a:solidFill>
                  <a:srgbClr val="8899AA"/>
                </a:solidFill>
                <a:latin typeface="Arial" pitchFamily="34" charset="0"/>
                <a:ea typeface="Arial" pitchFamily="34" charset="-122"/>
                <a:cs typeface="Arial" pitchFamily="34" charset="-120"/>
              </a:rPr>
              <a:t>RBAC</a:t>
            </a:r>
            <a:endParaRPr lang="en-US" sz="1000" dirty="0"/>
          </a:p>
        </p:txBody>
      </p:sp>
      <p:sp>
        <p:nvSpPr>
          <p:cNvPr id="20" name="Text 18"/>
          <p:cNvSpPr/>
          <p:nvPr/>
        </p:nvSpPr>
        <p:spPr>
          <a:xfrm>
            <a:off x="548640" y="3063240"/>
            <a:ext cx="8046720" cy="365760"/>
          </a:xfrm>
          <a:prstGeom prst="rect">
            <a:avLst/>
          </a:prstGeom>
          <a:noFill/>
          <a:ln/>
        </p:spPr>
        <p:txBody>
          <a:bodyPr wrap="square" rtlCol="0" anchor="ctr"/>
          <a:lstStyle/>
          <a:p>
            <a:pPr indent="0" marL="0">
              <a:buNone/>
            </a:pPr>
            <a:r>
              <a:rPr lang="en-US" sz="1150" dirty="0">
                <a:solidFill>
                  <a:srgbClr val="E8E8E8"/>
                </a:solidFill>
                <a:latin typeface="Arial" pitchFamily="34" charset="0"/>
                <a:ea typeface="Arial" pitchFamily="34" charset="-122"/>
                <a:cs typeface="Arial" pitchFamily="34" charset="-120"/>
              </a:rPr>
              <a:t>📊  Dashboard realtime với 5 KPI chính, biểu đồ giải ngân, bản đồ dự án</a:t>
            </a:r>
            <a:endParaRPr lang="en-US" sz="1150" dirty="0"/>
          </a:p>
        </p:txBody>
      </p:sp>
      <p:sp>
        <p:nvSpPr>
          <p:cNvPr id="21" name="Text 19"/>
          <p:cNvSpPr/>
          <p:nvPr/>
        </p:nvSpPr>
        <p:spPr>
          <a:xfrm>
            <a:off x="548640" y="3465576"/>
            <a:ext cx="8046720" cy="365760"/>
          </a:xfrm>
          <a:prstGeom prst="rect">
            <a:avLst/>
          </a:prstGeom>
          <a:noFill/>
          <a:ln/>
        </p:spPr>
        <p:txBody>
          <a:bodyPr wrap="square" rtlCol="0" anchor="ctr"/>
          <a:lstStyle/>
          <a:p>
            <a:pPr indent="0" marL="0">
              <a:buNone/>
            </a:pPr>
            <a:r>
              <a:rPr lang="en-US" sz="1150" dirty="0">
                <a:solidFill>
                  <a:srgbClr val="E8E8E8"/>
                </a:solidFill>
                <a:latin typeface="Arial" pitchFamily="34" charset="0"/>
                <a:ea typeface="Arial" pitchFamily="34" charset="-122"/>
                <a:cs typeface="Arial" pitchFamily="34" charset="-120"/>
              </a:rPr>
              <a:t>🏗️  Quản lý toàn bộ vòng đời dự án: Chuẩn bị → Thực hiện → Kết thúc XD</a:t>
            </a:r>
            <a:endParaRPr lang="en-US" sz="1150" dirty="0"/>
          </a:p>
        </p:txBody>
      </p:sp>
      <p:sp>
        <p:nvSpPr>
          <p:cNvPr id="22" name="Text 20"/>
          <p:cNvSpPr/>
          <p:nvPr/>
        </p:nvSpPr>
        <p:spPr>
          <a:xfrm>
            <a:off x="548640" y="3867912"/>
            <a:ext cx="8046720" cy="365760"/>
          </a:xfrm>
          <a:prstGeom prst="rect">
            <a:avLst/>
          </a:prstGeom>
          <a:noFill/>
          <a:ln/>
        </p:spPr>
        <p:txBody>
          <a:bodyPr wrap="square" rtlCol="0" anchor="ctr"/>
          <a:lstStyle/>
          <a:p>
            <a:pPr indent="0" marL="0">
              <a:buNone/>
            </a:pPr>
            <a:r>
              <a:rPr lang="en-US" sz="1150" dirty="0">
                <a:solidFill>
                  <a:srgbClr val="E8E8E8"/>
                </a:solidFill>
                <a:latin typeface="Arial" pitchFamily="34" charset="0"/>
                <a:ea typeface="Arial" pitchFamily="34" charset="-122"/>
                <a:cs typeface="Arial" pitchFamily="34" charset="-120"/>
              </a:rPr>
              <a:t>🤖  AI tóm tắt tình hình, phát hiện bất thường, chấm điểm nhà thầu tự động</a:t>
            </a:r>
            <a:endParaRPr lang="en-US" sz="1150" dirty="0"/>
          </a:p>
        </p:txBody>
      </p:sp>
      <p:sp>
        <p:nvSpPr>
          <p:cNvPr id="23" name="Text 21"/>
          <p:cNvSpPr/>
          <p:nvPr/>
        </p:nvSpPr>
        <p:spPr>
          <a:xfrm>
            <a:off x="548640" y="4270248"/>
            <a:ext cx="8046720" cy="365760"/>
          </a:xfrm>
          <a:prstGeom prst="rect">
            <a:avLst/>
          </a:prstGeom>
          <a:noFill/>
          <a:ln/>
        </p:spPr>
        <p:txBody>
          <a:bodyPr wrap="square" rtlCol="0" anchor="ctr"/>
          <a:lstStyle/>
          <a:p>
            <a:pPr indent="0" marL="0">
              <a:buNone/>
            </a:pPr>
            <a:r>
              <a:rPr lang="en-US" sz="1150" dirty="0">
                <a:solidFill>
                  <a:srgbClr val="E8E8E8"/>
                </a:solidFill>
                <a:latin typeface="Arial" pitchFamily="34" charset="0"/>
                <a:ea typeface="Arial" pitchFamily="34" charset="-122"/>
                <a:cs typeface="Arial" pitchFamily="34" charset="-120"/>
              </a:rPr>
              <a:t>🏢  BIM 3D Viewer — xem mô hình công trình trong trình duyệt, không cần phần mềm</a:t>
            </a:r>
            <a:endParaRPr lang="en-US" sz="1150" dirty="0"/>
          </a:p>
        </p:txBody>
      </p:sp>
      <p:sp>
        <p:nvSpPr>
          <p:cNvPr id="24" name="Text 22"/>
          <p:cNvSpPr/>
          <p:nvPr/>
        </p:nvSpPr>
        <p:spPr>
          <a:xfrm>
            <a:off x="548640" y="4672584"/>
            <a:ext cx="8046720" cy="365760"/>
          </a:xfrm>
          <a:prstGeom prst="rect">
            <a:avLst/>
          </a:prstGeom>
          <a:noFill/>
          <a:ln/>
        </p:spPr>
        <p:txBody>
          <a:bodyPr wrap="square" rtlCol="0" anchor="ctr"/>
          <a:lstStyle/>
          <a:p>
            <a:pPr indent="0" marL="0">
              <a:buNone/>
            </a:pPr>
            <a:r>
              <a:rPr lang="en-US" sz="1150" dirty="0">
                <a:solidFill>
                  <a:srgbClr val="E8E8E8"/>
                </a:solidFill>
                <a:latin typeface="Arial" pitchFamily="34" charset="0"/>
                <a:ea typeface="Arial" pitchFamily="34" charset="-122"/>
                <a:cs typeface="Arial" pitchFamily="34" charset="-120"/>
              </a:rPr>
              <a:t>📋  CDE — Môi trường dữ liệu chung theo ISO 19650, workflow duyệt tài liệu</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CÁC MODULE CHỨC NĂNG (1/2)</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13 module phục vụ toàn bộ quy trình quản lý dự án đầu tư xây dựng</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457200" y="14630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7" name="Text 5"/>
          <p:cNvSpPr/>
          <p:nvPr/>
        </p:nvSpPr>
        <p:spPr>
          <a:xfrm>
            <a:off x="868680" y="1463040"/>
            <a:ext cx="2011680" cy="32004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Tổng quan</a:t>
            </a:r>
            <a:endParaRPr lang="en-US" sz="1300" dirty="0"/>
          </a:p>
        </p:txBody>
      </p:sp>
      <p:sp>
        <p:nvSpPr>
          <p:cNvPr id="8" name="Text 6"/>
          <p:cNvSpPr/>
          <p:nvPr/>
        </p:nvSpPr>
        <p:spPr>
          <a:xfrm>
            <a:off x="502920" y="187452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Dashboard KPI, biểu đồ giải ngân, bản đồ vị trí, cảnh báo rủi ro, AI Summary</a:t>
            </a:r>
            <a:endParaRPr lang="en-US" sz="1000" dirty="0"/>
          </a:p>
        </p:txBody>
      </p:sp>
      <p:sp>
        <p:nvSpPr>
          <p:cNvPr id="9" name="Shape 7"/>
          <p:cNvSpPr/>
          <p:nvPr/>
        </p:nvSpPr>
        <p:spPr>
          <a:xfrm>
            <a:off x="3200400" y="137160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0" name="Text 8"/>
          <p:cNvSpPr/>
          <p:nvPr/>
        </p:nvSpPr>
        <p:spPr>
          <a:xfrm>
            <a:off x="3291840" y="14630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1" name="Text 9"/>
          <p:cNvSpPr/>
          <p:nvPr/>
        </p:nvSpPr>
        <p:spPr>
          <a:xfrm>
            <a:off x="3703320" y="1463040"/>
            <a:ext cx="2011680"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Dự án đầu tư</a:t>
            </a:r>
            <a:endParaRPr lang="en-US" sz="1300" dirty="0"/>
          </a:p>
        </p:txBody>
      </p:sp>
      <p:sp>
        <p:nvSpPr>
          <p:cNvPr id="12" name="Text 10"/>
          <p:cNvSpPr/>
          <p:nvPr/>
        </p:nvSpPr>
        <p:spPr>
          <a:xfrm>
            <a:off x="3337560" y="187452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8 tab: Thông tin, Vốn, Tuân thủ PL, Tài liệu, BIM, Vận hành, Gói thầu, Kế hoạch</a:t>
            </a:r>
            <a:endParaRPr lang="en-US" sz="1000" dirty="0"/>
          </a:p>
        </p:txBody>
      </p:sp>
      <p:sp>
        <p:nvSpPr>
          <p:cNvPr id="13" name="Shape 11"/>
          <p:cNvSpPr/>
          <p:nvPr/>
        </p:nvSpPr>
        <p:spPr>
          <a:xfrm>
            <a:off x="6035040" y="137160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4" name="Text 12"/>
          <p:cNvSpPr/>
          <p:nvPr/>
        </p:nvSpPr>
        <p:spPr>
          <a:xfrm>
            <a:off x="6126480" y="14630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5" name="Text 13"/>
          <p:cNvSpPr/>
          <p:nvPr/>
        </p:nvSpPr>
        <p:spPr>
          <a:xfrm>
            <a:off x="6537960" y="1463040"/>
            <a:ext cx="201168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BIM 3D Viewer</a:t>
            </a:r>
            <a:endParaRPr lang="en-US" sz="1300" dirty="0"/>
          </a:p>
        </p:txBody>
      </p:sp>
      <p:sp>
        <p:nvSpPr>
          <p:cNvPr id="16" name="Text 14"/>
          <p:cNvSpPr/>
          <p:nvPr/>
        </p:nvSpPr>
        <p:spPr>
          <a:xfrm>
            <a:off x="6172200" y="187452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Render IFC, ViewCube, Walkthrough, Section, Measurement, Facility Mgmt</a:t>
            </a:r>
            <a:endParaRPr lang="en-US" sz="1000" dirty="0"/>
          </a:p>
        </p:txBody>
      </p:sp>
      <p:sp>
        <p:nvSpPr>
          <p:cNvPr id="17" name="Shape 15"/>
          <p:cNvSpPr/>
          <p:nvPr/>
        </p:nvSpPr>
        <p:spPr>
          <a:xfrm>
            <a:off x="365760" y="31089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8" name="Text 16"/>
          <p:cNvSpPr/>
          <p:nvPr/>
        </p:nvSpPr>
        <p:spPr>
          <a:xfrm>
            <a:off x="457200" y="32004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9" name="Text 17"/>
          <p:cNvSpPr/>
          <p:nvPr/>
        </p:nvSpPr>
        <p:spPr>
          <a:xfrm>
            <a:off x="868680" y="3200400"/>
            <a:ext cx="2011680" cy="320040"/>
          </a:xfrm>
          <a:prstGeom prst="rect">
            <a:avLst/>
          </a:prstGeom>
          <a:noFill/>
          <a:ln/>
        </p:spPr>
        <p:txBody>
          <a:bodyPr wrap="square" rtlCol="0" anchor="ctr"/>
          <a:lstStyle/>
          <a:p>
            <a:pPr indent="0" marL="0">
              <a:buNone/>
            </a:pPr>
            <a:r>
              <a:rPr lang="en-US" sz="1300" b="1" dirty="0">
                <a:solidFill>
                  <a:srgbClr val="F97316"/>
                </a:solidFill>
                <a:latin typeface="Arial" pitchFamily="34" charset="0"/>
                <a:ea typeface="Arial" pitchFamily="34" charset="-122"/>
                <a:cs typeface="Arial" pitchFamily="34" charset="-120"/>
              </a:rPr>
              <a:t>CDE</a:t>
            </a:r>
            <a:endParaRPr lang="en-US" sz="1300" dirty="0"/>
          </a:p>
        </p:txBody>
      </p:sp>
      <p:sp>
        <p:nvSpPr>
          <p:cNvPr id="20" name="Text 18"/>
          <p:cNvSpPr/>
          <p:nvPr/>
        </p:nvSpPr>
        <p:spPr>
          <a:xfrm>
            <a:off x="502920" y="36118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ISO 19650, WIP/SHARED/PUBLISHED, Workflow duyệt, Transmittal, Permission</a:t>
            </a:r>
            <a:endParaRPr lang="en-US" sz="1000" dirty="0"/>
          </a:p>
        </p:txBody>
      </p:sp>
      <p:sp>
        <p:nvSpPr>
          <p:cNvPr id="21" name="Shape 19"/>
          <p:cNvSpPr/>
          <p:nvPr/>
        </p:nvSpPr>
        <p:spPr>
          <a:xfrm>
            <a:off x="3200400" y="31089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2" name="Text 20"/>
          <p:cNvSpPr/>
          <p:nvPr/>
        </p:nvSpPr>
        <p:spPr>
          <a:xfrm>
            <a:off x="3291840" y="32004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3" name="Text 21"/>
          <p:cNvSpPr/>
          <p:nvPr/>
        </p:nvSpPr>
        <p:spPr>
          <a:xfrm>
            <a:off x="3703320" y="3200400"/>
            <a:ext cx="2011680" cy="32004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Hợp đồng</a:t>
            </a:r>
            <a:endParaRPr lang="en-US" sz="1300" dirty="0"/>
          </a:p>
        </p:txBody>
      </p:sp>
      <p:sp>
        <p:nvSpPr>
          <p:cNvPr id="24" name="Text 22"/>
          <p:cNvSpPr/>
          <p:nvPr/>
        </p:nvSpPr>
        <p:spPr>
          <a:xfrm>
            <a:off x="3337560" y="36118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Quản lý vòng đời HĐ, phụ lục, liên kết thanh toán, trạng thái</a:t>
            </a:r>
            <a:endParaRPr lang="en-US" sz="1000" dirty="0"/>
          </a:p>
        </p:txBody>
      </p:sp>
      <p:sp>
        <p:nvSpPr>
          <p:cNvPr id="25" name="Shape 23"/>
          <p:cNvSpPr/>
          <p:nvPr/>
        </p:nvSpPr>
        <p:spPr>
          <a:xfrm>
            <a:off x="6035040" y="31089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6" name="Text 24"/>
          <p:cNvSpPr/>
          <p:nvPr/>
        </p:nvSpPr>
        <p:spPr>
          <a:xfrm>
            <a:off x="6126480" y="32004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7" name="Text 25"/>
          <p:cNvSpPr/>
          <p:nvPr/>
        </p:nvSpPr>
        <p:spPr>
          <a:xfrm>
            <a:off x="6537960" y="3200400"/>
            <a:ext cx="2011680"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Thanh toán</a:t>
            </a:r>
            <a:endParaRPr lang="en-US" sz="1300" dirty="0"/>
          </a:p>
        </p:txBody>
      </p:sp>
      <p:sp>
        <p:nvSpPr>
          <p:cNvPr id="28" name="Text 26"/>
          <p:cNvSpPr/>
          <p:nvPr/>
        </p:nvSpPr>
        <p:spPr>
          <a:xfrm>
            <a:off x="6172200" y="36118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Tạm ứng, khối lượng, quyết toán — theo dõi trạng thái chuyển khoản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CÁC MODULE CHỨC NĂNG (2/2)</a:t>
            </a:r>
            <a:endParaRPr lang="en-US" sz="2800" dirty="0"/>
          </a:p>
        </p:txBody>
      </p:sp>
      <p:sp>
        <p:nvSpPr>
          <p:cNvPr id="3" name="Shape 1"/>
          <p:cNvSpPr/>
          <p:nvPr/>
        </p:nvSpPr>
        <p:spPr>
          <a:xfrm>
            <a:off x="548640" y="1143000"/>
            <a:ext cx="1371600" cy="36576"/>
          </a:xfrm>
          <a:prstGeom prst="rect">
            <a:avLst/>
          </a:prstGeom>
          <a:solidFill>
            <a:srgbClr val="D4A017"/>
          </a:solidFill>
          <a:ln/>
        </p:spPr>
      </p:sp>
      <p:sp>
        <p:nvSpPr>
          <p:cNvPr id="4" name="Shape 2"/>
          <p:cNvSpPr/>
          <p:nvPr/>
        </p:nvSpPr>
        <p:spPr>
          <a:xfrm>
            <a:off x="365760" y="12801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5" name="Text 3"/>
          <p:cNvSpPr/>
          <p:nvPr/>
        </p:nvSpPr>
        <p:spPr>
          <a:xfrm>
            <a:off x="457200" y="13716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6" name="Text 4"/>
          <p:cNvSpPr/>
          <p:nvPr/>
        </p:nvSpPr>
        <p:spPr>
          <a:xfrm>
            <a:off x="868680" y="1371600"/>
            <a:ext cx="201168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Công việc</a:t>
            </a:r>
            <a:endParaRPr lang="en-US" sz="1300" dirty="0"/>
          </a:p>
        </p:txBody>
      </p:sp>
      <p:sp>
        <p:nvSpPr>
          <p:cNvPr id="7" name="Text 5"/>
          <p:cNvSpPr/>
          <p:nvPr/>
        </p:nvSpPr>
        <p:spPr>
          <a:xfrm>
            <a:off x="502920" y="17830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Kanban Board, 17+ Template quy trình, subtask, phụ thuộc, lọc đa tiêu chí</a:t>
            </a:r>
            <a:endParaRPr lang="en-US" sz="1000" dirty="0"/>
          </a:p>
        </p:txBody>
      </p:sp>
      <p:sp>
        <p:nvSpPr>
          <p:cNvPr id="8" name="Shape 6"/>
          <p:cNvSpPr/>
          <p:nvPr/>
        </p:nvSpPr>
        <p:spPr>
          <a:xfrm>
            <a:off x="3200400" y="12801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Text 7"/>
          <p:cNvSpPr/>
          <p:nvPr/>
        </p:nvSpPr>
        <p:spPr>
          <a:xfrm>
            <a:off x="3291840" y="13716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0" name="Text 8"/>
          <p:cNvSpPr/>
          <p:nvPr/>
        </p:nvSpPr>
        <p:spPr>
          <a:xfrm>
            <a:off x="3703320" y="1371600"/>
            <a:ext cx="2011680" cy="320040"/>
          </a:xfrm>
          <a:prstGeom prst="rect">
            <a:avLst/>
          </a:prstGeom>
          <a:noFill/>
          <a:ln/>
        </p:spPr>
        <p:txBody>
          <a:bodyPr wrap="square" rtlCol="0" anchor="ctr"/>
          <a:lstStyle/>
          <a:p>
            <a:pPr indent="0" marL="0">
              <a:buNone/>
            </a:pPr>
            <a:r>
              <a:rPr lang="en-US" sz="1300" b="1" dirty="0">
                <a:solidFill>
                  <a:srgbClr val="F97316"/>
                </a:solidFill>
                <a:latin typeface="Arial" pitchFamily="34" charset="0"/>
                <a:ea typeface="Arial" pitchFamily="34" charset="-122"/>
                <a:cs typeface="Arial" pitchFamily="34" charset="-120"/>
              </a:rPr>
              <a:t>Nhân sự</a:t>
            </a:r>
            <a:endParaRPr lang="en-US" sz="1300" dirty="0"/>
          </a:p>
        </p:txBody>
      </p:sp>
      <p:sp>
        <p:nvSpPr>
          <p:cNvPr id="11" name="Text 9"/>
          <p:cNvSpPr/>
          <p:nvPr/>
        </p:nvSpPr>
        <p:spPr>
          <a:xfrm>
            <a:off x="3337560" y="17830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Quản lý cán bộ Ban QLDA (Ban 1–5), hồ sơ, chức vụ, sơ đồ tổ chức</a:t>
            </a:r>
            <a:endParaRPr lang="en-US" sz="1000" dirty="0"/>
          </a:p>
        </p:txBody>
      </p:sp>
      <p:sp>
        <p:nvSpPr>
          <p:cNvPr id="12" name="Shape 10"/>
          <p:cNvSpPr/>
          <p:nvPr/>
        </p:nvSpPr>
        <p:spPr>
          <a:xfrm>
            <a:off x="6035040" y="128016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3" name="Text 11"/>
          <p:cNvSpPr/>
          <p:nvPr/>
        </p:nvSpPr>
        <p:spPr>
          <a:xfrm>
            <a:off x="6126480" y="13716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4" name="Text 12"/>
          <p:cNvSpPr/>
          <p:nvPr/>
        </p:nvSpPr>
        <p:spPr>
          <a:xfrm>
            <a:off x="6537960" y="1371600"/>
            <a:ext cx="2011680" cy="32004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Nhà thầu</a:t>
            </a:r>
            <a:endParaRPr lang="en-US" sz="1300" dirty="0"/>
          </a:p>
        </p:txBody>
      </p:sp>
      <p:sp>
        <p:nvSpPr>
          <p:cNvPr id="15" name="Text 13"/>
          <p:cNvSpPr/>
          <p:nvPr/>
        </p:nvSpPr>
        <p:spPr>
          <a:xfrm>
            <a:off x="6172200" y="178308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Hồ sơ năng lực, AI Scoring, đánh giá hiệu suất, danh sách HĐ</a:t>
            </a:r>
            <a:endParaRPr lang="en-US" sz="1000" dirty="0"/>
          </a:p>
        </p:txBody>
      </p:sp>
      <p:sp>
        <p:nvSpPr>
          <p:cNvPr id="16" name="Shape 14"/>
          <p:cNvSpPr/>
          <p:nvPr/>
        </p:nvSpPr>
        <p:spPr>
          <a:xfrm>
            <a:off x="365760" y="301752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7" name="Text 15"/>
          <p:cNvSpPr/>
          <p:nvPr/>
        </p:nvSpPr>
        <p:spPr>
          <a:xfrm>
            <a:off x="457200" y="31089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8" name="Text 16"/>
          <p:cNvSpPr/>
          <p:nvPr/>
        </p:nvSpPr>
        <p:spPr>
          <a:xfrm>
            <a:off x="868680" y="3108960"/>
            <a:ext cx="2011680"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Hồ sơ tài liệu</a:t>
            </a:r>
            <a:endParaRPr lang="en-US" sz="1300" dirty="0"/>
          </a:p>
        </p:txBody>
      </p:sp>
      <p:sp>
        <p:nvSpPr>
          <p:cNvPr id="19" name="Text 17"/>
          <p:cNvSpPr/>
          <p:nvPr/>
        </p:nvSpPr>
        <p:spPr>
          <a:xfrm>
            <a:off x="502920" y="352044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Upload/download, phân loại theo giai đoạn, preview trực tiếp</a:t>
            </a:r>
            <a:endParaRPr lang="en-US" sz="1000" dirty="0"/>
          </a:p>
        </p:txBody>
      </p:sp>
      <p:sp>
        <p:nvSpPr>
          <p:cNvPr id="20" name="Shape 18"/>
          <p:cNvSpPr/>
          <p:nvPr/>
        </p:nvSpPr>
        <p:spPr>
          <a:xfrm>
            <a:off x="3200400" y="301752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1" name="Text 19"/>
          <p:cNvSpPr/>
          <p:nvPr/>
        </p:nvSpPr>
        <p:spPr>
          <a:xfrm>
            <a:off x="3291840" y="31089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2" name="Text 20"/>
          <p:cNvSpPr/>
          <p:nvPr/>
        </p:nvSpPr>
        <p:spPr>
          <a:xfrm>
            <a:off x="3703320" y="3108960"/>
            <a:ext cx="201168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Văn bản pháp luật</a:t>
            </a:r>
            <a:endParaRPr lang="en-US" sz="1300" dirty="0"/>
          </a:p>
        </p:txBody>
      </p:sp>
      <p:sp>
        <p:nvSpPr>
          <p:cNvPr id="23" name="Text 21"/>
          <p:cNvSpPr/>
          <p:nvPr/>
        </p:nvSpPr>
        <p:spPr>
          <a:xfrm>
            <a:off x="3337560" y="352044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Tra cứu Luật ĐTC, Luật XD 135, NĐ, TT — liên kết trực tiếp dự án</a:t>
            </a:r>
            <a:endParaRPr lang="en-US" sz="1000" dirty="0"/>
          </a:p>
        </p:txBody>
      </p:sp>
      <p:sp>
        <p:nvSpPr>
          <p:cNvPr id="24" name="Shape 22"/>
          <p:cNvSpPr/>
          <p:nvPr/>
        </p:nvSpPr>
        <p:spPr>
          <a:xfrm>
            <a:off x="6035040" y="3017520"/>
            <a:ext cx="2651760" cy="1554480"/>
          </a:xfrm>
          <a:prstGeom prst="roundRect">
            <a:avLst>
              <a:gd name="adj" fmla="val 705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5" name="Text 23"/>
          <p:cNvSpPr/>
          <p:nvPr/>
        </p:nvSpPr>
        <p:spPr>
          <a:xfrm>
            <a:off x="6126480" y="31089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6" name="Text 24"/>
          <p:cNvSpPr/>
          <p:nvPr/>
        </p:nvSpPr>
        <p:spPr>
          <a:xfrm>
            <a:off x="6537960" y="3108960"/>
            <a:ext cx="2011680" cy="320040"/>
          </a:xfrm>
          <a:prstGeom prst="rect">
            <a:avLst/>
          </a:prstGeom>
          <a:noFill/>
          <a:ln/>
        </p:spPr>
        <p:txBody>
          <a:bodyPr wrap="square" rtlCol="0" anchor="ctr"/>
          <a:lstStyle/>
          <a:p>
            <a:pPr indent="0" marL="0">
              <a:buNone/>
            </a:pPr>
            <a:r>
              <a:rPr lang="en-US" sz="1300" b="1" dirty="0">
                <a:solidFill>
                  <a:srgbClr val="F97316"/>
                </a:solidFill>
                <a:latin typeface="Arial" pitchFamily="34" charset="0"/>
                <a:ea typeface="Arial" pitchFamily="34" charset="-122"/>
                <a:cs typeface="Arial" pitchFamily="34" charset="-120"/>
              </a:rPr>
              <a:t>Báo cáo &amp; Quản trị</a:t>
            </a:r>
            <a:endParaRPr lang="en-US" sz="1300" dirty="0"/>
          </a:p>
        </p:txBody>
      </p:sp>
      <p:sp>
        <p:nvSpPr>
          <p:cNvPr id="27" name="Text 25"/>
          <p:cNvSpPr/>
          <p:nvPr/>
        </p:nvSpPr>
        <p:spPr>
          <a:xfrm>
            <a:off x="6172200" y="3520440"/>
            <a:ext cx="2377440" cy="914400"/>
          </a:xfrm>
          <a:prstGeom prst="rect">
            <a:avLst/>
          </a:prstGeom>
          <a:noFill/>
          <a:ln/>
        </p:spPr>
        <p:txBody>
          <a:bodyPr wrap="square" rtlCol="0" anchor="t"/>
          <a:lstStyle/>
          <a:p>
            <a:pPr indent="0" marL="0">
              <a:lnSpc>
                <a:spcPct val="130000"/>
              </a:lnSpc>
              <a:buNone/>
            </a:pPr>
            <a:r>
              <a:rPr lang="en-US" sz="1000" dirty="0">
                <a:solidFill>
                  <a:srgbClr val="8899AA"/>
                </a:solidFill>
                <a:latin typeface="Arial" pitchFamily="34" charset="0"/>
                <a:ea typeface="Arial" pitchFamily="34" charset="-122"/>
                <a:cs typeface="Arial" pitchFamily="34" charset="-120"/>
              </a:rPr>
              <a:t>Xuất Excel/PDF, RBAC, Audit Log, Impersonation, Dark/Light mode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ĐIỂM NỔI BẬT: BIM 3D VIEWER</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Xem mô hình BIM trực tiếp trong trình duyệt — không cần cài phần mềm</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Shape 4"/>
          <p:cNvSpPr/>
          <p:nvPr/>
        </p:nvSpPr>
        <p:spPr>
          <a:xfrm>
            <a:off x="502920" y="1554480"/>
            <a:ext cx="320040" cy="320040"/>
          </a:xfrm>
          <a:prstGeom prst="ellipse">
            <a:avLst/>
          </a:prstGeom>
          <a:solidFill>
            <a:srgbClr val="D4A017"/>
          </a:solidFill>
          <a:ln/>
        </p:spPr>
      </p:sp>
      <p:sp>
        <p:nvSpPr>
          <p:cNvPr id="7" name="Text 5"/>
          <p:cNvSpPr/>
          <p:nvPr/>
        </p:nvSpPr>
        <p:spPr>
          <a:xfrm>
            <a:off x="914400" y="141732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Upload &amp; Render IFC</a:t>
            </a:r>
            <a:endParaRPr lang="en-US" sz="1200" dirty="0"/>
          </a:p>
        </p:txBody>
      </p:sp>
      <p:sp>
        <p:nvSpPr>
          <p:cNvPr id="8" name="Text 6"/>
          <p:cNvSpPr/>
          <p:nvPr/>
        </p:nvSpPr>
        <p:spPr>
          <a:xfrm>
            <a:off x="914400" y="173736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Tải lên file IFC, tự động render 3D</a:t>
            </a:r>
            <a:endParaRPr lang="en-US" sz="1000" dirty="0"/>
          </a:p>
        </p:txBody>
      </p:sp>
      <p:sp>
        <p:nvSpPr>
          <p:cNvPr id="9" name="Shape 7"/>
          <p:cNvSpPr/>
          <p:nvPr/>
        </p:nvSpPr>
        <p:spPr>
          <a:xfrm>
            <a:off x="4663440" y="137160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0" name="Shape 8"/>
          <p:cNvSpPr/>
          <p:nvPr/>
        </p:nvSpPr>
        <p:spPr>
          <a:xfrm>
            <a:off x="4800600" y="1554480"/>
            <a:ext cx="320040" cy="320040"/>
          </a:xfrm>
          <a:prstGeom prst="ellipse">
            <a:avLst/>
          </a:prstGeom>
          <a:solidFill>
            <a:srgbClr val="3B82F6"/>
          </a:solidFill>
          <a:ln/>
        </p:spPr>
      </p:sp>
      <p:sp>
        <p:nvSpPr>
          <p:cNvPr id="11" name="Text 9"/>
          <p:cNvSpPr/>
          <p:nvPr/>
        </p:nvSpPr>
        <p:spPr>
          <a:xfrm>
            <a:off x="5212080" y="141732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ViewCube &amp; Walkthrough</a:t>
            </a:r>
            <a:endParaRPr lang="en-US" sz="1200" dirty="0"/>
          </a:p>
        </p:txBody>
      </p:sp>
      <p:sp>
        <p:nvSpPr>
          <p:cNvPr id="12" name="Text 10"/>
          <p:cNvSpPr/>
          <p:nvPr/>
        </p:nvSpPr>
        <p:spPr>
          <a:xfrm>
            <a:off x="5212080" y="173736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Điều hướng trực quan, chế độ đi bộ</a:t>
            </a:r>
            <a:endParaRPr lang="en-US" sz="1000" dirty="0"/>
          </a:p>
        </p:txBody>
      </p:sp>
      <p:sp>
        <p:nvSpPr>
          <p:cNvPr id="13" name="Shape 11"/>
          <p:cNvSpPr/>
          <p:nvPr/>
        </p:nvSpPr>
        <p:spPr>
          <a:xfrm>
            <a:off x="365760" y="224028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4" name="Shape 12"/>
          <p:cNvSpPr/>
          <p:nvPr/>
        </p:nvSpPr>
        <p:spPr>
          <a:xfrm>
            <a:off x="502920" y="2423160"/>
            <a:ext cx="320040" cy="320040"/>
          </a:xfrm>
          <a:prstGeom prst="ellipse">
            <a:avLst/>
          </a:prstGeom>
          <a:solidFill>
            <a:srgbClr val="10B981"/>
          </a:solidFill>
          <a:ln/>
        </p:spPr>
      </p:sp>
      <p:sp>
        <p:nvSpPr>
          <p:cNvPr id="15" name="Text 13"/>
          <p:cNvSpPr/>
          <p:nvPr/>
        </p:nvSpPr>
        <p:spPr>
          <a:xfrm>
            <a:off x="914400" y="228600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Model Tree</a:t>
            </a:r>
            <a:endParaRPr lang="en-US" sz="1200" dirty="0"/>
          </a:p>
        </p:txBody>
      </p:sp>
      <p:sp>
        <p:nvSpPr>
          <p:cNvPr id="16" name="Text 14"/>
          <p:cNvSpPr/>
          <p:nvPr/>
        </p:nvSpPr>
        <p:spPr>
          <a:xfrm>
            <a:off x="914400" y="260604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Cây phân cấp cấu kiện, bật/tắt nhóm</a:t>
            </a:r>
            <a:endParaRPr lang="en-US" sz="1000" dirty="0"/>
          </a:p>
        </p:txBody>
      </p:sp>
      <p:sp>
        <p:nvSpPr>
          <p:cNvPr id="17" name="Shape 15"/>
          <p:cNvSpPr/>
          <p:nvPr/>
        </p:nvSpPr>
        <p:spPr>
          <a:xfrm>
            <a:off x="4663440" y="224028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8" name="Shape 16"/>
          <p:cNvSpPr/>
          <p:nvPr/>
        </p:nvSpPr>
        <p:spPr>
          <a:xfrm>
            <a:off x="4800600" y="2423160"/>
            <a:ext cx="320040" cy="320040"/>
          </a:xfrm>
          <a:prstGeom prst="ellipse">
            <a:avLst/>
          </a:prstGeom>
          <a:solidFill>
            <a:srgbClr val="F97316"/>
          </a:solidFill>
          <a:ln/>
        </p:spPr>
      </p:sp>
      <p:sp>
        <p:nvSpPr>
          <p:cNvPr id="19" name="Text 17"/>
          <p:cNvSpPr/>
          <p:nvPr/>
        </p:nvSpPr>
        <p:spPr>
          <a:xfrm>
            <a:off x="5212080" y="228600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Properties Panel</a:t>
            </a:r>
            <a:endParaRPr lang="en-US" sz="1200" dirty="0"/>
          </a:p>
        </p:txBody>
      </p:sp>
      <p:sp>
        <p:nvSpPr>
          <p:cNvPr id="20" name="Text 18"/>
          <p:cNvSpPr/>
          <p:nvPr/>
        </p:nvSpPr>
        <p:spPr>
          <a:xfrm>
            <a:off x="5212080" y="260604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Xem thuộc tính chi tiết cấu kiện</a:t>
            </a:r>
            <a:endParaRPr lang="en-US" sz="1000" dirty="0"/>
          </a:p>
        </p:txBody>
      </p:sp>
      <p:sp>
        <p:nvSpPr>
          <p:cNvPr id="21" name="Shape 19"/>
          <p:cNvSpPr/>
          <p:nvPr/>
        </p:nvSpPr>
        <p:spPr>
          <a:xfrm>
            <a:off x="365760" y="310896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2" name="Shape 20"/>
          <p:cNvSpPr/>
          <p:nvPr/>
        </p:nvSpPr>
        <p:spPr>
          <a:xfrm>
            <a:off x="502920" y="3291840"/>
            <a:ext cx="320040" cy="320040"/>
          </a:xfrm>
          <a:prstGeom prst="ellipse">
            <a:avLst/>
          </a:prstGeom>
          <a:solidFill>
            <a:srgbClr val="D4A017"/>
          </a:solidFill>
          <a:ln/>
        </p:spPr>
      </p:sp>
      <p:sp>
        <p:nvSpPr>
          <p:cNvPr id="23" name="Text 21"/>
          <p:cNvSpPr/>
          <p:nvPr/>
        </p:nvSpPr>
        <p:spPr>
          <a:xfrm>
            <a:off x="914400" y="315468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Section Plane</a:t>
            </a:r>
            <a:endParaRPr lang="en-US" sz="1200" dirty="0"/>
          </a:p>
        </p:txBody>
      </p:sp>
      <p:sp>
        <p:nvSpPr>
          <p:cNvPr id="24" name="Text 22"/>
          <p:cNvSpPr/>
          <p:nvPr/>
        </p:nvSpPr>
        <p:spPr>
          <a:xfrm>
            <a:off x="914400" y="347472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Cắt mặt cắt ngang/dọc mô hình</a:t>
            </a:r>
            <a:endParaRPr lang="en-US" sz="1000" dirty="0"/>
          </a:p>
        </p:txBody>
      </p:sp>
      <p:sp>
        <p:nvSpPr>
          <p:cNvPr id="25" name="Shape 23"/>
          <p:cNvSpPr/>
          <p:nvPr/>
        </p:nvSpPr>
        <p:spPr>
          <a:xfrm>
            <a:off x="4663440" y="310896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6" name="Shape 24"/>
          <p:cNvSpPr/>
          <p:nvPr/>
        </p:nvSpPr>
        <p:spPr>
          <a:xfrm>
            <a:off x="4800600" y="3291840"/>
            <a:ext cx="320040" cy="320040"/>
          </a:xfrm>
          <a:prstGeom prst="ellipse">
            <a:avLst/>
          </a:prstGeom>
          <a:solidFill>
            <a:srgbClr val="3B82F6"/>
          </a:solidFill>
          <a:ln/>
        </p:spPr>
      </p:sp>
      <p:sp>
        <p:nvSpPr>
          <p:cNvPr id="27" name="Text 25"/>
          <p:cNvSpPr/>
          <p:nvPr/>
        </p:nvSpPr>
        <p:spPr>
          <a:xfrm>
            <a:off x="5212080" y="315468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Measurement Tools</a:t>
            </a:r>
            <a:endParaRPr lang="en-US" sz="1200" dirty="0"/>
          </a:p>
        </p:txBody>
      </p:sp>
      <p:sp>
        <p:nvSpPr>
          <p:cNvPr id="28" name="Text 26"/>
          <p:cNvSpPr/>
          <p:nvPr/>
        </p:nvSpPr>
        <p:spPr>
          <a:xfrm>
            <a:off x="5212080" y="347472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Đo khoảng cách, diện tích, góc</a:t>
            </a:r>
            <a:endParaRPr lang="en-US" sz="1000" dirty="0"/>
          </a:p>
        </p:txBody>
      </p:sp>
      <p:sp>
        <p:nvSpPr>
          <p:cNvPr id="29" name="Shape 27"/>
          <p:cNvSpPr/>
          <p:nvPr/>
        </p:nvSpPr>
        <p:spPr>
          <a:xfrm>
            <a:off x="365760" y="397764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30" name="Shape 28"/>
          <p:cNvSpPr/>
          <p:nvPr/>
        </p:nvSpPr>
        <p:spPr>
          <a:xfrm>
            <a:off x="502920" y="4160520"/>
            <a:ext cx="320040" cy="320040"/>
          </a:xfrm>
          <a:prstGeom prst="ellipse">
            <a:avLst/>
          </a:prstGeom>
          <a:solidFill>
            <a:srgbClr val="10B981"/>
          </a:solidFill>
          <a:ln/>
        </p:spPr>
      </p:sp>
      <p:sp>
        <p:nvSpPr>
          <p:cNvPr id="31" name="Text 29"/>
          <p:cNvSpPr/>
          <p:nvPr/>
        </p:nvSpPr>
        <p:spPr>
          <a:xfrm>
            <a:off x="914400" y="402336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Facility Management</a:t>
            </a:r>
            <a:endParaRPr lang="en-US" sz="1200" dirty="0"/>
          </a:p>
        </p:txBody>
      </p:sp>
      <p:sp>
        <p:nvSpPr>
          <p:cNvPr id="32" name="Text 30"/>
          <p:cNvSpPr/>
          <p:nvPr/>
        </p:nvSpPr>
        <p:spPr>
          <a:xfrm>
            <a:off x="914400" y="434340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Quản lý tài sản theo vị trí BIM</a:t>
            </a:r>
            <a:endParaRPr lang="en-US" sz="1000" dirty="0"/>
          </a:p>
        </p:txBody>
      </p:sp>
      <p:sp>
        <p:nvSpPr>
          <p:cNvPr id="33" name="Shape 31"/>
          <p:cNvSpPr/>
          <p:nvPr/>
        </p:nvSpPr>
        <p:spPr>
          <a:xfrm>
            <a:off x="4663440" y="3977640"/>
            <a:ext cx="4114800" cy="731520"/>
          </a:xfrm>
          <a:prstGeom prst="roundRect">
            <a:avLst>
              <a:gd name="adj" fmla="val 15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34" name="Shape 32"/>
          <p:cNvSpPr/>
          <p:nvPr/>
        </p:nvSpPr>
        <p:spPr>
          <a:xfrm>
            <a:off x="4800600" y="4160520"/>
            <a:ext cx="320040" cy="320040"/>
          </a:xfrm>
          <a:prstGeom prst="ellipse">
            <a:avLst/>
          </a:prstGeom>
          <a:solidFill>
            <a:srgbClr val="F97316"/>
          </a:solidFill>
          <a:ln/>
        </p:spPr>
      </p:sp>
      <p:sp>
        <p:nvSpPr>
          <p:cNvPr id="35" name="Text 33"/>
          <p:cNvSpPr/>
          <p:nvPr/>
        </p:nvSpPr>
        <p:spPr>
          <a:xfrm>
            <a:off x="5212080" y="4023360"/>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Keyboard Shortcuts</a:t>
            </a:r>
            <a:endParaRPr lang="en-US" sz="1200" dirty="0"/>
          </a:p>
        </p:txBody>
      </p:sp>
      <p:sp>
        <p:nvSpPr>
          <p:cNvPr id="36" name="Text 34"/>
          <p:cNvSpPr/>
          <p:nvPr/>
        </p:nvSpPr>
        <p:spPr>
          <a:xfrm>
            <a:off x="5212080" y="4343400"/>
            <a:ext cx="338328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Phím tắt tối ưu hiệu suất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CÔNG NGHỆ &amp; KIẾN TRÚC</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Nền tảng web hiện đại — Không cần cài đặt, truy cập mọi lúc mọi nơi</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8412480" cy="777240"/>
          </a:xfrm>
          <a:prstGeom prst="roundRect">
            <a:avLst>
              <a:gd name="adj" fmla="val 14118"/>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Shape 4"/>
          <p:cNvSpPr/>
          <p:nvPr/>
        </p:nvSpPr>
        <p:spPr>
          <a:xfrm>
            <a:off x="365760" y="1371600"/>
            <a:ext cx="73152" cy="777240"/>
          </a:xfrm>
          <a:prstGeom prst="rect">
            <a:avLst/>
          </a:prstGeom>
          <a:solidFill>
            <a:srgbClr val="3B82F6"/>
          </a:solidFill>
          <a:ln/>
        </p:spPr>
      </p:sp>
      <p:sp>
        <p:nvSpPr>
          <p:cNvPr id="7" name="Text 5"/>
          <p:cNvSpPr/>
          <p:nvPr/>
        </p:nvSpPr>
        <p:spPr>
          <a:xfrm>
            <a:off x="640080" y="1371600"/>
            <a:ext cx="1463040" cy="777240"/>
          </a:xfrm>
          <a:prstGeom prst="rect">
            <a:avLst/>
          </a:prstGeom>
          <a:noFill/>
          <a:ln/>
        </p:spPr>
        <p:txBody>
          <a:bodyPr wrap="square" rtlCol="0" anchor="ctr"/>
          <a:lstStyle/>
          <a:p>
            <a:pPr indent="0" marL="0">
              <a:buNone/>
            </a:pPr>
            <a:r>
              <a:rPr lang="en-US" sz="1100" b="1" dirty="0">
                <a:solidFill>
                  <a:srgbClr val="3B82F6"/>
                </a:solidFill>
                <a:latin typeface="Arial" pitchFamily="34" charset="0"/>
                <a:ea typeface="Arial" pitchFamily="34" charset="-122"/>
                <a:cs typeface="Arial" pitchFamily="34" charset="-120"/>
              </a:rPr>
              <a:t>FRONTEND</a:t>
            </a:r>
            <a:endParaRPr lang="en-US" sz="1100" dirty="0"/>
          </a:p>
        </p:txBody>
      </p:sp>
      <p:sp>
        <p:nvSpPr>
          <p:cNvPr id="8" name="Text 6"/>
          <p:cNvSpPr/>
          <p:nvPr/>
        </p:nvSpPr>
        <p:spPr>
          <a:xfrm>
            <a:off x="2194560" y="1417320"/>
            <a:ext cx="41148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React 18 + TypeScript + Vite</a:t>
            </a:r>
            <a:endParaRPr lang="en-US" sz="1400" dirty="0"/>
          </a:p>
        </p:txBody>
      </p:sp>
      <p:sp>
        <p:nvSpPr>
          <p:cNvPr id="9" name="Text 7"/>
          <p:cNvSpPr/>
          <p:nvPr/>
        </p:nvSpPr>
        <p:spPr>
          <a:xfrm>
            <a:off x="2194560" y="1783080"/>
            <a:ext cx="411480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SPA, Code-splitting, Lazy loading</a:t>
            </a:r>
            <a:endParaRPr lang="en-US" sz="1000" dirty="0"/>
          </a:p>
        </p:txBody>
      </p:sp>
      <p:sp>
        <p:nvSpPr>
          <p:cNvPr id="10" name="Shape 8"/>
          <p:cNvSpPr/>
          <p:nvPr/>
        </p:nvSpPr>
        <p:spPr>
          <a:xfrm>
            <a:off x="365760" y="2286000"/>
            <a:ext cx="8412480" cy="777240"/>
          </a:xfrm>
          <a:prstGeom prst="roundRect">
            <a:avLst>
              <a:gd name="adj" fmla="val 14118"/>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1" name="Shape 9"/>
          <p:cNvSpPr/>
          <p:nvPr/>
        </p:nvSpPr>
        <p:spPr>
          <a:xfrm>
            <a:off x="365760" y="2286000"/>
            <a:ext cx="73152" cy="777240"/>
          </a:xfrm>
          <a:prstGeom prst="rect">
            <a:avLst/>
          </a:prstGeom>
          <a:solidFill>
            <a:srgbClr val="D4A017"/>
          </a:solidFill>
          <a:ln/>
        </p:spPr>
      </p:sp>
      <p:sp>
        <p:nvSpPr>
          <p:cNvPr id="12" name="Text 10"/>
          <p:cNvSpPr/>
          <p:nvPr/>
        </p:nvSpPr>
        <p:spPr>
          <a:xfrm>
            <a:off x="640080" y="2286000"/>
            <a:ext cx="1463040" cy="777240"/>
          </a:xfrm>
          <a:prstGeom prst="rect">
            <a:avLst/>
          </a:prstGeom>
          <a:noFill/>
          <a:ln/>
        </p:spPr>
        <p:txBody>
          <a:bodyPr wrap="square" rtlCol="0" anchor="ctr"/>
          <a:lstStyle/>
          <a:p>
            <a:pPr indent="0" marL="0">
              <a:buNone/>
            </a:pPr>
            <a:r>
              <a:rPr lang="en-US" sz="1100" b="1" dirty="0">
                <a:solidFill>
                  <a:srgbClr val="D4A017"/>
                </a:solidFill>
                <a:latin typeface="Arial" pitchFamily="34" charset="0"/>
                <a:ea typeface="Arial" pitchFamily="34" charset="-122"/>
                <a:cs typeface="Arial" pitchFamily="34" charset="-120"/>
              </a:rPr>
              <a:t>UI / UX</a:t>
            </a:r>
            <a:endParaRPr lang="en-US" sz="1100" dirty="0"/>
          </a:p>
        </p:txBody>
      </p:sp>
      <p:sp>
        <p:nvSpPr>
          <p:cNvPr id="13" name="Text 11"/>
          <p:cNvSpPr/>
          <p:nvPr/>
        </p:nvSpPr>
        <p:spPr>
          <a:xfrm>
            <a:off x="2194560" y="2331720"/>
            <a:ext cx="41148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TailwindCSS + Recharts + Leaflet</a:t>
            </a:r>
            <a:endParaRPr lang="en-US" sz="1400" dirty="0"/>
          </a:p>
        </p:txBody>
      </p:sp>
      <p:sp>
        <p:nvSpPr>
          <p:cNvPr id="14" name="Text 12"/>
          <p:cNvSpPr/>
          <p:nvPr/>
        </p:nvSpPr>
        <p:spPr>
          <a:xfrm>
            <a:off x="2194560" y="2697480"/>
            <a:ext cx="411480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Responsive, Dark/Light mode, Charts, Maps</a:t>
            </a:r>
            <a:endParaRPr lang="en-US" sz="1000" dirty="0"/>
          </a:p>
        </p:txBody>
      </p:sp>
      <p:sp>
        <p:nvSpPr>
          <p:cNvPr id="15" name="Shape 13"/>
          <p:cNvSpPr/>
          <p:nvPr/>
        </p:nvSpPr>
        <p:spPr>
          <a:xfrm>
            <a:off x="365760" y="3200400"/>
            <a:ext cx="8412480" cy="777240"/>
          </a:xfrm>
          <a:prstGeom prst="roundRect">
            <a:avLst>
              <a:gd name="adj" fmla="val 14118"/>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6" name="Shape 14"/>
          <p:cNvSpPr/>
          <p:nvPr/>
        </p:nvSpPr>
        <p:spPr>
          <a:xfrm>
            <a:off x="365760" y="3200400"/>
            <a:ext cx="73152" cy="777240"/>
          </a:xfrm>
          <a:prstGeom prst="rect">
            <a:avLst/>
          </a:prstGeom>
          <a:solidFill>
            <a:srgbClr val="10B981"/>
          </a:solidFill>
          <a:ln/>
        </p:spPr>
      </p:sp>
      <p:sp>
        <p:nvSpPr>
          <p:cNvPr id="17" name="Text 15"/>
          <p:cNvSpPr/>
          <p:nvPr/>
        </p:nvSpPr>
        <p:spPr>
          <a:xfrm>
            <a:off x="640080" y="3200400"/>
            <a:ext cx="1463040" cy="77724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BACKEND</a:t>
            </a:r>
            <a:endParaRPr lang="en-US" sz="1100" dirty="0"/>
          </a:p>
        </p:txBody>
      </p:sp>
      <p:sp>
        <p:nvSpPr>
          <p:cNvPr id="18" name="Text 16"/>
          <p:cNvSpPr/>
          <p:nvPr/>
        </p:nvSpPr>
        <p:spPr>
          <a:xfrm>
            <a:off x="2194560" y="3246120"/>
            <a:ext cx="41148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Supabase (PostgreSQL + Auth)</a:t>
            </a:r>
            <a:endParaRPr lang="en-US" sz="1400" dirty="0"/>
          </a:p>
        </p:txBody>
      </p:sp>
      <p:sp>
        <p:nvSpPr>
          <p:cNvPr id="19" name="Text 17"/>
          <p:cNvSpPr/>
          <p:nvPr/>
        </p:nvSpPr>
        <p:spPr>
          <a:xfrm>
            <a:off x="2194560" y="3611880"/>
            <a:ext cx="411480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RESTful API, Realtime, Storage, RLS</a:t>
            </a:r>
            <a:endParaRPr lang="en-US" sz="1000" dirty="0"/>
          </a:p>
        </p:txBody>
      </p:sp>
      <p:sp>
        <p:nvSpPr>
          <p:cNvPr id="20" name="Shape 18"/>
          <p:cNvSpPr/>
          <p:nvPr/>
        </p:nvSpPr>
        <p:spPr>
          <a:xfrm>
            <a:off x="365760" y="4114800"/>
            <a:ext cx="8412480" cy="777240"/>
          </a:xfrm>
          <a:prstGeom prst="roundRect">
            <a:avLst>
              <a:gd name="adj" fmla="val 14118"/>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1" name="Shape 19"/>
          <p:cNvSpPr/>
          <p:nvPr/>
        </p:nvSpPr>
        <p:spPr>
          <a:xfrm>
            <a:off x="365760" y="4114800"/>
            <a:ext cx="73152" cy="777240"/>
          </a:xfrm>
          <a:prstGeom prst="rect">
            <a:avLst/>
          </a:prstGeom>
          <a:solidFill>
            <a:srgbClr val="F97316"/>
          </a:solidFill>
          <a:ln/>
        </p:spPr>
      </p:sp>
      <p:sp>
        <p:nvSpPr>
          <p:cNvPr id="22" name="Text 20"/>
          <p:cNvSpPr/>
          <p:nvPr/>
        </p:nvSpPr>
        <p:spPr>
          <a:xfrm>
            <a:off x="640080" y="4114800"/>
            <a:ext cx="1463040" cy="777240"/>
          </a:xfrm>
          <a:prstGeom prst="rect">
            <a:avLst/>
          </a:prstGeom>
          <a:noFill/>
          <a:ln/>
        </p:spPr>
        <p:txBody>
          <a:bodyPr wrap="square" rtlCol="0" anchor="ctr"/>
          <a:lstStyle/>
          <a:p>
            <a:pPr indent="0" marL="0">
              <a:buNone/>
            </a:pPr>
            <a:r>
              <a:rPr lang="en-US" sz="1100" b="1" dirty="0">
                <a:solidFill>
                  <a:srgbClr val="F97316"/>
                </a:solidFill>
                <a:latin typeface="Arial" pitchFamily="34" charset="0"/>
                <a:ea typeface="Arial" pitchFamily="34" charset="-122"/>
                <a:cs typeface="Arial" pitchFamily="34" charset="-120"/>
              </a:rPr>
              <a:t>AI / BIM</a:t>
            </a:r>
            <a:endParaRPr lang="en-US" sz="1100" dirty="0"/>
          </a:p>
        </p:txBody>
      </p:sp>
      <p:sp>
        <p:nvSpPr>
          <p:cNvPr id="23" name="Text 21"/>
          <p:cNvSpPr/>
          <p:nvPr/>
        </p:nvSpPr>
        <p:spPr>
          <a:xfrm>
            <a:off x="2194560" y="4160520"/>
            <a:ext cx="41148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Gemini API + Three.js + IFC.js</a:t>
            </a:r>
            <a:endParaRPr lang="en-US" sz="1400" dirty="0"/>
          </a:p>
        </p:txBody>
      </p:sp>
      <p:sp>
        <p:nvSpPr>
          <p:cNvPr id="24" name="Text 22"/>
          <p:cNvSpPr/>
          <p:nvPr/>
        </p:nvSpPr>
        <p:spPr>
          <a:xfrm>
            <a:off x="2194560" y="4526280"/>
            <a:ext cx="4114800" cy="274320"/>
          </a:xfrm>
          <a:prstGeom prst="rect">
            <a:avLst/>
          </a:prstGeom>
          <a:noFill/>
          <a:ln/>
        </p:spPr>
        <p:txBody>
          <a:bodyPr wrap="square" rtlCol="0" anchor="t"/>
          <a:lstStyle/>
          <a:p>
            <a:pPr indent="0" marL="0">
              <a:buNone/>
            </a:pPr>
            <a:r>
              <a:rPr lang="en-US" sz="1000" dirty="0">
                <a:solidFill>
                  <a:srgbClr val="8899AA"/>
                </a:solidFill>
                <a:latin typeface="Arial" pitchFamily="34" charset="0"/>
                <a:ea typeface="Arial" pitchFamily="34" charset="-122"/>
                <a:cs typeface="Arial" pitchFamily="34" charset="-120"/>
              </a:rPr>
              <a:t>AI Summary, Risk Detection, 3D BIM Viewer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BẢO MẬT &amp; PHÂN QUYỀN</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6 lớp bảo mật — chỉ người có quyền mới truy cập được dữ liệu tương ứng</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365760" y="137160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457200" y="146304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7" name="Text 5"/>
          <p:cNvSpPr/>
          <p:nvPr/>
        </p:nvSpPr>
        <p:spPr>
          <a:xfrm>
            <a:off x="914400" y="1417320"/>
            <a:ext cx="3383280" cy="32004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Authentication</a:t>
            </a:r>
            <a:endParaRPr lang="en-US" sz="1300" dirty="0"/>
          </a:p>
        </p:txBody>
      </p:sp>
      <p:sp>
        <p:nvSpPr>
          <p:cNvPr id="8" name="Text 6"/>
          <p:cNvSpPr/>
          <p:nvPr/>
        </p:nvSpPr>
        <p:spPr>
          <a:xfrm>
            <a:off x="914400" y="175564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Đăng nhập email/password qua Supabase Auth, phiên đăng nhập an toàn</a:t>
            </a:r>
            <a:endParaRPr lang="en-US" sz="1000" dirty="0"/>
          </a:p>
        </p:txBody>
      </p:sp>
      <p:sp>
        <p:nvSpPr>
          <p:cNvPr id="9" name="Shape 7"/>
          <p:cNvSpPr/>
          <p:nvPr/>
        </p:nvSpPr>
        <p:spPr>
          <a:xfrm>
            <a:off x="4663440" y="137160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0" name="Text 8"/>
          <p:cNvSpPr/>
          <p:nvPr/>
        </p:nvSpPr>
        <p:spPr>
          <a:xfrm>
            <a:off x="4754880" y="146304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1" name="Text 9"/>
          <p:cNvSpPr/>
          <p:nvPr/>
        </p:nvSpPr>
        <p:spPr>
          <a:xfrm>
            <a:off x="5212080" y="1417320"/>
            <a:ext cx="3383280"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RBAC</a:t>
            </a:r>
            <a:endParaRPr lang="en-US" sz="1300" dirty="0"/>
          </a:p>
        </p:txBody>
      </p:sp>
      <p:sp>
        <p:nvSpPr>
          <p:cNvPr id="12" name="Text 10"/>
          <p:cNvSpPr/>
          <p:nvPr/>
        </p:nvSpPr>
        <p:spPr>
          <a:xfrm>
            <a:off x="5212080" y="175564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Phân quyền theo Vai trò × Tài nguyên × Hành động (xem/sửa/xóa/duyệt)</a:t>
            </a:r>
            <a:endParaRPr lang="en-US" sz="1000" dirty="0"/>
          </a:p>
        </p:txBody>
      </p:sp>
      <p:sp>
        <p:nvSpPr>
          <p:cNvPr id="13" name="Shape 11"/>
          <p:cNvSpPr/>
          <p:nvPr/>
        </p:nvSpPr>
        <p:spPr>
          <a:xfrm>
            <a:off x="365760" y="246888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4" name="Text 12"/>
          <p:cNvSpPr/>
          <p:nvPr/>
        </p:nvSpPr>
        <p:spPr>
          <a:xfrm>
            <a:off x="457200" y="25603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5" name="Text 13"/>
          <p:cNvSpPr/>
          <p:nvPr/>
        </p:nvSpPr>
        <p:spPr>
          <a:xfrm>
            <a:off x="914400" y="2514600"/>
            <a:ext cx="338328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Row Level Security</a:t>
            </a:r>
            <a:endParaRPr lang="en-US" sz="1300" dirty="0"/>
          </a:p>
        </p:txBody>
      </p:sp>
      <p:sp>
        <p:nvSpPr>
          <p:cNvPr id="16" name="Text 14"/>
          <p:cNvSpPr/>
          <p:nvPr/>
        </p:nvSpPr>
        <p:spPr>
          <a:xfrm>
            <a:off x="914400" y="285292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PostgreSQL RLS — mỗi truy vấn tự động lọc theo quyền người dùng</a:t>
            </a:r>
            <a:endParaRPr lang="en-US" sz="1000" dirty="0"/>
          </a:p>
        </p:txBody>
      </p:sp>
      <p:sp>
        <p:nvSpPr>
          <p:cNvPr id="17" name="Shape 15"/>
          <p:cNvSpPr/>
          <p:nvPr/>
        </p:nvSpPr>
        <p:spPr>
          <a:xfrm>
            <a:off x="4663440" y="246888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8" name="Text 16"/>
          <p:cNvSpPr/>
          <p:nvPr/>
        </p:nvSpPr>
        <p:spPr>
          <a:xfrm>
            <a:off x="4754880" y="25603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9" name="Text 17"/>
          <p:cNvSpPr/>
          <p:nvPr/>
        </p:nvSpPr>
        <p:spPr>
          <a:xfrm>
            <a:off x="5212080" y="2514600"/>
            <a:ext cx="3383280" cy="320040"/>
          </a:xfrm>
          <a:prstGeom prst="rect">
            <a:avLst/>
          </a:prstGeom>
          <a:noFill/>
          <a:ln/>
        </p:spPr>
        <p:txBody>
          <a:bodyPr wrap="square" rtlCol="0" anchor="ctr"/>
          <a:lstStyle/>
          <a:p>
            <a:pPr indent="0" marL="0">
              <a:buNone/>
            </a:pPr>
            <a:r>
              <a:rPr lang="en-US" sz="1300" b="1" dirty="0">
                <a:solidFill>
                  <a:srgbClr val="F97316"/>
                </a:solidFill>
                <a:latin typeface="Arial" pitchFamily="34" charset="0"/>
                <a:ea typeface="Arial" pitchFamily="34" charset="-122"/>
                <a:cs typeface="Arial" pitchFamily="34" charset="-120"/>
              </a:rPr>
              <a:t>Audit Trail</a:t>
            </a:r>
            <a:endParaRPr lang="en-US" sz="1300" dirty="0"/>
          </a:p>
        </p:txBody>
      </p:sp>
      <p:sp>
        <p:nvSpPr>
          <p:cNvPr id="20" name="Text 18"/>
          <p:cNvSpPr/>
          <p:nvPr/>
        </p:nvSpPr>
        <p:spPr>
          <a:xfrm>
            <a:off x="5212080" y="285292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Ghi nhận mọi thao tác: ai làm gì, lúc nào — không thể chối bỏ</a:t>
            </a:r>
            <a:endParaRPr lang="en-US" sz="1000" dirty="0"/>
          </a:p>
        </p:txBody>
      </p:sp>
      <p:sp>
        <p:nvSpPr>
          <p:cNvPr id="21" name="Shape 19"/>
          <p:cNvSpPr/>
          <p:nvPr/>
        </p:nvSpPr>
        <p:spPr>
          <a:xfrm>
            <a:off x="365760" y="356616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2" name="Text 20"/>
          <p:cNvSpPr/>
          <p:nvPr/>
        </p:nvSpPr>
        <p:spPr>
          <a:xfrm>
            <a:off x="457200" y="365760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3" name="Text 21"/>
          <p:cNvSpPr/>
          <p:nvPr/>
        </p:nvSpPr>
        <p:spPr>
          <a:xfrm>
            <a:off x="914400" y="3611880"/>
            <a:ext cx="3383280" cy="320040"/>
          </a:xfrm>
          <a:prstGeom prst="rect">
            <a:avLst/>
          </a:prstGeom>
          <a:noFill/>
          <a:ln/>
        </p:spPr>
        <p:txBody>
          <a:bodyPr wrap="square" rtlCol="0" anchor="ctr"/>
          <a:lstStyle/>
          <a:p>
            <a:pPr indent="0" marL="0">
              <a:buNone/>
            </a:pPr>
            <a:r>
              <a:rPr lang="en-US" sz="1300" b="1" dirty="0">
                <a:solidFill>
                  <a:srgbClr val="D4A017"/>
                </a:solidFill>
                <a:latin typeface="Arial" pitchFamily="34" charset="0"/>
                <a:ea typeface="Arial" pitchFamily="34" charset="-122"/>
                <a:cs typeface="Arial" pitchFamily="34" charset="-120"/>
              </a:rPr>
              <a:t>HTTPS/TLS</a:t>
            </a:r>
            <a:endParaRPr lang="en-US" sz="1300" dirty="0"/>
          </a:p>
        </p:txBody>
      </p:sp>
      <p:sp>
        <p:nvSpPr>
          <p:cNvPr id="24" name="Text 22"/>
          <p:cNvSpPr/>
          <p:nvPr/>
        </p:nvSpPr>
        <p:spPr>
          <a:xfrm>
            <a:off x="914400" y="395020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Toàn bộ kết nối được mã hóa, chứng chỉ SSL tự động</a:t>
            </a:r>
            <a:endParaRPr lang="en-US" sz="1000" dirty="0"/>
          </a:p>
        </p:txBody>
      </p:sp>
      <p:sp>
        <p:nvSpPr>
          <p:cNvPr id="25" name="Shape 23"/>
          <p:cNvSpPr/>
          <p:nvPr/>
        </p:nvSpPr>
        <p:spPr>
          <a:xfrm>
            <a:off x="4663440" y="3566160"/>
            <a:ext cx="4114800" cy="960120"/>
          </a:xfrm>
          <a:prstGeom prst="roundRect">
            <a:avLst>
              <a:gd name="adj" fmla="val 11429"/>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6" name="Text 24"/>
          <p:cNvSpPr/>
          <p:nvPr/>
        </p:nvSpPr>
        <p:spPr>
          <a:xfrm>
            <a:off x="4754880" y="365760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7" name="Text 25"/>
          <p:cNvSpPr/>
          <p:nvPr/>
        </p:nvSpPr>
        <p:spPr>
          <a:xfrm>
            <a:off x="5212080" y="3611880"/>
            <a:ext cx="3383280" cy="320040"/>
          </a:xfrm>
          <a:prstGeom prst="rect">
            <a:avLst/>
          </a:prstGeom>
          <a:noFill/>
          <a:ln/>
        </p:spPr>
        <p:txBody>
          <a:bodyPr wrap="square" rtlCol="0" anchor="ctr"/>
          <a:lstStyle/>
          <a:p>
            <a:pPr indent="0" marL="0">
              <a:buNone/>
            </a:pPr>
            <a:r>
              <a:rPr lang="en-US" sz="1300" b="1" dirty="0">
                <a:solidFill>
                  <a:srgbClr val="3B82F6"/>
                </a:solidFill>
                <a:latin typeface="Arial" pitchFamily="34" charset="0"/>
                <a:ea typeface="Arial" pitchFamily="34" charset="-122"/>
                <a:cs typeface="Arial" pitchFamily="34" charset="-120"/>
              </a:rPr>
              <a:t>Impersonation</a:t>
            </a:r>
            <a:endParaRPr lang="en-US" sz="1300" dirty="0"/>
          </a:p>
        </p:txBody>
      </p:sp>
      <p:sp>
        <p:nvSpPr>
          <p:cNvPr id="28" name="Text 26"/>
          <p:cNvSpPr/>
          <p:nvPr/>
        </p:nvSpPr>
        <p:spPr>
          <a:xfrm>
            <a:off x="5212080" y="3950208"/>
            <a:ext cx="3383280" cy="457200"/>
          </a:xfrm>
          <a:prstGeom prst="rect">
            <a:avLst/>
          </a:prstGeom>
          <a:noFill/>
          <a:ln/>
        </p:spPr>
        <p:txBody>
          <a:bodyPr wrap="square" rtlCol="0" anchor="t"/>
          <a:lstStyle/>
          <a:p>
            <a:pPr indent="0" marL="0">
              <a:lnSpc>
                <a:spcPct val="120000"/>
              </a:lnSpc>
              <a:buNone/>
            </a:pPr>
            <a:r>
              <a:rPr lang="en-US" sz="1000" dirty="0">
                <a:solidFill>
                  <a:srgbClr val="8899AA"/>
                </a:solidFill>
                <a:latin typeface="Arial" pitchFamily="34" charset="0"/>
                <a:ea typeface="Arial" pitchFamily="34" charset="-122"/>
                <a:cs typeface="Arial" pitchFamily="34" charset="-120"/>
              </a:rPr>
              <a:t>Admin xem hệ thống dưới góc nhìn người dùng khác để hỗ trợ</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LỢI ÍCH &amp; GIÁ TRỊ</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Giá trị mang lại cho Ban QLDA ĐTXD DDCN</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274320" y="1371600"/>
            <a:ext cx="2011680" cy="256032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6" name="Text 4"/>
          <p:cNvSpPr/>
          <p:nvPr/>
        </p:nvSpPr>
        <p:spPr>
          <a:xfrm>
            <a:off x="274320" y="1554480"/>
            <a:ext cx="2011680" cy="640080"/>
          </a:xfrm>
          <a:prstGeom prst="rect">
            <a:avLst/>
          </a:prstGeom>
          <a:noFill/>
          <a:ln/>
        </p:spPr>
        <p:txBody>
          <a:bodyPr wrap="square" rtlCol="0" anchor="ctr"/>
          <a:lstStyle/>
          <a:p>
            <a:pPr algn="ctr" indent="0" marL="0">
              <a:buNone/>
            </a:pPr>
            <a:r>
              <a:rPr lang="en-US" sz="3600" b="1" dirty="0">
                <a:solidFill>
                  <a:srgbClr val="D4A017"/>
                </a:solidFill>
                <a:latin typeface="Arial" pitchFamily="34" charset="0"/>
                <a:ea typeface="Arial" pitchFamily="34" charset="-122"/>
                <a:cs typeface="Arial" pitchFamily="34" charset="-120"/>
              </a:rPr>
              <a:t>80%</a:t>
            </a:r>
            <a:endParaRPr lang="en-US" sz="3600" dirty="0"/>
          </a:p>
        </p:txBody>
      </p:sp>
      <p:sp>
        <p:nvSpPr>
          <p:cNvPr id="7" name="Text 5"/>
          <p:cNvSpPr/>
          <p:nvPr/>
        </p:nvSpPr>
        <p:spPr>
          <a:xfrm>
            <a:off x="274320" y="2240280"/>
            <a:ext cx="2011680" cy="54864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Giảm thời gian</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lập báo cáo</a:t>
            </a:r>
            <a:endParaRPr lang="en-US" sz="1200" dirty="0"/>
          </a:p>
        </p:txBody>
      </p:sp>
      <p:sp>
        <p:nvSpPr>
          <p:cNvPr id="8" name="Shape 6"/>
          <p:cNvSpPr/>
          <p:nvPr/>
        </p:nvSpPr>
        <p:spPr>
          <a:xfrm>
            <a:off x="822960" y="2834640"/>
            <a:ext cx="914400" cy="27432"/>
          </a:xfrm>
          <a:prstGeom prst="rect">
            <a:avLst/>
          </a:prstGeom>
          <a:solidFill>
            <a:srgbClr val="D4A017"/>
          </a:solidFill>
          <a:ln/>
        </p:spPr>
      </p:sp>
      <p:sp>
        <p:nvSpPr>
          <p:cNvPr id="9" name="Text 7"/>
          <p:cNvSpPr/>
          <p:nvPr/>
        </p:nvSpPr>
        <p:spPr>
          <a:xfrm>
            <a:off x="365760" y="2926080"/>
            <a:ext cx="1828800" cy="731520"/>
          </a:xfrm>
          <a:prstGeom prst="rect">
            <a:avLst/>
          </a:prstGeom>
          <a:noFill/>
          <a:ln/>
        </p:spPr>
        <p:txBody>
          <a:bodyPr wrap="square" rtlCol="0" anchor="t"/>
          <a:lstStyle/>
          <a:p>
            <a:pPr algn="ctr" indent="0" marL="0">
              <a:lnSpc>
                <a:spcPct val="130000"/>
              </a:lnSpc>
              <a:buNone/>
            </a:pPr>
            <a:r>
              <a:rPr lang="en-US" sz="1000" dirty="0">
                <a:solidFill>
                  <a:srgbClr val="8899AA"/>
                </a:solidFill>
                <a:latin typeface="Arial" pitchFamily="34" charset="0"/>
                <a:ea typeface="Arial" pitchFamily="34" charset="-122"/>
                <a:cs typeface="Arial" pitchFamily="34" charset="-120"/>
              </a:rPr>
              <a:t>Tự động hóa biểu mẫu TT24, Luật ĐTC</a:t>
            </a:r>
            <a:endParaRPr lang="en-US" sz="1000" dirty="0"/>
          </a:p>
        </p:txBody>
      </p:sp>
      <p:sp>
        <p:nvSpPr>
          <p:cNvPr id="10" name="Shape 8"/>
          <p:cNvSpPr/>
          <p:nvPr/>
        </p:nvSpPr>
        <p:spPr>
          <a:xfrm>
            <a:off x="2468880" y="1371600"/>
            <a:ext cx="2011680" cy="256032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1" name="Text 9"/>
          <p:cNvSpPr/>
          <p:nvPr/>
        </p:nvSpPr>
        <p:spPr>
          <a:xfrm>
            <a:off x="2468880" y="1554480"/>
            <a:ext cx="2011680" cy="640080"/>
          </a:xfrm>
          <a:prstGeom prst="rect">
            <a:avLst/>
          </a:prstGeom>
          <a:noFill/>
          <a:ln/>
        </p:spPr>
        <p:txBody>
          <a:bodyPr wrap="square" rtlCol="0" anchor="ctr"/>
          <a:lstStyle/>
          <a:p>
            <a:pPr algn="ctr" indent="0" marL="0">
              <a:buNone/>
            </a:pPr>
            <a:r>
              <a:rPr lang="en-US" sz="3600" b="1" dirty="0">
                <a:solidFill>
                  <a:srgbClr val="10B981"/>
                </a:solidFill>
                <a:latin typeface="Arial" pitchFamily="34" charset="0"/>
                <a:ea typeface="Arial" pitchFamily="34" charset="-122"/>
                <a:cs typeface="Arial" pitchFamily="34" charset="-120"/>
              </a:rPr>
              <a:t>100%</a:t>
            </a:r>
            <a:endParaRPr lang="en-US" sz="3600" dirty="0"/>
          </a:p>
        </p:txBody>
      </p:sp>
      <p:sp>
        <p:nvSpPr>
          <p:cNvPr id="12" name="Text 10"/>
          <p:cNvSpPr/>
          <p:nvPr/>
        </p:nvSpPr>
        <p:spPr>
          <a:xfrm>
            <a:off x="2468880" y="2240280"/>
            <a:ext cx="2011680" cy="54864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Minh bạch</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tiến độ</a:t>
            </a:r>
            <a:endParaRPr lang="en-US" sz="1200" dirty="0"/>
          </a:p>
        </p:txBody>
      </p:sp>
      <p:sp>
        <p:nvSpPr>
          <p:cNvPr id="13" name="Shape 11"/>
          <p:cNvSpPr/>
          <p:nvPr/>
        </p:nvSpPr>
        <p:spPr>
          <a:xfrm>
            <a:off x="3017520" y="2834640"/>
            <a:ext cx="914400" cy="27432"/>
          </a:xfrm>
          <a:prstGeom prst="rect">
            <a:avLst/>
          </a:prstGeom>
          <a:solidFill>
            <a:srgbClr val="10B981"/>
          </a:solidFill>
          <a:ln/>
        </p:spPr>
      </p:sp>
      <p:sp>
        <p:nvSpPr>
          <p:cNvPr id="14" name="Text 12"/>
          <p:cNvSpPr/>
          <p:nvPr/>
        </p:nvSpPr>
        <p:spPr>
          <a:xfrm>
            <a:off x="2560320" y="2926080"/>
            <a:ext cx="1828800" cy="731520"/>
          </a:xfrm>
          <a:prstGeom prst="rect">
            <a:avLst/>
          </a:prstGeom>
          <a:noFill/>
          <a:ln/>
        </p:spPr>
        <p:txBody>
          <a:bodyPr wrap="square" rtlCol="0" anchor="t"/>
          <a:lstStyle/>
          <a:p>
            <a:pPr algn="ctr" indent="0" marL="0">
              <a:lnSpc>
                <a:spcPct val="130000"/>
              </a:lnSpc>
              <a:buNone/>
            </a:pPr>
            <a:r>
              <a:rPr lang="en-US" sz="1000" dirty="0">
                <a:solidFill>
                  <a:srgbClr val="8899AA"/>
                </a:solidFill>
                <a:latin typeface="Arial" pitchFamily="34" charset="0"/>
                <a:ea typeface="Arial" pitchFamily="34" charset="-122"/>
                <a:cs typeface="Arial" pitchFamily="34" charset="-120"/>
              </a:rPr>
              <a:t>Realtime dashboard, bản đồ, cảnh báo</a:t>
            </a:r>
            <a:endParaRPr lang="en-US" sz="1000" dirty="0"/>
          </a:p>
        </p:txBody>
      </p:sp>
      <p:sp>
        <p:nvSpPr>
          <p:cNvPr id="15" name="Shape 13"/>
          <p:cNvSpPr/>
          <p:nvPr/>
        </p:nvSpPr>
        <p:spPr>
          <a:xfrm>
            <a:off x="4663440" y="1371600"/>
            <a:ext cx="2011680" cy="256032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6" name="Text 14"/>
          <p:cNvSpPr/>
          <p:nvPr/>
        </p:nvSpPr>
        <p:spPr>
          <a:xfrm>
            <a:off x="4663440" y="1554480"/>
            <a:ext cx="2011680" cy="640080"/>
          </a:xfrm>
          <a:prstGeom prst="rect">
            <a:avLst/>
          </a:prstGeom>
          <a:noFill/>
          <a:ln/>
        </p:spPr>
        <p:txBody>
          <a:bodyPr wrap="square" rtlCol="0" anchor="ctr"/>
          <a:lstStyle/>
          <a:p>
            <a:pPr algn="ctr" indent="0" marL="0">
              <a:buNone/>
            </a:pPr>
            <a:r>
              <a:rPr lang="en-US" sz="3600" b="1" dirty="0">
                <a:solidFill>
                  <a:srgbClr val="3B82F6"/>
                </a:solidFill>
                <a:latin typeface="Arial" pitchFamily="34" charset="0"/>
                <a:ea typeface="Arial" pitchFamily="34" charset="-122"/>
                <a:cs typeface="Arial" pitchFamily="34" charset="-120"/>
              </a:rPr>
              <a:t>5×</a:t>
            </a:r>
            <a:endParaRPr lang="en-US" sz="3600" dirty="0"/>
          </a:p>
        </p:txBody>
      </p:sp>
      <p:sp>
        <p:nvSpPr>
          <p:cNvPr id="17" name="Text 15"/>
          <p:cNvSpPr/>
          <p:nvPr/>
        </p:nvSpPr>
        <p:spPr>
          <a:xfrm>
            <a:off x="4663440" y="2240280"/>
            <a:ext cx="2011680" cy="54864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Tốc độ</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tra cứu</a:t>
            </a:r>
            <a:endParaRPr lang="en-US" sz="1200" dirty="0"/>
          </a:p>
        </p:txBody>
      </p:sp>
      <p:sp>
        <p:nvSpPr>
          <p:cNvPr id="18" name="Shape 16"/>
          <p:cNvSpPr/>
          <p:nvPr/>
        </p:nvSpPr>
        <p:spPr>
          <a:xfrm>
            <a:off x="5212080" y="2834640"/>
            <a:ext cx="914400" cy="27432"/>
          </a:xfrm>
          <a:prstGeom prst="rect">
            <a:avLst/>
          </a:prstGeom>
          <a:solidFill>
            <a:srgbClr val="3B82F6"/>
          </a:solidFill>
          <a:ln/>
        </p:spPr>
      </p:sp>
      <p:sp>
        <p:nvSpPr>
          <p:cNvPr id="19" name="Text 17"/>
          <p:cNvSpPr/>
          <p:nvPr/>
        </p:nvSpPr>
        <p:spPr>
          <a:xfrm>
            <a:off x="4754880" y="2926080"/>
            <a:ext cx="1828800" cy="731520"/>
          </a:xfrm>
          <a:prstGeom prst="rect">
            <a:avLst/>
          </a:prstGeom>
          <a:noFill/>
          <a:ln/>
        </p:spPr>
        <p:txBody>
          <a:bodyPr wrap="square" rtlCol="0" anchor="t"/>
          <a:lstStyle/>
          <a:p>
            <a:pPr algn="ctr" indent="0" marL="0">
              <a:lnSpc>
                <a:spcPct val="130000"/>
              </a:lnSpc>
              <a:buNone/>
            </a:pPr>
            <a:r>
              <a:rPr lang="en-US" sz="1000" dirty="0">
                <a:solidFill>
                  <a:srgbClr val="8899AA"/>
                </a:solidFill>
                <a:latin typeface="Arial" pitchFamily="34" charset="0"/>
                <a:ea typeface="Arial" pitchFamily="34" charset="-122"/>
                <a:cs typeface="Arial" pitchFamily="34" charset="-120"/>
              </a:rPr>
              <a:t>Tập trung dữ liệu, tìm kiếm thông minh</a:t>
            </a:r>
            <a:endParaRPr lang="en-US" sz="1000" dirty="0"/>
          </a:p>
        </p:txBody>
      </p:sp>
      <p:sp>
        <p:nvSpPr>
          <p:cNvPr id="20" name="Shape 18"/>
          <p:cNvSpPr/>
          <p:nvPr/>
        </p:nvSpPr>
        <p:spPr>
          <a:xfrm>
            <a:off x="6858000" y="1371600"/>
            <a:ext cx="2011680" cy="256032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1" name="Text 19"/>
          <p:cNvSpPr/>
          <p:nvPr/>
        </p:nvSpPr>
        <p:spPr>
          <a:xfrm>
            <a:off x="6858000" y="1554480"/>
            <a:ext cx="2011680" cy="640080"/>
          </a:xfrm>
          <a:prstGeom prst="rect">
            <a:avLst/>
          </a:prstGeom>
          <a:noFill/>
          <a:ln/>
        </p:spPr>
        <p:txBody>
          <a:bodyPr wrap="square" rtlCol="0" anchor="ctr"/>
          <a:lstStyle/>
          <a:p>
            <a:pPr algn="ctr" indent="0" marL="0">
              <a:buNone/>
            </a:pPr>
            <a:r>
              <a:rPr lang="en-US" sz="3600" b="1" dirty="0">
                <a:solidFill>
                  <a:srgbClr val="F97316"/>
                </a:solidFill>
                <a:latin typeface="Arial" pitchFamily="34" charset="0"/>
                <a:ea typeface="Arial" pitchFamily="34" charset="-122"/>
                <a:cs typeface="Arial" pitchFamily="34" charset="-120"/>
              </a:rPr>
              <a:t>0</a:t>
            </a:r>
            <a:endParaRPr lang="en-US" sz="3600" dirty="0"/>
          </a:p>
        </p:txBody>
      </p:sp>
      <p:sp>
        <p:nvSpPr>
          <p:cNvPr id="22" name="Text 20"/>
          <p:cNvSpPr/>
          <p:nvPr/>
        </p:nvSpPr>
        <p:spPr>
          <a:xfrm>
            <a:off x="6858000" y="2240280"/>
            <a:ext cx="2011680" cy="54864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Cài đặt</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phần mềm</a:t>
            </a:r>
            <a:endParaRPr lang="en-US" sz="1200" dirty="0"/>
          </a:p>
        </p:txBody>
      </p:sp>
      <p:sp>
        <p:nvSpPr>
          <p:cNvPr id="23" name="Shape 21"/>
          <p:cNvSpPr/>
          <p:nvPr/>
        </p:nvSpPr>
        <p:spPr>
          <a:xfrm>
            <a:off x="7406640" y="2834640"/>
            <a:ext cx="914400" cy="27432"/>
          </a:xfrm>
          <a:prstGeom prst="rect">
            <a:avLst/>
          </a:prstGeom>
          <a:solidFill>
            <a:srgbClr val="F97316"/>
          </a:solidFill>
          <a:ln/>
        </p:spPr>
      </p:sp>
      <p:sp>
        <p:nvSpPr>
          <p:cNvPr id="24" name="Text 22"/>
          <p:cNvSpPr/>
          <p:nvPr/>
        </p:nvSpPr>
        <p:spPr>
          <a:xfrm>
            <a:off x="6949440" y="2926080"/>
            <a:ext cx="1828800" cy="731520"/>
          </a:xfrm>
          <a:prstGeom prst="rect">
            <a:avLst/>
          </a:prstGeom>
          <a:noFill/>
          <a:ln/>
        </p:spPr>
        <p:txBody>
          <a:bodyPr wrap="square" rtlCol="0" anchor="t"/>
          <a:lstStyle/>
          <a:p>
            <a:pPr algn="ctr" indent="0" marL="0">
              <a:lnSpc>
                <a:spcPct val="130000"/>
              </a:lnSpc>
              <a:buNone/>
            </a:pPr>
            <a:r>
              <a:rPr lang="en-US" sz="1000" dirty="0">
                <a:solidFill>
                  <a:srgbClr val="8899AA"/>
                </a:solidFill>
                <a:latin typeface="Arial" pitchFamily="34" charset="0"/>
                <a:ea typeface="Arial" pitchFamily="34" charset="-122"/>
                <a:cs typeface="Arial" pitchFamily="34" charset="-120"/>
              </a:rPr>
              <a:t>Web-based, truy cập mọi thiết bị</a:t>
            </a:r>
            <a:endParaRPr lang="en-US" sz="1000" dirty="0"/>
          </a:p>
        </p:txBody>
      </p:sp>
      <p:sp>
        <p:nvSpPr>
          <p:cNvPr id="25" name="Text 23"/>
          <p:cNvSpPr/>
          <p:nvPr/>
        </p:nvSpPr>
        <p:spPr>
          <a:xfrm>
            <a:off x="548640" y="4069080"/>
            <a:ext cx="8046720" cy="256032"/>
          </a:xfrm>
          <a:prstGeom prst="rect">
            <a:avLst/>
          </a:prstGeom>
          <a:noFill/>
          <a:ln/>
        </p:spPr>
        <p:txBody>
          <a:bodyPr wrap="square" rtlCol="0" anchor="ctr"/>
          <a:lstStyle/>
          <a:p>
            <a:pPr indent="0" marL="0">
              <a:buNone/>
            </a:pPr>
            <a:r>
              <a:rPr lang="en-US" sz="1050" dirty="0">
                <a:solidFill>
                  <a:srgbClr val="E8E8E8"/>
                </a:solidFill>
                <a:latin typeface="Arial" pitchFamily="34" charset="0"/>
                <a:ea typeface="Arial" pitchFamily="34" charset="-122"/>
                <a:cs typeface="Arial" pitchFamily="34" charset="-120"/>
              </a:rPr>
              <a:t>✓  Tuân thủ pháp luật: checklist TT24/2025, Luật ĐTC 58/2024, Luật XD 135/2025</a:t>
            </a:r>
            <a:endParaRPr lang="en-US" sz="1050" dirty="0"/>
          </a:p>
        </p:txBody>
      </p:sp>
      <p:sp>
        <p:nvSpPr>
          <p:cNvPr id="26" name="Text 24"/>
          <p:cNvSpPr/>
          <p:nvPr/>
        </p:nvSpPr>
        <p:spPr>
          <a:xfrm>
            <a:off x="548640" y="4343400"/>
            <a:ext cx="8046720" cy="256032"/>
          </a:xfrm>
          <a:prstGeom prst="rect">
            <a:avLst/>
          </a:prstGeom>
          <a:noFill/>
          <a:ln/>
        </p:spPr>
        <p:txBody>
          <a:bodyPr wrap="square" rtlCol="0" anchor="ctr"/>
          <a:lstStyle/>
          <a:p>
            <a:pPr indent="0" marL="0">
              <a:buNone/>
            </a:pPr>
            <a:r>
              <a:rPr lang="en-US" sz="1050" dirty="0">
                <a:solidFill>
                  <a:srgbClr val="E8E8E8"/>
                </a:solidFill>
                <a:latin typeface="Arial" pitchFamily="34" charset="0"/>
                <a:ea typeface="Arial" pitchFamily="34" charset="-122"/>
                <a:cs typeface="Arial" pitchFamily="34" charset="-120"/>
              </a:rPr>
              <a:t>✓  BIM tích hợp: xem mô hình 3D trực tiếp, không cần phần mềm chuyên dụng</a:t>
            </a:r>
            <a:endParaRPr lang="en-US" sz="1050" dirty="0"/>
          </a:p>
        </p:txBody>
      </p:sp>
      <p:sp>
        <p:nvSpPr>
          <p:cNvPr id="27" name="Text 25"/>
          <p:cNvSpPr/>
          <p:nvPr/>
        </p:nvSpPr>
        <p:spPr>
          <a:xfrm>
            <a:off x="548640" y="4617720"/>
            <a:ext cx="8046720" cy="256032"/>
          </a:xfrm>
          <a:prstGeom prst="rect">
            <a:avLst/>
          </a:prstGeom>
          <a:noFill/>
          <a:ln/>
        </p:spPr>
        <p:txBody>
          <a:bodyPr wrap="square" rtlCol="0" anchor="ctr"/>
          <a:lstStyle/>
          <a:p>
            <a:pPr indent="0" marL="0">
              <a:buNone/>
            </a:pPr>
            <a:r>
              <a:rPr lang="en-US" sz="1050" dirty="0">
                <a:solidFill>
                  <a:srgbClr val="E8E8E8"/>
                </a:solidFill>
                <a:latin typeface="Arial" pitchFamily="34" charset="0"/>
                <a:ea typeface="Arial" pitchFamily="34" charset="-122"/>
                <a:cs typeface="Arial" pitchFamily="34" charset="-120"/>
              </a:rPr>
              <a:t>✓  AI thông minh: tóm tắt tự động, phát hiện bất thường, tối ưu nguồn lực</a:t>
            </a:r>
            <a:endParaRPr lang="en-US" sz="1050" dirty="0"/>
          </a:p>
        </p:txBody>
      </p:sp>
      <p:sp>
        <p:nvSpPr>
          <p:cNvPr id="28" name="Text 26"/>
          <p:cNvSpPr/>
          <p:nvPr/>
        </p:nvSpPr>
        <p:spPr>
          <a:xfrm>
            <a:off x="548640" y="4892040"/>
            <a:ext cx="8046720" cy="256032"/>
          </a:xfrm>
          <a:prstGeom prst="rect">
            <a:avLst/>
          </a:prstGeom>
          <a:noFill/>
          <a:ln/>
        </p:spPr>
        <p:txBody>
          <a:bodyPr wrap="square" rtlCol="0" anchor="ctr"/>
          <a:lstStyle/>
          <a:p>
            <a:pPr indent="0" marL="0">
              <a:buNone/>
            </a:pPr>
            <a:r>
              <a:rPr lang="en-US" sz="1050" dirty="0">
                <a:solidFill>
                  <a:srgbClr val="E8E8E8"/>
                </a:solidFill>
                <a:latin typeface="Arial" pitchFamily="34" charset="0"/>
                <a:ea typeface="Arial" pitchFamily="34" charset="-122"/>
                <a:cs typeface="Arial" pitchFamily="34" charset="-120"/>
              </a:rPr>
              <a:t>✓  CDE theo ISO 19650: môi trường dữ liệu chung, workflow duyệt tài liệu chuyên nghiệp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algn="l" indent="0" marL="0">
              <a:buNone/>
            </a:pPr>
            <a:r>
              <a:rPr lang="en-US" sz="2800" b="1" dirty="0">
                <a:solidFill>
                  <a:srgbClr val="D4A017"/>
                </a:solidFill>
                <a:latin typeface="Arial" pitchFamily="34" charset="0"/>
                <a:ea typeface="Arial" pitchFamily="34" charset="-122"/>
                <a:cs typeface="Arial" pitchFamily="34" charset="-120"/>
              </a:rPr>
              <a:t>LỘ TRÌNH TRIỂN KHAI — Q2/2026</a:t>
            </a:r>
            <a:endParaRPr lang="en-US" sz="2800" dirty="0"/>
          </a:p>
        </p:txBody>
      </p:sp>
      <p:sp>
        <p:nvSpPr>
          <p:cNvPr id="3" name="Text 1"/>
          <p:cNvSpPr/>
          <p:nvPr/>
        </p:nvSpPr>
        <p:spPr>
          <a:xfrm>
            <a:off x="548640" y="777240"/>
            <a:ext cx="8046720" cy="365760"/>
          </a:xfrm>
          <a:prstGeom prst="rect">
            <a:avLst/>
          </a:prstGeom>
          <a:noFill/>
          <a:ln/>
        </p:spPr>
        <p:txBody>
          <a:bodyPr wrap="square" rtlCol="0" anchor="ctr"/>
          <a:lstStyle/>
          <a:p>
            <a:pPr algn="l" indent="0" marL="0">
              <a:buNone/>
            </a:pPr>
            <a:r>
              <a:rPr lang="en-US" sz="1400" dirty="0">
                <a:solidFill>
                  <a:srgbClr val="8899AA"/>
                </a:solidFill>
                <a:latin typeface="Arial" pitchFamily="34" charset="0"/>
                <a:ea typeface="Arial" pitchFamily="34" charset="-122"/>
                <a:cs typeface="Arial" pitchFamily="34" charset="-120"/>
              </a:rPr>
              <a:t>Gói gọn trong 1 quý (12 tuần) — 4 giai đoạn liên tiếp</a:t>
            </a:r>
            <a:endParaRPr lang="en-US" sz="1400" dirty="0"/>
          </a:p>
        </p:txBody>
      </p:sp>
      <p:sp>
        <p:nvSpPr>
          <p:cNvPr id="4" name="Shape 2"/>
          <p:cNvSpPr/>
          <p:nvPr/>
        </p:nvSpPr>
        <p:spPr>
          <a:xfrm>
            <a:off x="548640" y="1143000"/>
            <a:ext cx="1371600" cy="36576"/>
          </a:xfrm>
          <a:prstGeom prst="rect">
            <a:avLst/>
          </a:prstGeom>
          <a:solidFill>
            <a:srgbClr val="D4A017"/>
          </a:solidFill>
          <a:ln/>
        </p:spPr>
      </p:sp>
      <p:sp>
        <p:nvSpPr>
          <p:cNvPr id="5" name="Shape 3"/>
          <p:cNvSpPr/>
          <p:nvPr/>
        </p:nvSpPr>
        <p:spPr>
          <a:xfrm>
            <a:off x="731520" y="1920240"/>
            <a:ext cx="7680960" cy="36576"/>
          </a:xfrm>
          <a:prstGeom prst="rect">
            <a:avLst/>
          </a:prstGeom>
          <a:solidFill>
            <a:srgbClr val="D4A017"/>
          </a:solidFill>
          <a:ln/>
        </p:spPr>
      </p:sp>
      <p:sp>
        <p:nvSpPr>
          <p:cNvPr id="6" name="Shape 4"/>
          <p:cNvSpPr/>
          <p:nvPr/>
        </p:nvSpPr>
        <p:spPr>
          <a:xfrm>
            <a:off x="1069848" y="1755648"/>
            <a:ext cx="274320" cy="274320"/>
          </a:xfrm>
          <a:prstGeom prst="ellipse">
            <a:avLst/>
          </a:prstGeom>
          <a:solidFill>
            <a:srgbClr val="D4A017"/>
          </a:solidFill>
          <a:ln/>
        </p:spPr>
      </p:sp>
      <p:sp>
        <p:nvSpPr>
          <p:cNvPr id="7" name="Text 5"/>
          <p:cNvSpPr/>
          <p:nvPr/>
        </p:nvSpPr>
        <p:spPr>
          <a:xfrm>
            <a:off x="1069848" y="1755648"/>
            <a:ext cx="27432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Shape 6"/>
          <p:cNvSpPr/>
          <p:nvPr/>
        </p:nvSpPr>
        <p:spPr>
          <a:xfrm>
            <a:off x="274320" y="2286000"/>
            <a:ext cx="2011680" cy="265176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9" name="Text 7"/>
          <p:cNvSpPr/>
          <p:nvPr/>
        </p:nvSpPr>
        <p:spPr>
          <a:xfrm>
            <a:off x="274320" y="2377440"/>
            <a:ext cx="2011680" cy="274320"/>
          </a:xfrm>
          <a:prstGeom prst="rect">
            <a:avLst/>
          </a:prstGeom>
          <a:noFill/>
          <a:ln/>
        </p:spPr>
        <p:txBody>
          <a:bodyPr wrap="square" rtlCol="0" anchor="ctr"/>
          <a:lstStyle/>
          <a:p>
            <a:pPr algn="ctr" indent="0" marL="0">
              <a:buNone/>
            </a:pPr>
            <a:r>
              <a:rPr lang="en-US" sz="1000" b="1" dirty="0">
                <a:solidFill>
                  <a:srgbClr val="D4A017"/>
                </a:solidFill>
                <a:latin typeface="Arial" pitchFamily="34" charset="0"/>
                <a:ea typeface="Arial" pitchFamily="34" charset="-122"/>
                <a:cs typeface="Arial" pitchFamily="34" charset="-120"/>
              </a:rPr>
              <a:t>Tuần 1–2</a:t>
            </a:r>
            <a:endParaRPr lang="en-US" sz="1000" dirty="0"/>
          </a:p>
        </p:txBody>
      </p:sp>
      <p:sp>
        <p:nvSpPr>
          <p:cNvPr id="10" name="Shape 8"/>
          <p:cNvSpPr/>
          <p:nvPr/>
        </p:nvSpPr>
        <p:spPr>
          <a:xfrm>
            <a:off x="822960" y="2697480"/>
            <a:ext cx="914400" cy="18288"/>
          </a:xfrm>
          <a:prstGeom prst="rect">
            <a:avLst/>
          </a:prstGeom>
          <a:solidFill>
            <a:srgbClr val="D4A017"/>
          </a:solidFill>
          <a:ln/>
        </p:spPr>
      </p:sp>
      <p:sp>
        <p:nvSpPr>
          <p:cNvPr id="11" name="Text 9"/>
          <p:cNvSpPr/>
          <p:nvPr/>
        </p:nvSpPr>
        <p:spPr>
          <a:xfrm>
            <a:off x="274320" y="2743200"/>
            <a:ext cx="2011680" cy="45720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Thiết lập &amp;</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Nhập dữ liệu</a:t>
            </a:r>
            <a:endParaRPr lang="en-US" sz="1200" dirty="0"/>
          </a:p>
        </p:txBody>
      </p:sp>
      <p:sp>
        <p:nvSpPr>
          <p:cNvPr id="12" name="Text 10"/>
          <p:cNvSpPr/>
          <p:nvPr/>
        </p:nvSpPr>
        <p:spPr>
          <a:xfrm>
            <a:off x="365760" y="3291840"/>
            <a:ext cx="1828800" cy="1371600"/>
          </a:xfrm>
          <a:prstGeom prst="rect">
            <a:avLst/>
          </a:prstGeom>
          <a:noFill/>
          <a:ln/>
        </p:spPr>
        <p:txBody>
          <a:bodyPr wrap="square" rtlCol="0" anchor="t"/>
          <a:lstStyle/>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Hạ tầng, RBAC,</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nhập dữ liệu hiện có,</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Dashboard &amp; Quản trị</a:t>
            </a:r>
            <a:endParaRPr lang="en-US" sz="950" dirty="0"/>
          </a:p>
        </p:txBody>
      </p:sp>
      <p:sp>
        <p:nvSpPr>
          <p:cNvPr id="13" name="Shape 11"/>
          <p:cNvSpPr/>
          <p:nvPr/>
        </p:nvSpPr>
        <p:spPr>
          <a:xfrm>
            <a:off x="3264408" y="1755648"/>
            <a:ext cx="274320" cy="274320"/>
          </a:xfrm>
          <a:prstGeom prst="ellipse">
            <a:avLst/>
          </a:prstGeom>
          <a:solidFill>
            <a:srgbClr val="3B82F6"/>
          </a:solidFill>
          <a:ln/>
        </p:spPr>
      </p:sp>
      <p:sp>
        <p:nvSpPr>
          <p:cNvPr id="14" name="Text 12"/>
          <p:cNvSpPr/>
          <p:nvPr/>
        </p:nvSpPr>
        <p:spPr>
          <a:xfrm>
            <a:off x="3264408" y="1755648"/>
            <a:ext cx="27432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Shape 13"/>
          <p:cNvSpPr/>
          <p:nvPr/>
        </p:nvSpPr>
        <p:spPr>
          <a:xfrm>
            <a:off x="2468880" y="2286000"/>
            <a:ext cx="2011680" cy="265176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16" name="Text 14"/>
          <p:cNvSpPr/>
          <p:nvPr/>
        </p:nvSpPr>
        <p:spPr>
          <a:xfrm>
            <a:off x="2468880" y="2377440"/>
            <a:ext cx="2011680" cy="274320"/>
          </a:xfrm>
          <a:prstGeom prst="rect">
            <a:avLst/>
          </a:prstGeom>
          <a:noFill/>
          <a:ln/>
        </p:spPr>
        <p:txBody>
          <a:bodyPr wrap="square" rtlCol="0" anchor="ctr"/>
          <a:lstStyle/>
          <a:p>
            <a:pPr algn="ctr" indent="0" marL="0">
              <a:buNone/>
            </a:pPr>
            <a:r>
              <a:rPr lang="en-US" sz="1000" b="1" dirty="0">
                <a:solidFill>
                  <a:srgbClr val="3B82F6"/>
                </a:solidFill>
                <a:latin typeface="Arial" pitchFamily="34" charset="0"/>
                <a:ea typeface="Arial" pitchFamily="34" charset="-122"/>
                <a:cs typeface="Arial" pitchFamily="34" charset="-120"/>
              </a:rPr>
              <a:t>Tuần 3–6</a:t>
            </a:r>
            <a:endParaRPr lang="en-US" sz="1000" dirty="0"/>
          </a:p>
        </p:txBody>
      </p:sp>
      <p:sp>
        <p:nvSpPr>
          <p:cNvPr id="17" name="Shape 15"/>
          <p:cNvSpPr/>
          <p:nvPr/>
        </p:nvSpPr>
        <p:spPr>
          <a:xfrm>
            <a:off x="3017520" y="2697480"/>
            <a:ext cx="914400" cy="18288"/>
          </a:xfrm>
          <a:prstGeom prst="rect">
            <a:avLst/>
          </a:prstGeom>
          <a:solidFill>
            <a:srgbClr val="3B82F6"/>
          </a:solidFill>
          <a:ln/>
        </p:spPr>
      </p:sp>
      <p:sp>
        <p:nvSpPr>
          <p:cNvPr id="18" name="Text 16"/>
          <p:cNvSpPr/>
          <p:nvPr/>
        </p:nvSpPr>
        <p:spPr>
          <a:xfrm>
            <a:off x="2468880" y="2743200"/>
            <a:ext cx="2011680" cy="45720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Module</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nghiệp vụ</a:t>
            </a:r>
            <a:endParaRPr lang="en-US" sz="1200" dirty="0"/>
          </a:p>
        </p:txBody>
      </p:sp>
      <p:sp>
        <p:nvSpPr>
          <p:cNvPr id="19" name="Text 17"/>
          <p:cNvSpPr/>
          <p:nvPr/>
        </p:nvSpPr>
        <p:spPr>
          <a:xfrm>
            <a:off x="2560320" y="3291840"/>
            <a:ext cx="1828800" cy="1371600"/>
          </a:xfrm>
          <a:prstGeom prst="rect">
            <a:avLst/>
          </a:prstGeom>
          <a:noFill/>
          <a:ln/>
        </p:spPr>
        <p:txBody>
          <a:bodyPr wrap="square" rtlCol="0" anchor="t"/>
          <a:lstStyle/>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Dự án (8 tab), HĐ,</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Thanh toán, Kanban,</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CDE, BIM, VB pháp luật</a:t>
            </a:r>
            <a:endParaRPr lang="en-US" sz="950" dirty="0"/>
          </a:p>
        </p:txBody>
      </p:sp>
      <p:sp>
        <p:nvSpPr>
          <p:cNvPr id="20" name="Shape 18"/>
          <p:cNvSpPr/>
          <p:nvPr/>
        </p:nvSpPr>
        <p:spPr>
          <a:xfrm>
            <a:off x="5458968" y="1755648"/>
            <a:ext cx="274320" cy="274320"/>
          </a:xfrm>
          <a:prstGeom prst="ellipse">
            <a:avLst/>
          </a:prstGeom>
          <a:solidFill>
            <a:srgbClr val="10B981"/>
          </a:solidFill>
          <a:ln/>
        </p:spPr>
      </p:sp>
      <p:sp>
        <p:nvSpPr>
          <p:cNvPr id="21" name="Text 19"/>
          <p:cNvSpPr/>
          <p:nvPr/>
        </p:nvSpPr>
        <p:spPr>
          <a:xfrm>
            <a:off x="5458968" y="1755648"/>
            <a:ext cx="27432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Shape 20"/>
          <p:cNvSpPr/>
          <p:nvPr/>
        </p:nvSpPr>
        <p:spPr>
          <a:xfrm>
            <a:off x="4663440" y="2286000"/>
            <a:ext cx="2011680" cy="265176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23" name="Text 21"/>
          <p:cNvSpPr/>
          <p:nvPr/>
        </p:nvSpPr>
        <p:spPr>
          <a:xfrm>
            <a:off x="4663440" y="2377440"/>
            <a:ext cx="2011680" cy="274320"/>
          </a:xfrm>
          <a:prstGeom prst="rect">
            <a:avLst/>
          </a:prstGeom>
          <a:noFill/>
          <a:ln/>
        </p:spPr>
        <p:txBody>
          <a:bodyPr wrap="square"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Tuần 7–10</a:t>
            </a:r>
            <a:endParaRPr lang="en-US" sz="1000" dirty="0"/>
          </a:p>
        </p:txBody>
      </p:sp>
      <p:sp>
        <p:nvSpPr>
          <p:cNvPr id="24" name="Shape 22"/>
          <p:cNvSpPr/>
          <p:nvPr/>
        </p:nvSpPr>
        <p:spPr>
          <a:xfrm>
            <a:off x="5212080" y="2697480"/>
            <a:ext cx="914400" cy="18288"/>
          </a:xfrm>
          <a:prstGeom prst="rect">
            <a:avLst/>
          </a:prstGeom>
          <a:solidFill>
            <a:srgbClr val="10B981"/>
          </a:solidFill>
          <a:ln/>
        </p:spPr>
      </p:sp>
      <p:sp>
        <p:nvSpPr>
          <p:cNvPr id="25" name="Text 23"/>
          <p:cNvSpPr/>
          <p:nvPr/>
        </p:nvSpPr>
        <p:spPr>
          <a:xfrm>
            <a:off x="4663440" y="2743200"/>
            <a:ext cx="2011680" cy="45720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Nâng cao &amp;</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Tích hợp</a:t>
            </a:r>
            <a:endParaRPr lang="en-US" sz="1200" dirty="0"/>
          </a:p>
        </p:txBody>
      </p:sp>
      <p:sp>
        <p:nvSpPr>
          <p:cNvPr id="26" name="Text 24"/>
          <p:cNvSpPr/>
          <p:nvPr/>
        </p:nvSpPr>
        <p:spPr>
          <a:xfrm>
            <a:off x="4754880" y="3291840"/>
            <a:ext cx="1828800" cy="1371600"/>
          </a:xfrm>
          <a:prstGeom prst="rect">
            <a:avLst/>
          </a:prstGeom>
          <a:noFill/>
          <a:ln/>
        </p:spPr>
        <p:txBody>
          <a:bodyPr wrap="square" rtlCol="0" anchor="t"/>
          <a:lstStyle/>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AI Analytics, Báo cáo</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TT24, CSDL Quốc gia</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(NĐ 111), Responsive</a:t>
            </a:r>
            <a:endParaRPr lang="en-US" sz="950" dirty="0"/>
          </a:p>
        </p:txBody>
      </p:sp>
      <p:sp>
        <p:nvSpPr>
          <p:cNvPr id="27" name="Shape 25"/>
          <p:cNvSpPr/>
          <p:nvPr/>
        </p:nvSpPr>
        <p:spPr>
          <a:xfrm>
            <a:off x="7653528" y="1755648"/>
            <a:ext cx="274320" cy="274320"/>
          </a:xfrm>
          <a:prstGeom prst="ellipse">
            <a:avLst/>
          </a:prstGeom>
          <a:solidFill>
            <a:srgbClr val="F97316"/>
          </a:solidFill>
          <a:ln/>
        </p:spPr>
      </p:sp>
      <p:sp>
        <p:nvSpPr>
          <p:cNvPr id="28" name="Text 26"/>
          <p:cNvSpPr/>
          <p:nvPr/>
        </p:nvSpPr>
        <p:spPr>
          <a:xfrm>
            <a:off x="7653528" y="1755648"/>
            <a:ext cx="274320" cy="2743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Shape 27"/>
          <p:cNvSpPr/>
          <p:nvPr/>
        </p:nvSpPr>
        <p:spPr>
          <a:xfrm>
            <a:off x="6858000" y="2286000"/>
            <a:ext cx="2011680" cy="2651760"/>
          </a:xfrm>
          <a:prstGeom prst="roundRect">
            <a:avLst>
              <a:gd name="adj" fmla="val 5455"/>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30" name="Text 28"/>
          <p:cNvSpPr/>
          <p:nvPr/>
        </p:nvSpPr>
        <p:spPr>
          <a:xfrm>
            <a:off x="6858000" y="2377440"/>
            <a:ext cx="2011680" cy="274320"/>
          </a:xfrm>
          <a:prstGeom prst="rect">
            <a:avLst/>
          </a:prstGeom>
          <a:noFill/>
          <a:ln/>
        </p:spPr>
        <p:txBody>
          <a:bodyPr wrap="square" rtlCol="0" anchor="ctr"/>
          <a:lstStyle/>
          <a:p>
            <a:pPr algn="ctr" indent="0" marL="0">
              <a:buNone/>
            </a:pPr>
            <a:r>
              <a:rPr lang="en-US" sz="1000" b="1" dirty="0">
                <a:solidFill>
                  <a:srgbClr val="F97316"/>
                </a:solidFill>
                <a:latin typeface="Arial" pitchFamily="34" charset="0"/>
                <a:ea typeface="Arial" pitchFamily="34" charset="-122"/>
                <a:cs typeface="Arial" pitchFamily="34" charset="-120"/>
              </a:rPr>
              <a:t>Tuần 11–12</a:t>
            </a:r>
            <a:endParaRPr lang="en-US" sz="1000" dirty="0"/>
          </a:p>
        </p:txBody>
      </p:sp>
      <p:sp>
        <p:nvSpPr>
          <p:cNvPr id="31" name="Shape 29"/>
          <p:cNvSpPr/>
          <p:nvPr/>
        </p:nvSpPr>
        <p:spPr>
          <a:xfrm>
            <a:off x="7406640" y="2697480"/>
            <a:ext cx="914400" cy="18288"/>
          </a:xfrm>
          <a:prstGeom prst="rect">
            <a:avLst/>
          </a:prstGeom>
          <a:solidFill>
            <a:srgbClr val="F97316"/>
          </a:solidFill>
          <a:ln/>
        </p:spPr>
      </p:sp>
      <p:sp>
        <p:nvSpPr>
          <p:cNvPr id="32" name="Text 30"/>
          <p:cNvSpPr/>
          <p:nvPr/>
        </p:nvSpPr>
        <p:spPr>
          <a:xfrm>
            <a:off x="6858000" y="2743200"/>
            <a:ext cx="2011680" cy="457200"/>
          </a:xfrm>
          <a:prstGeom prst="rect">
            <a:avLst/>
          </a:prstGeom>
          <a:noFill/>
          <a:ln/>
        </p:spPr>
        <p:txBody>
          <a:bodyPr wrap="square" rtlCol="0" anchor="ctr"/>
          <a:lstStyle/>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Đào tạo &amp;</a:t>
            </a:r>
            <a:endParaRPr lang="en-US" sz="1200" dirty="0"/>
          </a:p>
          <a:p>
            <a:pPr algn="ctr" indent="0" marL="0">
              <a:lnSpc>
                <a:spcPct val="120000"/>
              </a:lnSpc>
              <a:buNone/>
            </a:pPr>
            <a:r>
              <a:rPr lang="en-US" sz="1200" b="1" dirty="0">
                <a:solidFill>
                  <a:srgbClr val="FFFFFF"/>
                </a:solidFill>
                <a:latin typeface="Arial" pitchFamily="34" charset="0"/>
                <a:ea typeface="Arial" pitchFamily="34" charset="-122"/>
                <a:cs typeface="Arial" pitchFamily="34" charset="-120"/>
              </a:rPr>
              <a:t>Go-live</a:t>
            </a:r>
            <a:endParaRPr lang="en-US" sz="1200" dirty="0"/>
          </a:p>
        </p:txBody>
      </p:sp>
      <p:sp>
        <p:nvSpPr>
          <p:cNvPr id="33" name="Text 31"/>
          <p:cNvSpPr/>
          <p:nvPr/>
        </p:nvSpPr>
        <p:spPr>
          <a:xfrm>
            <a:off x="6949440" y="3291840"/>
            <a:ext cx="1828800" cy="1371600"/>
          </a:xfrm>
          <a:prstGeom prst="rect">
            <a:avLst/>
          </a:prstGeom>
          <a:noFill/>
          <a:ln/>
        </p:spPr>
        <p:txBody>
          <a:bodyPr wrap="square" rtlCol="0" anchor="t"/>
          <a:lstStyle/>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Đào tạo 5 Ban QLDA,</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chạy song song,</a:t>
            </a:r>
            <a:endParaRPr lang="en-US" sz="950" dirty="0"/>
          </a:p>
          <a:p>
            <a:pPr algn="ctr" indent="0" marL="0">
              <a:lnSpc>
                <a:spcPct val="140000"/>
              </a:lnSpc>
              <a:buNone/>
            </a:pPr>
            <a:r>
              <a:rPr lang="en-US" sz="950" dirty="0">
                <a:solidFill>
                  <a:srgbClr val="8899AA"/>
                </a:solidFill>
                <a:latin typeface="Arial" pitchFamily="34" charset="0"/>
                <a:ea typeface="Arial" pitchFamily="34" charset="-122"/>
                <a:cs typeface="Arial" pitchFamily="34" charset="-120"/>
              </a:rPr>
              <a:t>nghiệm thu &amp; vận hành</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017"/>
          </a:solidFill>
          <a:ln/>
        </p:spPr>
      </p:sp>
      <p:sp>
        <p:nvSpPr>
          <p:cNvPr id="3" name="Text 1"/>
          <p:cNvSpPr/>
          <p:nvPr/>
        </p:nvSpPr>
        <p:spPr>
          <a:xfrm>
            <a:off x="548640" y="914400"/>
            <a:ext cx="8046720" cy="1280160"/>
          </a:xfrm>
          <a:prstGeom prst="rect">
            <a:avLst/>
          </a:prstGeom>
          <a:noFill/>
          <a:ln/>
        </p:spPr>
        <p:txBody>
          <a:bodyPr wrap="square" rtlCol="0" anchor="ctr"/>
          <a:lstStyle/>
          <a:p>
            <a:pPr algn="ctr" indent="0" marL="0">
              <a:lnSpc>
                <a:spcPct val="130000"/>
              </a:lnSpc>
              <a:buNone/>
            </a:pPr>
            <a:r>
              <a:rPr lang="en-US" sz="3600" b="1" dirty="0">
                <a:solidFill>
                  <a:srgbClr val="FFFFFF"/>
                </a:solidFill>
                <a:latin typeface="Arial" pitchFamily="34" charset="0"/>
                <a:ea typeface="Arial" pitchFamily="34" charset="-122"/>
                <a:cs typeface="Arial" pitchFamily="34" charset="-120"/>
              </a:rPr>
              <a:t>CẢM ƠN QUÝ BAN</a:t>
            </a:r>
            <a:endParaRPr lang="en-US" sz="3600" dirty="0"/>
          </a:p>
          <a:p>
            <a:pPr algn="ctr" indent="0" marL="0">
              <a:lnSpc>
                <a:spcPct val="130000"/>
              </a:lnSpc>
              <a:buNone/>
            </a:pPr>
            <a:r>
              <a:rPr lang="en-US" sz="3600" b="1" dirty="0">
                <a:solidFill>
                  <a:srgbClr val="FFFFFF"/>
                </a:solidFill>
                <a:latin typeface="Arial" pitchFamily="34" charset="0"/>
                <a:ea typeface="Arial" pitchFamily="34" charset="-122"/>
                <a:cs typeface="Arial" pitchFamily="34" charset="-120"/>
              </a:rPr>
              <a:t>ĐÃ LẮNG NGHE</a:t>
            </a:r>
            <a:endParaRPr lang="en-US" sz="3600" dirty="0"/>
          </a:p>
        </p:txBody>
      </p:sp>
      <p:sp>
        <p:nvSpPr>
          <p:cNvPr id="4" name="Shape 2"/>
          <p:cNvSpPr/>
          <p:nvPr/>
        </p:nvSpPr>
        <p:spPr>
          <a:xfrm>
            <a:off x="3657600" y="2286000"/>
            <a:ext cx="1828800" cy="45720"/>
          </a:xfrm>
          <a:prstGeom prst="rect">
            <a:avLst/>
          </a:prstGeom>
          <a:solidFill>
            <a:srgbClr val="D4A017"/>
          </a:solidFill>
          <a:ln/>
        </p:spPr>
      </p:sp>
      <p:sp>
        <p:nvSpPr>
          <p:cNvPr id="5" name="Text 3"/>
          <p:cNvSpPr/>
          <p:nvPr/>
        </p:nvSpPr>
        <p:spPr>
          <a:xfrm>
            <a:off x="914400" y="2560320"/>
            <a:ext cx="7315200" cy="731520"/>
          </a:xfrm>
          <a:prstGeom prst="rect">
            <a:avLst/>
          </a:prstGeom>
          <a:noFill/>
          <a:ln/>
        </p:spPr>
        <p:txBody>
          <a:bodyPr wrap="square" rtlCol="0" anchor="ctr"/>
          <a:lstStyle/>
          <a:p>
            <a:pPr algn="ctr" indent="0" marL="0">
              <a:lnSpc>
                <a:spcPct val="140000"/>
              </a:lnSpc>
              <a:buNone/>
            </a:pPr>
            <a:r>
              <a:rPr lang="en-US" sz="1400" dirty="0">
                <a:solidFill>
                  <a:srgbClr val="F0D68A"/>
                </a:solidFill>
                <a:latin typeface="Arial" pitchFamily="34" charset="0"/>
                <a:ea typeface="Arial" pitchFamily="34" charset="-122"/>
                <a:cs typeface="Arial" pitchFamily="34" charset="-120"/>
              </a:rPr>
              <a:t>Hệ thống QLDA ĐTXD — Giải pháp số hóa toàn diện</a:t>
            </a:r>
            <a:endParaRPr lang="en-US" sz="1400" dirty="0"/>
          </a:p>
          <a:p>
            <a:pPr algn="ctr" indent="0" marL="0">
              <a:lnSpc>
                <a:spcPct val="140000"/>
              </a:lnSpc>
              <a:buNone/>
            </a:pPr>
            <a:r>
              <a:rPr lang="en-US" sz="1400" dirty="0">
                <a:solidFill>
                  <a:srgbClr val="F0D68A"/>
                </a:solidFill>
                <a:latin typeface="Arial" pitchFamily="34" charset="0"/>
                <a:ea typeface="Arial" pitchFamily="34" charset="-122"/>
                <a:cs typeface="Arial" pitchFamily="34" charset="-120"/>
              </a:rPr>
              <a:t>cho quản lý dự án đầu tư xây dựng</a:t>
            </a:r>
            <a:endParaRPr lang="en-US" sz="1400" dirty="0"/>
          </a:p>
        </p:txBody>
      </p:sp>
      <p:sp>
        <p:nvSpPr>
          <p:cNvPr id="6" name="Shape 4"/>
          <p:cNvSpPr/>
          <p:nvPr/>
        </p:nvSpPr>
        <p:spPr>
          <a:xfrm>
            <a:off x="2286000" y="3474720"/>
            <a:ext cx="4572000" cy="1097280"/>
          </a:xfrm>
          <a:prstGeom prst="roundRect">
            <a:avLst>
              <a:gd name="adj" fmla="val 10000"/>
            </a:avLst>
          </a:prstGeom>
          <a:solidFill>
            <a:srgbClr val="1E2A4A"/>
          </a:solidFill>
          <a:ln w="12700">
            <a:solidFill>
              <a:srgbClr val="2A3A5E"/>
            </a:solidFill>
            <a:prstDash val="solid"/>
          </a:ln>
          <a:effectLst>
            <a:outerShdw sx="100000" sy="100000" kx="0" ky="0" algn="bl" rotWithShape="0" blurRad="101600" dist="25400" dir="8100000">
              <a:srgbClr val="000000">
                <a:alpha val="20000"/>
              </a:srgbClr>
            </a:outerShdw>
          </a:effectLst>
        </p:spPr>
      </p:sp>
      <p:sp>
        <p:nvSpPr>
          <p:cNvPr id="7" name="Text 5"/>
          <p:cNvSpPr/>
          <p:nvPr/>
        </p:nvSpPr>
        <p:spPr>
          <a:xfrm>
            <a:off x="2468880" y="3566160"/>
            <a:ext cx="4206240" cy="914400"/>
          </a:xfrm>
          <a:prstGeom prst="rect">
            <a:avLst/>
          </a:prstGeom>
          <a:noFill/>
          <a:ln/>
        </p:spPr>
        <p:txBody>
          <a:bodyPr wrap="square" rtlCol="0" anchor="ctr"/>
          <a:lstStyle/>
          <a:p>
            <a:pPr algn="ctr" indent="0" marL="0">
              <a:lnSpc>
                <a:spcPct val="130000"/>
              </a:lnSpc>
              <a:buNone/>
            </a:pPr>
            <a:r>
              <a:rPr lang="en-US" sz="1400" b="1" dirty="0">
                <a:solidFill>
                  <a:srgbClr val="D4A017"/>
                </a:solidFill>
                <a:latin typeface="Arial" pitchFamily="34" charset="0"/>
                <a:ea typeface="Arial" pitchFamily="34" charset="-122"/>
                <a:cs typeface="Arial" pitchFamily="34" charset="-120"/>
              </a:rPr>
              <a:t>CIC Technology and Consultancy JSC
</a:t>
            </a:r>
            <a:endParaRPr lang="en-US" sz="1400" dirty="0"/>
          </a:p>
          <a:p>
            <a:pPr algn="ctr" indent="0" marL="0">
              <a:lnSpc>
                <a:spcPct val="130000"/>
              </a:lnSpc>
              <a:buNone/>
            </a:pPr>
            <a:r>
              <a:rPr lang="en-US" sz="1100" dirty="0">
                <a:solidFill>
                  <a:srgbClr val="8899AA"/>
                </a:solidFill>
                <a:latin typeface="Arial" pitchFamily="34" charset="0"/>
                <a:ea typeface="Arial" pitchFamily="34" charset="-122"/>
                <a:cs typeface="Arial" pitchFamily="34" charset="-120"/>
              </a:rPr>
              <a:t>Website: www.cic.com.vn  •  Email: anhnq@cic.com.vn
</a:t>
            </a:r>
            <a:endParaRPr lang="en-US" sz="1400" dirty="0"/>
          </a:p>
          <a:p>
            <a:pPr algn="ctr" indent="0" marL="0">
              <a:lnSpc>
                <a:spcPct val="130000"/>
              </a:lnSpc>
              <a:buNone/>
            </a:pPr>
            <a:r>
              <a:rPr lang="en-US" sz="1100" dirty="0">
                <a:solidFill>
                  <a:srgbClr val="8899AA"/>
                </a:solidFill>
                <a:latin typeface="Arial" pitchFamily="34" charset="0"/>
                <a:ea typeface="Arial" pitchFamily="34" charset="-122"/>
                <a:cs typeface="Arial" pitchFamily="34" charset="-120"/>
              </a:rPr>
              <a:t>TP. Hồ Chí Minh, Việt Nam</a:t>
            </a:r>
            <a:endParaRPr lang="en-US" sz="1400" dirty="0"/>
          </a:p>
        </p:txBody>
      </p:sp>
      <p:sp>
        <p:nvSpPr>
          <p:cNvPr id="8" name="Shape 6"/>
          <p:cNvSpPr/>
          <p:nvPr/>
        </p:nvSpPr>
        <p:spPr>
          <a:xfrm>
            <a:off x="0" y="5088636"/>
            <a:ext cx="9144000" cy="54864"/>
          </a:xfrm>
          <a:prstGeom prst="rect">
            <a:avLst/>
          </a:prstGeom>
          <a:solidFill>
            <a:srgbClr val="D4A01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Phần mềm QLDA ĐTXD DDCN — TP. Hồ Chí Minh</dc:title>
  <dc:subject>PptxGenJS Presentation</dc:subject>
  <dc:creator>CIC Technology and Consultancy JSC</dc:creator>
  <cp:lastModifiedBy>CIC Technology and Consultancy JSC</cp:lastModifiedBy>
  <cp:revision>1</cp:revision>
  <dcterms:created xsi:type="dcterms:W3CDTF">2026-03-12T10:01:03Z</dcterms:created>
  <dcterms:modified xsi:type="dcterms:W3CDTF">2026-03-12T10:01:03Z</dcterms:modified>
</cp:coreProperties>
</file>