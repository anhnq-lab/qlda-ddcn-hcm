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5" r:id="rId8"/>
    <p:sldId id="267" r:id="rId10"/>
    <p:sldId id="268" r:id="rId11"/>
    <p:sldId id="269"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varScale="1">
        <p:scale>
          <a:sx n="93" d="100"/>
          <a:sy n="93" d="100"/>
        </p:scale>
        <p:origin x="1090"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14316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Ban lãnh đạo, các đồng chí.
Hôm nay, thay mặt đơn vị phát triển CIC — Công ty Cổ phần Công nghệ và Tư vấn CIC, tôi xin trân trọng giới thiệu Hệ thống Quản lý Dự án Đầu tư Xây dựng — giải pháp số hóa toàn diện được thiết kế riêng cho Ban Quản lý dự án Đầu tư xây dựng các công trình Dân dụng và Công nghiệp trực thuộc UBND Thành phố Hồ Chí Minh.
Xin phép được trình bày nội dung chi tiết để quý Ban xem xét.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thuyết trình được cấu trúc thành 7 phần chính. Trước tiên, tôi sẽ trình bày bối cảnh và căn cứ pháp lý — vì sao tại thời điểm này chúng ta cần triển khai hệ thống quản lý dự án số hóa. Tiếp theo là tổng quan hệ thống, chi tiết 13 module chức năng, nền tảng công nghệ, cơ chế bảo mật, và cuối cùng là lợi ích cùng lộ trình triển khai cụ thể.</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Kính thưa quý Ban lãnh đạo, trước khi đi vào chi tiết phần mềm, cho phép em trình bày bối cảnh vì sao chúng ta cần một hệ thống quản lý dự án số hóa tại thời điểm này.</a:t>
            </a:r>
          </a:p>
          <a:p>
            <a:endParaRPr/>
          </a:p>
          <a:p>
            <a:r>
              <a:t>Nhìn lại lịch sử, thế giới đã trải qua 4 cuộc cách mạng công nghiệp lớn. Với 3 cuộc cách mạng trước, đất nước ta đã không có đủ công cụ và tư liệu sản xuất để bắt kịp thế giới. Nhưng với Cách mạng 4.0 — nơi 'vũ khí' chính là dữ liệu, trí tuệ nhân tạo và nền tảng số — chúng ta hoàn toàn có đủ điều kiện, đủ nguồn lực con người và hạ tầng công nghệ để thực hiện. Đây là cơ hội lịch sử để Việt Nam đi cùng, thậm chí đi trước trong cuộc đua chuyển đổi số. Và trong lĩnh vực xây dựng, tổ chức nào làm chủ dữ liệu sớm — tổ chức đó sẽ quản lý hiệu quả hơn, minh bạch hơn và tiết kiệm nguồn lực hơn.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Để hiện thực hóa cơ hội ngàn năm có một từ Cách mạng 4.0, Đảng và Nhà nước ta đã đi trước một bước khi sớm ban hành hàng loạt văn bản pháp lý chặt chẽ, tạo hành lang vững chắc cho chuyển đổi số ngành xây dựng. Từ Nghị quyết 52 năm 2019 định hướng chiến lược, đến Nghị định 175 cuối năm 2024 chính thức luật hóa BIM, và mới đây nhất là Thông tư 24 năm 2025 chuẩn hóa cơ sở dữ liệu quốc gia — tất cả đều cho thấy: chuyển đổi số không còn là sự lựa chọn công nghệ, mà là yêu cầu bắt buộc đối với tất cả chúng 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Xu hướng đã rõ ràng. Vậy thực trạng quản lý dự án hiện nay của chúng ta đang gặp những thách thức gì? Xin thẳng thắn nhìn nhận 5 vấn đề cốt lõi — và ngay bên cạnh là 5 trụ cột giải pháp mà hệ thống của chúng tôi đã xây dựng.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Với 5 trụ cột vừa trình bày, giờ đây cho phép em giới thiệu tổng quan hệ thống — một nền tảng sẵn sàng để quý Ban có thể sử dụng ngay. Bây giờ em xin được trình diễn trực tiếp trên phần mềm để quý Ban thấy rõ hơn cách hệ thống hoạt động trong thực tế.</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Toàn bộ hệ thống chạy trên nền web — mở trình duyệt là dùng, không cần cài đặt. Về bảo mật, 6 lớp bảo mật đã được triển khai, đặc biệt mỗi Ban QLDA chỉ thấy dữ liệu thuộc phạm vi quản lý của mình — hoàn toàn tách biệt.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với giải pháp nước ngoài như SAP, Oracle hay BIM 360, hệ thống CIC được thiết kế riêng cho quy trình QLDA ĐTXD Việt Nam, chi phí thấp hơn nhiều lần, 100% tiếng Việt.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triển khai 3 giai đoạn, tổng cộng 12 tuần — 1 quý. Bắt đầu từ 1 Ban thí điểm, rồi mở rộng cho toàn bộ 5 Ban.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Tóm lại, hệ thống Quản lý Dự án Đầu tư Xây dựng là giải pháp toàn diện, thiết kế riêng cho Ban QLDA. Với 15 module chức năng, 9 module AI, BIM 3D Viewer và CDE theo chuẩn ISO 19650 — hệ thống sẵn sàng đưa Ban QLDA bước vào kỷ nguyên số, nâng cao hiệu quả quản lý và đáp ứng yêu cầu ngày càng cao của pháp luật cũng như thực tiễn. Xin trân trọng cảm ơn quý Ban đã lắng nghe.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017"/>
          </a:solidFill>
          <a:ln/>
        </p:spPr>
        <p:txBody>
          <a:bodyPr/>
          <a:lstStyle/>
          <a:p>
            <a:endParaRPr/>
          </a:p>
        </p:txBody>
      </p:sp>
      <p:sp>
        <p:nvSpPr>
          <p:cNvPr id="3" name="Text 1"/>
          <p:cNvSpPr/>
          <p:nvPr/>
        </p:nvSpPr>
        <p:spPr>
          <a:xfrm>
            <a:off x="548640" y="1097280"/>
            <a:ext cx="8046720" cy="1463040"/>
          </a:xfrm>
          <a:prstGeom prst="rect">
            <a:avLst/>
          </a:prstGeom>
          <a:noFill/>
          <a:ln/>
        </p:spPr>
        <p:txBody>
          <a:bodyPr wrap="square" rtlCol="0" anchor="ctr"/>
          <a:lstStyle/>
          <a:p>
            <a:pPr marL="0" indent="0" algn="l">
              <a:lnSpc>
                <a:spcPct val="120000"/>
              </a:lnSpc>
              <a:buNone/>
            </a:pPr>
            <a:r>
              <a:rPr lang="en-US" sz="3600" b="1" dirty="0">
                <a:solidFill>
                  <a:srgbClr val="FFFFFF"/>
                </a:solidFill>
                <a:latin typeface="Arial" pitchFamily="34" charset="0"/>
                <a:ea typeface="Arial" pitchFamily="34" charset="-122"/>
                <a:cs typeface="Arial" pitchFamily="34" charset="-120"/>
              </a:rPr>
              <a:t>HỆ THỐNG QUẢN LÝ DỰ ÁN</a:t>
            </a:r>
            <a:endParaRPr lang="en-US" sz="3600" dirty="0"/>
          </a:p>
          <a:p>
            <a:pPr marL="0" indent="0" algn="l">
              <a:lnSpc>
                <a:spcPct val="120000"/>
              </a:lnSpc>
              <a:buNone/>
            </a:pPr>
            <a:r>
              <a:rPr lang="en-US" sz="3600" b="1" dirty="0">
                <a:solidFill>
                  <a:srgbClr val="FFFFFF"/>
                </a:solidFill>
                <a:latin typeface="Arial" pitchFamily="34" charset="0"/>
                <a:ea typeface="Arial" pitchFamily="34" charset="-122"/>
                <a:cs typeface="Arial" pitchFamily="34" charset="-120"/>
              </a:rPr>
              <a:t>ĐẦU TƯ XÂY DỰNG</a:t>
            </a:r>
            <a:endParaRPr lang="en-US" sz="3600" dirty="0"/>
          </a:p>
        </p:txBody>
      </p:sp>
      <p:sp>
        <p:nvSpPr>
          <p:cNvPr id="4" name="Shape 2"/>
          <p:cNvSpPr/>
          <p:nvPr/>
        </p:nvSpPr>
        <p:spPr>
          <a:xfrm>
            <a:off x="548640" y="2651760"/>
            <a:ext cx="1828800" cy="45720"/>
          </a:xfrm>
          <a:prstGeom prst="rect">
            <a:avLst/>
          </a:prstGeom>
          <a:solidFill>
            <a:srgbClr val="D4A017"/>
          </a:solidFill>
          <a:ln/>
        </p:spPr>
        <p:txBody>
          <a:bodyPr/>
          <a:lstStyle/>
          <a:p>
            <a:endParaRPr lang="en-US"/>
          </a:p>
        </p:txBody>
      </p:sp>
      <p:sp>
        <p:nvSpPr>
          <p:cNvPr id="5" name="Text 3"/>
          <p:cNvSpPr/>
          <p:nvPr/>
        </p:nvSpPr>
        <p:spPr>
          <a:xfrm>
            <a:off x="548640" y="2834640"/>
            <a:ext cx="8046720" cy="731520"/>
          </a:xfrm>
          <a:prstGeom prst="rect">
            <a:avLst/>
          </a:prstGeom>
          <a:noFill/>
          <a:ln/>
        </p:spPr>
        <p:txBody>
          <a:bodyPr wrap="square" rtlCol="0" anchor="ctr"/>
          <a:lstStyle/>
          <a:p>
            <a:pPr marL="0" indent="0">
              <a:lnSpc>
                <a:spcPct val="130000"/>
              </a:lnSpc>
              <a:buNone/>
            </a:pPr>
            <a:r>
              <a:rPr lang="en-US" sz="1600" dirty="0">
                <a:solidFill>
                  <a:srgbClr val="F0D68A"/>
                </a:solidFill>
                <a:latin typeface="Arial" pitchFamily="34" charset="0"/>
                <a:ea typeface="Arial" pitchFamily="34" charset="-122"/>
                <a:cs typeface="Arial" pitchFamily="34" charset="-120"/>
              </a:rPr>
              <a:t>Ban QLDA ĐTXD các công trình Dân dụng và Công nghiệp</a:t>
            </a:r>
            <a:endParaRPr lang="en-US" sz="1600" dirty="0"/>
          </a:p>
          <a:p>
            <a:pPr marL="0" indent="0">
              <a:lnSpc>
                <a:spcPct val="130000"/>
              </a:lnSpc>
              <a:buNone/>
            </a:pPr>
            <a:r>
              <a:rPr lang="en-US" sz="1600" dirty="0">
                <a:solidFill>
                  <a:srgbClr val="F0D68A"/>
                </a:solidFill>
                <a:latin typeface="Arial" pitchFamily="34" charset="0"/>
                <a:ea typeface="Arial" pitchFamily="34" charset="-122"/>
                <a:cs typeface="Arial" pitchFamily="34" charset="-120"/>
              </a:rPr>
              <a:t>UBND Thành phố Hồ Chí Minh</a:t>
            </a:r>
            <a:endParaRPr lang="en-US" sz="1600" dirty="0"/>
          </a:p>
        </p:txBody>
      </p:sp>
      <p:sp>
        <p:nvSpPr>
          <p:cNvPr id="6" name="Text 4"/>
          <p:cNvSpPr/>
          <p:nvPr/>
        </p:nvSpPr>
        <p:spPr>
          <a:xfrm>
            <a:off x="548640" y="4206240"/>
            <a:ext cx="8046720" cy="365760"/>
          </a:xfrm>
          <a:prstGeom prst="rect">
            <a:avLst/>
          </a:prstGeom>
          <a:noFill/>
          <a:ln/>
        </p:spPr>
        <p:txBody>
          <a:bodyPr wrap="square" rtlCol="0" anchor="ctr"/>
          <a:lstStyle/>
          <a:p>
            <a:pPr marL="0" indent="0">
              <a:buNone/>
            </a:pPr>
            <a:r>
              <a:rPr lang="en-US" sz="1200" dirty="0">
                <a:solidFill>
                  <a:srgbClr val="8899AA"/>
                </a:solidFill>
                <a:latin typeface="Arial" pitchFamily="34" charset="0"/>
                <a:ea typeface="Arial" pitchFamily="34" charset="-122"/>
                <a:cs typeface="Arial" pitchFamily="34" charset="-120"/>
              </a:rPr>
              <a:t>Phiên bản 1.0  •  12/03/2026  •  CIC Technology and Consultancy JSC</a:t>
            </a:r>
            <a:endParaRPr lang="en-US" sz="1200" dirty="0"/>
          </a:p>
        </p:txBody>
      </p:sp>
      <p:sp>
        <p:nvSpPr>
          <p:cNvPr id="7" name="Shape 5"/>
          <p:cNvSpPr/>
          <p:nvPr/>
        </p:nvSpPr>
        <p:spPr>
          <a:xfrm>
            <a:off x="0" y="5088636"/>
            <a:ext cx="9144000" cy="54864"/>
          </a:xfrm>
          <a:prstGeom prst="rect">
            <a:avLst/>
          </a:prstGeom>
          <a:solidFill>
            <a:srgbClr val="D4A017"/>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213E"/>
        </a:solidFill>
        <a:effectLst/>
      </p:bgPr>
    </p:bg>
    <p:spTree>
      <p:nvGrpSpPr>
        <p:cNvPr id="1" name=""/>
        <p:cNvGrpSpPr/>
        <p:nvPr/>
      </p:nvGrpSpPr>
      <p:grpSpPr>
        <a:xfrm>
          <a:off x="0" y="0"/>
          <a:ext cx="0" cy="0"/>
          <a:chOff x="0" y="0"/>
          <a:chExt cx="0" cy="0"/>
        </a:xfrm>
      </p:grpSpPr>
      <p:sp>
        <p:nvSpPr>
          <p:cNvPr id="2" name="Text 0"/>
          <p:cNvSpPr/>
          <p:nvPr/>
        </p:nvSpPr>
        <p:spPr>
          <a:xfrm>
            <a:off x="548640" y="274320"/>
            <a:ext cx="8046720" cy="548640"/>
          </a:xfrm>
          <a:prstGeom prst="rect">
            <a:avLst/>
          </a:prstGeom>
          <a:noFill/>
          <a:ln/>
        </p:spPr>
        <p:txBody>
          <a:bodyPr wrap="square" rtlCol="0" anchor="ctr"/>
          <a:lstStyle/>
          <a:p>
            <a:pPr marL="0" indent="0" algn="l">
              <a:buNone/>
            </a:pPr>
            <a:r>
              <a:rPr lang="en-US" sz="2800" b="1" dirty="0">
                <a:solidFill>
                  <a:srgbClr val="D4A017"/>
                </a:solidFill>
                <a:latin typeface="Arial" pitchFamily="34" charset="0"/>
                <a:ea typeface="Arial" pitchFamily="34" charset="-122"/>
                <a:cs typeface="Arial" pitchFamily="34" charset="-120"/>
              </a:rPr>
              <a:t>NỘI DUNG THUYẾT TRÌNH</a:t>
            </a:r>
            <a:endParaRPr lang="en-US" sz="2800" dirty="0"/>
          </a:p>
        </p:txBody>
      </p:sp>
      <p:sp>
        <p:nvSpPr>
          <p:cNvPr id="3" name="Shape 1"/>
          <p:cNvSpPr/>
          <p:nvPr/>
        </p:nvSpPr>
        <p:spPr>
          <a:xfrm>
            <a:off x="548640" y="1143000"/>
            <a:ext cx="1371600" cy="36576"/>
          </a:xfrm>
          <a:prstGeom prst="rect">
            <a:avLst/>
          </a:prstGeom>
          <a:solidFill>
            <a:srgbClr val="D4A017"/>
          </a:solidFill>
          <a:ln/>
        </p:spPr>
        <p:txBody>
          <a:bodyPr/>
          <a:lstStyle/>
          <a:p>
            <a:endParaRPr lang="en-US"/>
          </a:p>
        </p:txBody>
      </p:sp>
      <p:sp>
        <p:nvSpPr>
          <p:cNvPr id="4" name="Shape 2"/>
          <p:cNvSpPr/>
          <p:nvPr/>
        </p:nvSpPr>
        <p:spPr>
          <a:xfrm>
            <a:off x="548640" y="1371600"/>
            <a:ext cx="8046720" cy="438912"/>
          </a:xfrm>
          <a:prstGeom prst="roundRect">
            <a:avLst>
              <a:gd name="adj" fmla="val 250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5" name="Shape 3"/>
          <p:cNvSpPr/>
          <p:nvPr/>
        </p:nvSpPr>
        <p:spPr>
          <a:xfrm>
            <a:off x="731520" y="1389888"/>
            <a:ext cx="411480" cy="411480"/>
          </a:xfrm>
          <a:prstGeom prst="ellipse">
            <a:avLst/>
          </a:prstGeom>
          <a:solidFill>
            <a:srgbClr val="D4A017"/>
          </a:solidFill>
          <a:ln/>
        </p:spPr>
        <p:txBody>
          <a:bodyPr/>
          <a:lstStyle/>
          <a:p>
            <a:endParaRPr lang="en-US"/>
          </a:p>
        </p:txBody>
      </p:sp>
      <p:sp>
        <p:nvSpPr>
          <p:cNvPr id="6" name="Text 4"/>
          <p:cNvSpPr/>
          <p:nvPr/>
        </p:nvSpPr>
        <p:spPr>
          <a:xfrm>
            <a:off x="731520" y="1389888"/>
            <a:ext cx="411480" cy="41148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01</a:t>
            </a:r>
            <a:endParaRPr lang="en-US" sz="1400" dirty="0"/>
          </a:p>
        </p:txBody>
      </p:sp>
      <p:sp>
        <p:nvSpPr>
          <p:cNvPr id="7" name="Text 5"/>
          <p:cNvSpPr/>
          <p:nvPr/>
        </p:nvSpPr>
        <p:spPr>
          <a:xfrm>
            <a:off x="1371600" y="1371600"/>
            <a:ext cx="6400800" cy="438912"/>
          </a:xfrm>
          <a:prstGeom prst="rect">
            <a:avLst/>
          </a:prstGeom>
          <a:noFill/>
          <a:ln/>
        </p:spPr>
        <p:txBody>
          <a:bodyPr wrap="square" rtlCol="0" anchor="ctr"/>
          <a:lstStyle/>
          <a:p>
            <a:pPr marL="0" indent="0">
              <a:buNone/>
            </a:pPr>
            <a:r>
              <a:rPr lang="en-US" sz="1500" b="1" dirty="0">
                <a:solidFill>
                  <a:srgbClr val="FFFFFF"/>
                </a:solidFill>
                <a:latin typeface="Arial" pitchFamily="34" charset="0"/>
                <a:ea typeface="Arial" pitchFamily="34" charset="-122"/>
                <a:cs typeface="Arial" pitchFamily="34" charset="-120"/>
              </a:rPr>
              <a:t>Bối cảnh &amp; Mục tiêu</a:t>
            </a:r>
            <a:endParaRPr lang="en-US" sz="1500" dirty="0"/>
          </a:p>
        </p:txBody>
      </p:sp>
      <p:sp>
        <p:nvSpPr>
          <p:cNvPr id="8" name="Shape 6"/>
          <p:cNvSpPr/>
          <p:nvPr/>
        </p:nvSpPr>
        <p:spPr>
          <a:xfrm>
            <a:off x="548640" y="1901952"/>
            <a:ext cx="8046720" cy="438912"/>
          </a:xfrm>
          <a:prstGeom prst="roundRect">
            <a:avLst>
              <a:gd name="adj" fmla="val 250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9" name="Shape 7"/>
          <p:cNvSpPr/>
          <p:nvPr/>
        </p:nvSpPr>
        <p:spPr>
          <a:xfrm>
            <a:off x="731520" y="1920240"/>
            <a:ext cx="411480" cy="411480"/>
          </a:xfrm>
          <a:prstGeom prst="ellipse">
            <a:avLst/>
          </a:prstGeom>
          <a:solidFill>
            <a:srgbClr val="3B82F6"/>
          </a:solidFill>
          <a:ln/>
        </p:spPr>
        <p:txBody>
          <a:bodyPr/>
          <a:lstStyle/>
          <a:p>
            <a:endParaRPr lang="en-US"/>
          </a:p>
        </p:txBody>
      </p:sp>
      <p:sp>
        <p:nvSpPr>
          <p:cNvPr id="10" name="Text 8"/>
          <p:cNvSpPr/>
          <p:nvPr/>
        </p:nvSpPr>
        <p:spPr>
          <a:xfrm>
            <a:off x="731520" y="1920240"/>
            <a:ext cx="411480" cy="41148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02</a:t>
            </a:r>
            <a:endParaRPr lang="en-US" sz="1400" dirty="0"/>
          </a:p>
        </p:txBody>
      </p:sp>
      <p:sp>
        <p:nvSpPr>
          <p:cNvPr id="11" name="Text 9"/>
          <p:cNvSpPr/>
          <p:nvPr/>
        </p:nvSpPr>
        <p:spPr>
          <a:xfrm>
            <a:off x="1371600" y="1901952"/>
            <a:ext cx="6400800" cy="438912"/>
          </a:xfrm>
          <a:prstGeom prst="rect">
            <a:avLst/>
          </a:prstGeom>
          <a:noFill/>
          <a:ln/>
        </p:spPr>
        <p:txBody>
          <a:bodyPr wrap="square" rtlCol="0" anchor="ctr"/>
          <a:lstStyle/>
          <a:p>
            <a:pPr marL="0" indent="0">
              <a:buNone/>
            </a:pPr>
            <a:r>
              <a:rPr lang="en-US" sz="1500" b="1" dirty="0">
                <a:solidFill>
                  <a:srgbClr val="FFFFFF"/>
                </a:solidFill>
                <a:latin typeface="Arial" pitchFamily="34" charset="0"/>
                <a:ea typeface="Arial" pitchFamily="34" charset="-122"/>
                <a:cs typeface="Arial" pitchFamily="34" charset="-120"/>
              </a:rPr>
              <a:t>Tổng quan Hệ thống</a:t>
            </a:r>
            <a:endParaRPr lang="en-US" sz="1500" dirty="0"/>
          </a:p>
        </p:txBody>
      </p:sp>
      <p:sp>
        <p:nvSpPr>
          <p:cNvPr id="12" name="Shape 10"/>
          <p:cNvSpPr/>
          <p:nvPr/>
        </p:nvSpPr>
        <p:spPr>
          <a:xfrm>
            <a:off x="548640" y="2432304"/>
            <a:ext cx="8046720" cy="438912"/>
          </a:xfrm>
          <a:prstGeom prst="roundRect">
            <a:avLst>
              <a:gd name="adj" fmla="val 250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3" name="Shape 11"/>
          <p:cNvSpPr/>
          <p:nvPr/>
        </p:nvSpPr>
        <p:spPr>
          <a:xfrm>
            <a:off x="731520" y="2450592"/>
            <a:ext cx="411480" cy="411480"/>
          </a:xfrm>
          <a:prstGeom prst="ellipse">
            <a:avLst/>
          </a:prstGeom>
          <a:solidFill>
            <a:srgbClr val="10B981"/>
          </a:solidFill>
          <a:ln/>
        </p:spPr>
        <p:txBody>
          <a:bodyPr/>
          <a:lstStyle/>
          <a:p>
            <a:endParaRPr lang="en-US"/>
          </a:p>
        </p:txBody>
      </p:sp>
      <p:sp>
        <p:nvSpPr>
          <p:cNvPr id="14" name="Text 12"/>
          <p:cNvSpPr/>
          <p:nvPr/>
        </p:nvSpPr>
        <p:spPr>
          <a:xfrm>
            <a:off x="731520" y="2450592"/>
            <a:ext cx="411480" cy="41148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03</a:t>
            </a:r>
            <a:endParaRPr lang="en-US" sz="1400" dirty="0"/>
          </a:p>
        </p:txBody>
      </p:sp>
      <p:sp>
        <p:nvSpPr>
          <p:cNvPr id="15" name="Text 13"/>
          <p:cNvSpPr/>
          <p:nvPr/>
        </p:nvSpPr>
        <p:spPr>
          <a:xfrm>
            <a:off x="1371600" y="2432304"/>
            <a:ext cx="6400800" cy="438912"/>
          </a:xfrm>
          <a:prstGeom prst="rect">
            <a:avLst/>
          </a:prstGeom>
          <a:noFill/>
          <a:ln/>
        </p:spPr>
        <p:txBody>
          <a:bodyPr wrap="square" rtlCol="0" anchor="ctr"/>
          <a:lstStyle/>
          <a:p>
            <a:pPr marL="0" indent="0">
              <a:buNone/>
            </a:pPr>
            <a:r>
              <a:rPr lang="en-US" sz="1500" b="1" dirty="0">
                <a:solidFill>
                  <a:srgbClr val="FFFFFF"/>
                </a:solidFill>
                <a:latin typeface="Arial" pitchFamily="34" charset="0"/>
                <a:ea typeface="Arial" pitchFamily="34" charset="-122"/>
                <a:cs typeface="Arial" pitchFamily="34" charset="-120"/>
              </a:rPr>
              <a:t>Các Module Chức năng</a:t>
            </a:r>
            <a:endParaRPr lang="en-US" sz="1500" dirty="0"/>
          </a:p>
        </p:txBody>
      </p:sp>
      <p:sp>
        <p:nvSpPr>
          <p:cNvPr id="16" name="Shape 14"/>
          <p:cNvSpPr/>
          <p:nvPr/>
        </p:nvSpPr>
        <p:spPr>
          <a:xfrm>
            <a:off x="548640" y="2962656"/>
            <a:ext cx="8046720" cy="438912"/>
          </a:xfrm>
          <a:prstGeom prst="roundRect">
            <a:avLst>
              <a:gd name="adj" fmla="val 250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7" name="Shape 15"/>
          <p:cNvSpPr/>
          <p:nvPr/>
        </p:nvSpPr>
        <p:spPr>
          <a:xfrm>
            <a:off x="731520" y="2980944"/>
            <a:ext cx="411480" cy="411480"/>
          </a:xfrm>
          <a:prstGeom prst="ellipse">
            <a:avLst/>
          </a:prstGeom>
          <a:solidFill>
            <a:srgbClr val="F97316"/>
          </a:solidFill>
          <a:ln/>
        </p:spPr>
        <p:txBody>
          <a:bodyPr/>
          <a:lstStyle/>
          <a:p>
            <a:endParaRPr lang="en-US"/>
          </a:p>
        </p:txBody>
      </p:sp>
      <p:sp>
        <p:nvSpPr>
          <p:cNvPr id="18" name="Text 16"/>
          <p:cNvSpPr/>
          <p:nvPr/>
        </p:nvSpPr>
        <p:spPr>
          <a:xfrm>
            <a:off x="731520" y="2980944"/>
            <a:ext cx="411480" cy="41148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04</a:t>
            </a:r>
            <a:endParaRPr lang="en-US" sz="1400" dirty="0"/>
          </a:p>
        </p:txBody>
      </p:sp>
      <p:sp>
        <p:nvSpPr>
          <p:cNvPr id="19" name="Text 17"/>
          <p:cNvSpPr/>
          <p:nvPr/>
        </p:nvSpPr>
        <p:spPr>
          <a:xfrm>
            <a:off x="1371600" y="2962656"/>
            <a:ext cx="6400800" cy="438912"/>
          </a:xfrm>
          <a:prstGeom prst="rect">
            <a:avLst/>
          </a:prstGeom>
          <a:noFill/>
          <a:ln/>
        </p:spPr>
        <p:txBody>
          <a:bodyPr wrap="square" rtlCol="0" anchor="ctr"/>
          <a:lstStyle/>
          <a:p>
            <a:pPr marL="0" indent="0">
              <a:buNone/>
            </a:pPr>
            <a:r>
              <a:rPr lang="en-US" sz="1500" b="1" dirty="0">
                <a:solidFill>
                  <a:srgbClr val="FFFFFF"/>
                </a:solidFill>
                <a:latin typeface="Arial" pitchFamily="34" charset="0"/>
                <a:ea typeface="Arial" pitchFamily="34" charset="-122"/>
                <a:cs typeface="Arial" pitchFamily="34" charset="-120"/>
              </a:rPr>
              <a:t>Công nghệ &amp; Kiến trúc</a:t>
            </a:r>
            <a:endParaRPr lang="en-US" sz="1500" dirty="0"/>
          </a:p>
        </p:txBody>
      </p:sp>
      <p:sp>
        <p:nvSpPr>
          <p:cNvPr id="20" name="Shape 18"/>
          <p:cNvSpPr/>
          <p:nvPr/>
        </p:nvSpPr>
        <p:spPr>
          <a:xfrm>
            <a:off x="548640" y="3493008"/>
            <a:ext cx="8046720" cy="438912"/>
          </a:xfrm>
          <a:prstGeom prst="roundRect">
            <a:avLst>
              <a:gd name="adj" fmla="val 250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21" name="Shape 19"/>
          <p:cNvSpPr/>
          <p:nvPr/>
        </p:nvSpPr>
        <p:spPr>
          <a:xfrm>
            <a:off x="731520" y="3511296"/>
            <a:ext cx="411480" cy="411480"/>
          </a:xfrm>
          <a:prstGeom prst="ellipse">
            <a:avLst/>
          </a:prstGeom>
          <a:solidFill>
            <a:srgbClr val="D4A017"/>
          </a:solidFill>
          <a:ln/>
        </p:spPr>
        <p:txBody>
          <a:bodyPr/>
          <a:lstStyle/>
          <a:p>
            <a:endParaRPr lang="en-US"/>
          </a:p>
        </p:txBody>
      </p:sp>
      <p:sp>
        <p:nvSpPr>
          <p:cNvPr id="22" name="Text 20"/>
          <p:cNvSpPr/>
          <p:nvPr/>
        </p:nvSpPr>
        <p:spPr>
          <a:xfrm>
            <a:off x="731520" y="3511296"/>
            <a:ext cx="411480" cy="41148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05</a:t>
            </a:r>
            <a:endParaRPr lang="en-US" sz="1400" dirty="0"/>
          </a:p>
        </p:txBody>
      </p:sp>
      <p:sp>
        <p:nvSpPr>
          <p:cNvPr id="23" name="Text 21"/>
          <p:cNvSpPr/>
          <p:nvPr/>
        </p:nvSpPr>
        <p:spPr>
          <a:xfrm>
            <a:off x="1371600" y="3493008"/>
            <a:ext cx="6400800" cy="438912"/>
          </a:xfrm>
          <a:prstGeom prst="rect">
            <a:avLst/>
          </a:prstGeom>
          <a:noFill/>
          <a:ln/>
        </p:spPr>
        <p:txBody>
          <a:bodyPr wrap="square" rtlCol="0" anchor="ctr"/>
          <a:lstStyle/>
          <a:p>
            <a:pPr marL="0" indent="0">
              <a:buNone/>
            </a:pPr>
            <a:r>
              <a:rPr lang="en-US" sz="1500" b="1" dirty="0">
                <a:solidFill>
                  <a:srgbClr val="FFFFFF"/>
                </a:solidFill>
                <a:latin typeface="Arial" pitchFamily="34" charset="0"/>
                <a:ea typeface="Arial" pitchFamily="34" charset="-122"/>
                <a:cs typeface="Arial" pitchFamily="34" charset="-120"/>
              </a:rPr>
              <a:t>Bảo mật &amp; Phân quyền</a:t>
            </a:r>
            <a:endParaRPr lang="en-US" sz="1500" dirty="0"/>
          </a:p>
        </p:txBody>
      </p:sp>
      <p:sp>
        <p:nvSpPr>
          <p:cNvPr id="24" name="Shape 22"/>
          <p:cNvSpPr/>
          <p:nvPr/>
        </p:nvSpPr>
        <p:spPr>
          <a:xfrm>
            <a:off x="548640" y="4023360"/>
            <a:ext cx="8046720" cy="438912"/>
          </a:xfrm>
          <a:prstGeom prst="roundRect">
            <a:avLst>
              <a:gd name="adj" fmla="val 250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25" name="Shape 23"/>
          <p:cNvSpPr/>
          <p:nvPr/>
        </p:nvSpPr>
        <p:spPr>
          <a:xfrm>
            <a:off x="731520" y="4041648"/>
            <a:ext cx="411480" cy="411480"/>
          </a:xfrm>
          <a:prstGeom prst="ellipse">
            <a:avLst/>
          </a:prstGeom>
          <a:solidFill>
            <a:srgbClr val="3B82F6"/>
          </a:solidFill>
          <a:ln/>
        </p:spPr>
        <p:txBody>
          <a:bodyPr/>
          <a:lstStyle/>
          <a:p>
            <a:endParaRPr lang="en-US"/>
          </a:p>
        </p:txBody>
      </p:sp>
      <p:sp>
        <p:nvSpPr>
          <p:cNvPr id="26" name="Text 24"/>
          <p:cNvSpPr/>
          <p:nvPr/>
        </p:nvSpPr>
        <p:spPr>
          <a:xfrm>
            <a:off x="731520" y="4041648"/>
            <a:ext cx="411480" cy="41148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06</a:t>
            </a:r>
            <a:endParaRPr lang="en-US" sz="1400" dirty="0"/>
          </a:p>
        </p:txBody>
      </p:sp>
      <p:sp>
        <p:nvSpPr>
          <p:cNvPr id="27" name="Text 25"/>
          <p:cNvSpPr/>
          <p:nvPr/>
        </p:nvSpPr>
        <p:spPr>
          <a:xfrm>
            <a:off x="1371600" y="4023360"/>
            <a:ext cx="6400800" cy="438912"/>
          </a:xfrm>
          <a:prstGeom prst="rect">
            <a:avLst/>
          </a:prstGeom>
          <a:noFill/>
          <a:ln/>
        </p:spPr>
        <p:txBody>
          <a:bodyPr wrap="square" rtlCol="0" anchor="ctr"/>
          <a:lstStyle/>
          <a:p>
            <a:pPr marL="0" indent="0">
              <a:buNone/>
            </a:pPr>
            <a:r>
              <a:rPr lang="en-US" sz="1500" b="1" dirty="0">
                <a:solidFill>
                  <a:srgbClr val="FFFFFF"/>
                </a:solidFill>
                <a:latin typeface="Arial" pitchFamily="34" charset="0"/>
                <a:ea typeface="Arial" pitchFamily="34" charset="-122"/>
                <a:cs typeface="Arial" pitchFamily="34" charset="-120"/>
              </a:rPr>
              <a:t>Lợi ích &amp; Giá trị</a:t>
            </a:r>
            <a:endParaRPr lang="en-US" sz="1500" dirty="0"/>
          </a:p>
        </p:txBody>
      </p:sp>
      <p:sp>
        <p:nvSpPr>
          <p:cNvPr id="28" name="Shape 26"/>
          <p:cNvSpPr/>
          <p:nvPr/>
        </p:nvSpPr>
        <p:spPr>
          <a:xfrm>
            <a:off x="548640" y="4553712"/>
            <a:ext cx="8046720" cy="438912"/>
          </a:xfrm>
          <a:prstGeom prst="roundRect">
            <a:avLst>
              <a:gd name="adj" fmla="val 250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29" name="Shape 27"/>
          <p:cNvSpPr/>
          <p:nvPr/>
        </p:nvSpPr>
        <p:spPr>
          <a:xfrm>
            <a:off x="731520" y="4572000"/>
            <a:ext cx="411480" cy="411480"/>
          </a:xfrm>
          <a:prstGeom prst="ellipse">
            <a:avLst/>
          </a:prstGeom>
          <a:solidFill>
            <a:srgbClr val="10B981"/>
          </a:solidFill>
          <a:ln/>
        </p:spPr>
        <p:txBody>
          <a:bodyPr/>
          <a:lstStyle/>
          <a:p>
            <a:endParaRPr lang="en-US"/>
          </a:p>
        </p:txBody>
      </p:sp>
      <p:sp>
        <p:nvSpPr>
          <p:cNvPr id="30" name="Text 28"/>
          <p:cNvSpPr/>
          <p:nvPr/>
        </p:nvSpPr>
        <p:spPr>
          <a:xfrm>
            <a:off x="731520" y="4572000"/>
            <a:ext cx="411480" cy="41148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07</a:t>
            </a:r>
            <a:endParaRPr lang="en-US" sz="1400" dirty="0"/>
          </a:p>
        </p:txBody>
      </p:sp>
      <p:sp>
        <p:nvSpPr>
          <p:cNvPr id="31" name="Text 29"/>
          <p:cNvSpPr/>
          <p:nvPr/>
        </p:nvSpPr>
        <p:spPr>
          <a:xfrm>
            <a:off x="1371600" y="4553712"/>
            <a:ext cx="6400800" cy="438912"/>
          </a:xfrm>
          <a:prstGeom prst="rect">
            <a:avLst/>
          </a:prstGeom>
          <a:noFill/>
          <a:ln/>
        </p:spPr>
        <p:txBody>
          <a:bodyPr wrap="square" rtlCol="0" anchor="ctr"/>
          <a:lstStyle/>
          <a:p>
            <a:pPr marL="0" indent="0">
              <a:buNone/>
            </a:pPr>
            <a:r>
              <a:rPr lang="en-US" sz="1500" b="1" dirty="0">
                <a:solidFill>
                  <a:srgbClr val="FFFFFF"/>
                </a:solidFill>
                <a:latin typeface="Arial" pitchFamily="34" charset="0"/>
                <a:ea typeface="Arial" pitchFamily="34" charset="-122"/>
                <a:cs typeface="Arial" pitchFamily="34" charset="-120"/>
              </a:rPr>
              <a:t>Lộ trình Triển khai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548640" y="274320"/>
            <a:ext cx="8046720" cy="548640"/>
          </a:xfrm>
          <a:prstGeom prst="rect">
            <a:avLst/>
          </a:prstGeom>
          <a:noFill/>
          <a:ln/>
        </p:spPr>
        <p:txBody>
          <a:bodyPr wrap="square" rtlCol="0" anchor="ctr"/>
          <a:lstStyle/>
          <a:p>
            <a:pPr marL="0" indent="0" algn="l">
              <a:buNone/>
            </a:pPr>
            <a:r>
              <a:rPr lang="en-US" sz="2800" b="1" dirty="0">
                <a:solidFill>
                  <a:srgbClr val="D4A017"/>
                </a:solidFill>
                <a:latin typeface="Arial" pitchFamily="34" charset="0"/>
                <a:ea typeface="Arial" pitchFamily="34" charset="-122"/>
                <a:cs typeface="Arial" pitchFamily="34" charset="-120"/>
              </a:rPr>
              <a:t>CUỘC CÁCH MẠNG CÔNG NGHIỆP &amp; CHUYỂN ĐỔI SỐ</a:t>
            </a:r>
            <a:endParaRPr lang="en-US" sz="2800" dirty="0"/>
          </a:p>
        </p:txBody>
      </p:sp>
      <p:sp>
        <p:nvSpPr>
          <p:cNvPr id="3" name="Text 1"/>
          <p:cNvSpPr/>
          <p:nvPr/>
        </p:nvSpPr>
        <p:spPr>
          <a:xfrm>
            <a:off x="548640" y="777240"/>
            <a:ext cx="8046720" cy="365760"/>
          </a:xfrm>
          <a:prstGeom prst="rect">
            <a:avLst/>
          </a:prstGeom>
          <a:noFill/>
          <a:ln/>
        </p:spPr>
        <p:txBody>
          <a:bodyPr wrap="square" rtlCol="0" anchor="ctr"/>
          <a:lstStyle/>
          <a:p>
            <a:pPr marL="0" indent="0" algn="l">
              <a:buNone/>
            </a:pPr>
            <a:r>
              <a:rPr lang="en-US" sz="1400" dirty="0">
                <a:solidFill>
                  <a:srgbClr val="8899AA"/>
                </a:solidFill>
                <a:latin typeface="Arial" pitchFamily="34" charset="0"/>
                <a:ea typeface="Arial" pitchFamily="34" charset="-122"/>
                <a:cs typeface="Arial" pitchFamily="34" charset="-120"/>
              </a:rPr>
              <a:t>Dữ liệu — tài sản cốt lõi trong kỷ nguyên 4.0</a:t>
            </a:r>
            <a:endParaRPr lang="en-US" sz="1400" dirty="0"/>
          </a:p>
        </p:txBody>
      </p:sp>
      <p:sp>
        <p:nvSpPr>
          <p:cNvPr id="4" name="Shape 2"/>
          <p:cNvSpPr/>
          <p:nvPr/>
        </p:nvSpPr>
        <p:spPr>
          <a:xfrm>
            <a:off x="548640" y="1143000"/>
            <a:ext cx="1371600" cy="36576"/>
          </a:xfrm>
          <a:prstGeom prst="rect">
            <a:avLst/>
          </a:prstGeom>
          <a:solidFill>
            <a:srgbClr val="D4A017"/>
          </a:solidFill>
          <a:ln/>
        </p:spPr>
        <p:txBody>
          <a:bodyPr/>
          <a:lstStyle/>
          <a:p>
            <a:endParaRPr lang="en-US"/>
          </a:p>
        </p:txBody>
      </p:sp>
      <p:sp>
        <p:nvSpPr>
          <p:cNvPr id="5" name="Shape 3"/>
          <p:cNvSpPr/>
          <p:nvPr/>
        </p:nvSpPr>
        <p:spPr>
          <a:xfrm>
            <a:off x="731520" y="1691640"/>
            <a:ext cx="7680960" cy="36576"/>
          </a:xfrm>
          <a:prstGeom prst="rect">
            <a:avLst/>
          </a:prstGeom>
          <a:solidFill>
            <a:srgbClr val="D4A017"/>
          </a:solidFill>
          <a:ln/>
        </p:spPr>
        <p:txBody>
          <a:bodyPr/>
          <a:lstStyle/>
          <a:p>
            <a:endParaRPr lang="en-US"/>
          </a:p>
        </p:txBody>
      </p:sp>
      <p:sp>
        <p:nvSpPr>
          <p:cNvPr id="6" name="Shape 4"/>
          <p:cNvSpPr/>
          <p:nvPr/>
        </p:nvSpPr>
        <p:spPr>
          <a:xfrm>
            <a:off x="1143000" y="1554480"/>
            <a:ext cx="274320" cy="274320"/>
          </a:xfrm>
          <a:prstGeom prst="ellipse">
            <a:avLst/>
          </a:prstGeom>
          <a:solidFill>
            <a:srgbClr val="8899AA"/>
          </a:solidFill>
          <a:ln/>
        </p:spPr>
        <p:txBody>
          <a:bodyPr/>
          <a:lstStyle/>
          <a:p>
            <a:endParaRPr lang="en-US"/>
          </a:p>
        </p:txBody>
      </p:sp>
      <p:sp>
        <p:nvSpPr>
          <p:cNvPr id="7" name="Shape 5"/>
          <p:cNvSpPr/>
          <p:nvPr/>
        </p:nvSpPr>
        <p:spPr>
          <a:xfrm>
            <a:off x="365760" y="2011680"/>
            <a:ext cx="1965960" cy="1645920"/>
          </a:xfrm>
          <a:prstGeom prst="roundRect">
            <a:avLst>
              <a:gd name="adj" fmla="val 6667"/>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8" name="Text 6"/>
          <p:cNvSpPr/>
          <p:nvPr/>
        </p:nvSpPr>
        <p:spPr>
          <a:xfrm>
            <a:off x="365760" y="2103120"/>
            <a:ext cx="1965960" cy="320040"/>
          </a:xfrm>
          <a:prstGeom prst="rect">
            <a:avLst/>
          </a:prstGeom>
          <a:noFill/>
          <a:ln/>
        </p:spPr>
        <p:txBody>
          <a:bodyPr wrap="square" rtlCol="0" anchor="ctr"/>
          <a:lstStyle/>
          <a:p>
            <a:pPr marL="0" indent="0" algn="ctr">
              <a:buNone/>
            </a:pPr>
            <a:r>
              <a:rPr lang="en-US" sz="1800" b="1" dirty="0">
                <a:solidFill>
                  <a:srgbClr val="8899AA"/>
                </a:solidFill>
                <a:latin typeface="Arial" pitchFamily="34" charset="0"/>
                <a:ea typeface="Arial" pitchFamily="34" charset="-122"/>
                <a:cs typeface="Arial" pitchFamily="34" charset="-120"/>
              </a:rPr>
              <a:t>1.0</a:t>
            </a:r>
            <a:endParaRPr lang="en-US" sz="1800" dirty="0"/>
          </a:p>
        </p:txBody>
      </p:sp>
      <p:sp>
        <p:nvSpPr>
          <p:cNvPr id="9" name="Text 7"/>
          <p:cNvSpPr/>
          <p:nvPr/>
        </p:nvSpPr>
        <p:spPr>
          <a:xfrm>
            <a:off x="365760" y="2377440"/>
            <a:ext cx="1965960" cy="182880"/>
          </a:xfrm>
          <a:prstGeom prst="rect">
            <a:avLst/>
          </a:prstGeom>
          <a:noFill/>
          <a:ln/>
        </p:spPr>
        <p:txBody>
          <a:bodyPr wrap="square" rtlCol="0" anchor="ctr"/>
          <a:lstStyle/>
          <a:p>
            <a:pPr marL="0" indent="0" algn="ctr">
              <a:buNone/>
            </a:pPr>
            <a:r>
              <a:rPr lang="en-US" sz="900" dirty="0">
                <a:solidFill>
                  <a:srgbClr val="8899AA"/>
                </a:solidFill>
                <a:latin typeface="Arial" pitchFamily="34" charset="0"/>
                <a:ea typeface="Arial" pitchFamily="34" charset="-122"/>
                <a:cs typeface="Arial" pitchFamily="34" charset="-120"/>
              </a:rPr>
              <a:t>Cuối TK 18</a:t>
            </a:r>
            <a:endParaRPr lang="en-US" sz="900" dirty="0"/>
          </a:p>
        </p:txBody>
      </p:sp>
      <p:sp>
        <p:nvSpPr>
          <p:cNvPr id="10" name="Text 8"/>
          <p:cNvSpPr/>
          <p:nvPr/>
        </p:nvSpPr>
        <p:spPr>
          <a:xfrm>
            <a:off x="365760" y="2606040"/>
            <a:ext cx="1965960" cy="274320"/>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Cơ giới hóa</a:t>
            </a:r>
            <a:endParaRPr lang="en-US" sz="1100" dirty="0"/>
          </a:p>
        </p:txBody>
      </p:sp>
      <p:sp>
        <p:nvSpPr>
          <p:cNvPr id="11" name="Shape 9"/>
          <p:cNvSpPr/>
          <p:nvPr/>
        </p:nvSpPr>
        <p:spPr>
          <a:xfrm>
            <a:off x="914400" y="2926080"/>
            <a:ext cx="868680" cy="18288"/>
          </a:xfrm>
          <a:prstGeom prst="rect">
            <a:avLst/>
          </a:prstGeom>
          <a:solidFill>
            <a:srgbClr val="8899AA"/>
          </a:solidFill>
          <a:ln/>
        </p:spPr>
        <p:txBody>
          <a:bodyPr/>
          <a:lstStyle/>
          <a:p>
            <a:endParaRPr lang="en-US"/>
          </a:p>
        </p:txBody>
      </p:sp>
      <p:sp>
        <p:nvSpPr>
          <p:cNvPr id="12" name="Text 10"/>
          <p:cNvSpPr/>
          <p:nvPr/>
        </p:nvSpPr>
        <p:spPr>
          <a:xfrm>
            <a:off x="457200" y="3017520"/>
            <a:ext cx="1783080" cy="548640"/>
          </a:xfrm>
          <a:prstGeom prst="rect">
            <a:avLst/>
          </a:prstGeom>
          <a:noFill/>
          <a:ln/>
        </p:spPr>
        <p:txBody>
          <a:bodyPr wrap="square" rtlCol="0" anchor="t"/>
          <a:lstStyle/>
          <a:p>
            <a:pPr marL="0" indent="0" algn="ctr">
              <a:lnSpc>
                <a:spcPct val="130000"/>
              </a:lnSpc>
              <a:buNone/>
            </a:pPr>
            <a:r>
              <a:rPr lang="en-US" sz="900" dirty="0">
                <a:solidFill>
                  <a:srgbClr val="8899AA"/>
                </a:solidFill>
                <a:latin typeface="Arial" pitchFamily="34" charset="0"/>
                <a:ea typeface="Arial" pitchFamily="34" charset="-122"/>
                <a:cs typeface="Arial" pitchFamily="34" charset="-120"/>
              </a:rPr>
              <a:t>Máy hơi nước thay sức lao động thủ công</a:t>
            </a:r>
            <a:endParaRPr lang="en-US" sz="900" dirty="0"/>
          </a:p>
        </p:txBody>
      </p:sp>
      <p:sp>
        <p:nvSpPr>
          <p:cNvPr id="13" name="Shape 11"/>
          <p:cNvSpPr/>
          <p:nvPr/>
        </p:nvSpPr>
        <p:spPr>
          <a:xfrm>
            <a:off x="3291840" y="1554480"/>
            <a:ext cx="274320" cy="274320"/>
          </a:xfrm>
          <a:prstGeom prst="ellipse">
            <a:avLst/>
          </a:prstGeom>
          <a:solidFill>
            <a:srgbClr val="8899AA"/>
          </a:solidFill>
          <a:ln/>
        </p:spPr>
        <p:txBody>
          <a:bodyPr/>
          <a:lstStyle/>
          <a:p>
            <a:endParaRPr lang="en-US"/>
          </a:p>
        </p:txBody>
      </p:sp>
      <p:sp>
        <p:nvSpPr>
          <p:cNvPr id="14" name="Shape 12"/>
          <p:cNvSpPr/>
          <p:nvPr/>
        </p:nvSpPr>
        <p:spPr>
          <a:xfrm>
            <a:off x="2514600" y="2011680"/>
            <a:ext cx="1965960" cy="1645920"/>
          </a:xfrm>
          <a:prstGeom prst="roundRect">
            <a:avLst>
              <a:gd name="adj" fmla="val 6667"/>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5" name="Text 13"/>
          <p:cNvSpPr/>
          <p:nvPr/>
        </p:nvSpPr>
        <p:spPr>
          <a:xfrm>
            <a:off x="2514600" y="2103120"/>
            <a:ext cx="1965960" cy="320040"/>
          </a:xfrm>
          <a:prstGeom prst="rect">
            <a:avLst/>
          </a:prstGeom>
          <a:noFill/>
          <a:ln/>
        </p:spPr>
        <p:txBody>
          <a:bodyPr wrap="square" rtlCol="0" anchor="ctr"/>
          <a:lstStyle/>
          <a:p>
            <a:pPr marL="0" indent="0" algn="ctr">
              <a:buNone/>
            </a:pPr>
            <a:r>
              <a:rPr lang="en-US" sz="1800" b="1" dirty="0">
                <a:solidFill>
                  <a:srgbClr val="8899AA"/>
                </a:solidFill>
                <a:latin typeface="Arial" pitchFamily="34" charset="0"/>
                <a:ea typeface="Arial" pitchFamily="34" charset="-122"/>
                <a:cs typeface="Arial" pitchFamily="34" charset="-120"/>
              </a:rPr>
              <a:t>2.0</a:t>
            </a:r>
            <a:endParaRPr lang="en-US" sz="1800" dirty="0"/>
          </a:p>
        </p:txBody>
      </p:sp>
      <p:sp>
        <p:nvSpPr>
          <p:cNvPr id="16" name="Text 14"/>
          <p:cNvSpPr/>
          <p:nvPr/>
        </p:nvSpPr>
        <p:spPr>
          <a:xfrm>
            <a:off x="2514600" y="2377440"/>
            <a:ext cx="1965960" cy="182880"/>
          </a:xfrm>
          <a:prstGeom prst="rect">
            <a:avLst/>
          </a:prstGeom>
          <a:noFill/>
          <a:ln/>
        </p:spPr>
        <p:txBody>
          <a:bodyPr wrap="square" rtlCol="0" anchor="ctr"/>
          <a:lstStyle/>
          <a:p>
            <a:pPr marL="0" indent="0" algn="ctr">
              <a:buNone/>
            </a:pPr>
            <a:r>
              <a:rPr lang="en-US" sz="900" dirty="0">
                <a:solidFill>
                  <a:srgbClr val="8899AA"/>
                </a:solidFill>
                <a:latin typeface="Arial" pitchFamily="34" charset="0"/>
                <a:ea typeface="Arial" pitchFamily="34" charset="-122"/>
                <a:cs typeface="Arial" pitchFamily="34" charset="-120"/>
              </a:rPr>
              <a:t>Cuối TK 19</a:t>
            </a:r>
            <a:endParaRPr lang="en-US" sz="900" dirty="0"/>
          </a:p>
        </p:txBody>
      </p:sp>
      <p:sp>
        <p:nvSpPr>
          <p:cNvPr id="17" name="Text 15"/>
          <p:cNvSpPr/>
          <p:nvPr/>
        </p:nvSpPr>
        <p:spPr>
          <a:xfrm>
            <a:off x="2514600" y="2606040"/>
            <a:ext cx="1965960" cy="274320"/>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Sản xuất hàng loạt</a:t>
            </a:r>
            <a:endParaRPr lang="en-US" sz="1100" dirty="0"/>
          </a:p>
        </p:txBody>
      </p:sp>
      <p:sp>
        <p:nvSpPr>
          <p:cNvPr id="18" name="Shape 16"/>
          <p:cNvSpPr/>
          <p:nvPr/>
        </p:nvSpPr>
        <p:spPr>
          <a:xfrm>
            <a:off x="3063240" y="2926080"/>
            <a:ext cx="868680" cy="18288"/>
          </a:xfrm>
          <a:prstGeom prst="rect">
            <a:avLst/>
          </a:prstGeom>
          <a:solidFill>
            <a:srgbClr val="8899AA"/>
          </a:solidFill>
          <a:ln/>
        </p:spPr>
        <p:txBody>
          <a:bodyPr/>
          <a:lstStyle/>
          <a:p>
            <a:endParaRPr lang="en-US"/>
          </a:p>
        </p:txBody>
      </p:sp>
      <p:sp>
        <p:nvSpPr>
          <p:cNvPr id="19" name="Text 17"/>
          <p:cNvSpPr/>
          <p:nvPr/>
        </p:nvSpPr>
        <p:spPr>
          <a:xfrm>
            <a:off x="2606040" y="3017520"/>
            <a:ext cx="1783080" cy="548640"/>
          </a:xfrm>
          <a:prstGeom prst="rect">
            <a:avLst/>
          </a:prstGeom>
          <a:noFill/>
          <a:ln/>
        </p:spPr>
        <p:txBody>
          <a:bodyPr wrap="square" rtlCol="0" anchor="t"/>
          <a:lstStyle/>
          <a:p>
            <a:pPr marL="0" indent="0" algn="ctr">
              <a:lnSpc>
                <a:spcPct val="130000"/>
              </a:lnSpc>
              <a:buNone/>
            </a:pPr>
            <a:r>
              <a:rPr lang="en-US" sz="900" dirty="0">
                <a:solidFill>
                  <a:srgbClr val="8899AA"/>
                </a:solidFill>
                <a:latin typeface="Arial" pitchFamily="34" charset="0"/>
                <a:ea typeface="Arial" pitchFamily="34" charset="-122"/>
                <a:cs typeface="Arial" pitchFamily="34" charset="-120"/>
              </a:rPr>
              <a:t>Điện khí hóa, công nghiệp hiện đại</a:t>
            </a:r>
            <a:endParaRPr lang="en-US" sz="900" dirty="0"/>
          </a:p>
        </p:txBody>
      </p:sp>
      <p:sp>
        <p:nvSpPr>
          <p:cNvPr id="20" name="Shape 18"/>
          <p:cNvSpPr/>
          <p:nvPr/>
        </p:nvSpPr>
        <p:spPr>
          <a:xfrm>
            <a:off x="5440680" y="1554480"/>
            <a:ext cx="274320" cy="274320"/>
          </a:xfrm>
          <a:prstGeom prst="ellipse">
            <a:avLst/>
          </a:prstGeom>
          <a:solidFill>
            <a:srgbClr val="3B82F6"/>
          </a:solidFill>
          <a:ln/>
        </p:spPr>
        <p:txBody>
          <a:bodyPr/>
          <a:lstStyle/>
          <a:p>
            <a:endParaRPr lang="en-US"/>
          </a:p>
        </p:txBody>
      </p:sp>
      <p:sp>
        <p:nvSpPr>
          <p:cNvPr id="21" name="Shape 19"/>
          <p:cNvSpPr/>
          <p:nvPr/>
        </p:nvSpPr>
        <p:spPr>
          <a:xfrm>
            <a:off x="4663440" y="2011680"/>
            <a:ext cx="1965960" cy="1645920"/>
          </a:xfrm>
          <a:prstGeom prst="roundRect">
            <a:avLst>
              <a:gd name="adj" fmla="val 6667"/>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22" name="Text 20"/>
          <p:cNvSpPr/>
          <p:nvPr/>
        </p:nvSpPr>
        <p:spPr>
          <a:xfrm>
            <a:off x="4663440" y="2103120"/>
            <a:ext cx="1965960" cy="320040"/>
          </a:xfrm>
          <a:prstGeom prst="rect">
            <a:avLst/>
          </a:prstGeom>
          <a:noFill/>
          <a:ln/>
        </p:spPr>
        <p:txBody>
          <a:bodyPr wrap="square" rtlCol="0" anchor="ctr"/>
          <a:lstStyle/>
          <a:p>
            <a:pPr marL="0" indent="0" algn="ctr">
              <a:buNone/>
            </a:pPr>
            <a:r>
              <a:rPr lang="en-US" sz="1800" b="1" dirty="0">
                <a:solidFill>
                  <a:srgbClr val="3B82F6"/>
                </a:solidFill>
                <a:latin typeface="Arial" pitchFamily="34" charset="0"/>
                <a:ea typeface="Arial" pitchFamily="34" charset="-122"/>
                <a:cs typeface="Arial" pitchFamily="34" charset="-120"/>
              </a:rPr>
              <a:t>3.0</a:t>
            </a:r>
            <a:endParaRPr lang="en-US" sz="1800" dirty="0"/>
          </a:p>
        </p:txBody>
      </p:sp>
      <p:sp>
        <p:nvSpPr>
          <p:cNvPr id="23" name="Text 21"/>
          <p:cNvSpPr/>
          <p:nvPr/>
        </p:nvSpPr>
        <p:spPr>
          <a:xfrm>
            <a:off x="4663440" y="2377440"/>
            <a:ext cx="1965960" cy="182880"/>
          </a:xfrm>
          <a:prstGeom prst="rect">
            <a:avLst/>
          </a:prstGeom>
          <a:noFill/>
          <a:ln/>
        </p:spPr>
        <p:txBody>
          <a:bodyPr wrap="square" rtlCol="0" anchor="ctr"/>
          <a:lstStyle/>
          <a:p>
            <a:pPr marL="0" indent="0" algn="ctr">
              <a:buNone/>
            </a:pPr>
            <a:r>
              <a:rPr lang="en-US" sz="900" dirty="0">
                <a:solidFill>
                  <a:srgbClr val="8899AA"/>
                </a:solidFill>
                <a:latin typeface="Arial" pitchFamily="34" charset="0"/>
                <a:ea typeface="Arial" pitchFamily="34" charset="-122"/>
                <a:cs typeface="Arial" pitchFamily="34" charset="-120"/>
              </a:rPr>
              <a:t>Giữa TK 20</a:t>
            </a:r>
            <a:endParaRPr lang="en-US" sz="900" dirty="0"/>
          </a:p>
        </p:txBody>
      </p:sp>
      <p:sp>
        <p:nvSpPr>
          <p:cNvPr id="24" name="Text 22"/>
          <p:cNvSpPr/>
          <p:nvPr/>
        </p:nvSpPr>
        <p:spPr>
          <a:xfrm>
            <a:off x="4663440" y="2606040"/>
            <a:ext cx="1965960" cy="274320"/>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Tự động hóa</a:t>
            </a:r>
            <a:endParaRPr lang="en-US" sz="1100" dirty="0"/>
          </a:p>
        </p:txBody>
      </p:sp>
      <p:sp>
        <p:nvSpPr>
          <p:cNvPr id="25" name="Shape 23"/>
          <p:cNvSpPr/>
          <p:nvPr/>
        </p:nvSpPr>
        <p:spPr>
          <a:xfrm>
            <a:off x="5212080" y="2926080"/>
            <a:ext cx="868680" cy="18288"/>
          </a:xfrm>
          <a:prstGeom prst="rect">
            <a:avLst/>
          </a:prstGeom>
          <a:solidFill>
            <a:srgbClr val="3B82F6"/>
          </a:solidFill>
          <a:ln/>
        </p:spPr>
        <p:txBody>
          <a:bodyPr/>
          <a:lstStyle/>
          <a:p>
            <a:endParaRPr lang="en-US"/>
          </a:p>
        </p:txBody>
      </p:sp>
      <p:sp>
        <p:nvSpPr>
          <p:cNvPr id="26" name="Text 24"/>
          <p:cNvSpPr/>
          <p:nvPr/>
        </p:nvSpPr>
        <p:spPr>
          <a:xfrm>
            <a:off x="4754880" y="3017520"/>
            <a:ext cx="1783080" cy="548640"/>
          </a:xfrm>
          <a:prstGeom prst="rect">
            <a:avLst/>
          </a:prstGeom>
          <a:noFill/>
          <a:ln/>
        </p:spPr>
        <p:txBody>
          <a:bodyPr wrap="square" rtlCol="0" anchor="t"/>
          <a:lstStyle/>
          <a:p>
            <a:pPr marL="0" indent="0" algn="ctr">
              <a:lnSpc>
                <a:spcPct val="130000"/>
              </a:lnSpc>
              <a:buNone/>
            </a:pPr>
            <a:r>
              <a:rPr lang="en-US" sz="900" dirty="0">
                <a:solidFill>
                  <a:srgbClr val="8899AA"/>
                </a:solidFill>
                <a:latin typeface="Arial" pitchFamily="34" charset="0"/>
                <a:ea typeface="Arial" pitchFamily="34" charset="-122"/>
                <a:cs typeface="Arial" pitchFamily="34" charset="-120"/>
              </a:rPr>
              <a:t>Máy tính, Internet, kết nối toàn cầu</a:t>
            </a:r>
            <a:endParaRPr lang="en-US" sz="900" dirty="0"/>
          </a:p>
        </p:txBody>
      </p:sp>
      <p:sp>
        <p:nvSpPr>
          <p:cNvPr id="27" name="Shape 25"/>
          <p:cNvSpPr/>
          <p:nvPr/>
        </p:nvSpPr>
        <p:spPr>
          <a:xfrm>
            <a:off x="7589520" y="1554480"/>
            <a:ext cx="274320" cy="274320"/>
          </a:xfrm>
          <a:prstGeom prst="ellipse">
            <a:avLst/>
          </a:prstGeom>
          <a:solidFill>
            <a:srgbClr val="D4A017"/>
          </a:solidFill>
          <a:ln/>
        </p:spPr>
        <p:txBody>
          <a:bodyPr/>
          <a:lstStyle/>
          <a:p>
            <a:endParaRPr lang="en-US"/>
          </a:p>
        </p:txBody>
      </p:sp>
      <p:sp>
        <p:nvSpPr>
          <p:cNvPr id="28" name="Shape 26"/>
          <p:cNvSpPr/>
          <p:nvPr/>
        </p:nvSpPr>
        <p:spPr>
          <a:xfrm>
            <a:off x="6812280" y="2011680"/>
            <a:ext cx="1965960" cy="1645920"/>
          </a:xfrm>
          <a:prstGeom prst="roundRect">
            <a:avLst>
              <a:gd name="adj" fmla="val 6667"/>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29" name="Text 27"/>
          <p:cNvSpPr/>
          <p:nvPr/>
        </p:nvSpPr>
        <p:spPr>
          <a:xfrm>
            <a:off x="6812280" y="2103120"/>
            <a:ext cx="1965960" cy="320040"/>
          </a:xfrm>
          <a:prstGeom prst="rect">
            <a:avLst/>
          </a:prstGeom>
          <a:noFill/>
          <a:ln/>
        </p:spPr>
        <p:txBody>
          <a:bodyPr wrap="square" rtlCol="0" anchor="ctr"/>
          <a:lstStyle/>
          <a:p>
            <a:pPr marL="0" indent="0" algn="ctr">
              <a:buNone/>
            </a:pPr>
            <a:r>
              <a:rPr lang="en-US" sz="1800" b="1" dirty="0">
                <a:solidFill>
                  <a:srgbClr val="D4A017"/>
                </a:solidFill>
                <a:latin typeface="Arial" pitchFamily="34" charset="0"/>
                <a:ea typeface="Arial" pitchFamily="34" charset="-122"/>
                <a:cs typeface="Arial" pitchFamily="34" charset="-120"/>
              </a:rPr>
              <a:t>4.0</a:t>
            </a:r>
            <a:endParaRPr lang="en-US" sz="1800" dirty="0"/>
          </a:p>
        </p:txBody>
      </p:sp>
      <p:sp>
        <p:nvSpPr>
          <p:cNvPr id="30" name="Text 28"/>
          <p:cNvSpPr/>
          <p:nvPr/>
        </p:nvSpPr>
        <p:spPr>
          <a:xfrm>
            <a:off x="6812280" y="2377440"/>
            <a:ext cx="1965960" cy="182880"/>
          </a:xfrm>
          <a:prstGeom prst="rect">
            <a:avLst/>
          </a:prstGeom>
          <a:noFill/>
          <a:ln/>
        </p:spPr>
        <p:txBody>
          <a:bodyPr wrap="square" rtlCol="0" anchor="ctr"/>
          <a:lstStyle/>
          <a:p>
            <a:pPr marL="0" indent="0" algn="ctr">
              <a:buNone/>
            </a:pPr>
            <a:r>
              <a:rPr lang="en-US" sz="900" dirty="0">
                <a:solidFill>
                  <a:srgbClr val="8899AA"/>
                </a:solidFill>
                <a:latin typeface="Arial" pitchFamily="34" charset="0"/>
                <a:ea typeface="Arial" pitchFamily="34" charset="-122"/>
                <a:cs typeface="Arial" pitchFamily="34" charset="-120"/>
              </a:rPr>
              <a:t>Hiện tại</a:t>
            </a:r>
            <a:endParaRPr lang="en-US" sz="900" dirty="0"/>
          </a:p>
        </p:txBody>
      </p:sp>
      <p:sp>
        <p:nvSpPr>
          <p:cNvPr id="31" name="Text 29"/>
          <p:cNvSpPr/>
          <p:nvPr/>
        </p:nvSpPr>
        <p:spPr>
          <a:xfrm>
            <a:off x="6812280" y="2606040"/>
            <a:ext cx="1965960" cy="274320"/>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Số hóa toàn diện</a:t>
            </a:r>
            <a:endParaRPr lang="en-US" sz="1100" dirty="0"/>
          </a:p>
        </p:txBody>
      </p:sp>
      <p:sp>
        <p:nvSpPr>
          <p:cNvPr id="32" name="Shape 30"/>
          <p:cNvSpPr/>
          <p:nvPr/>
        </p:nvSpPr>
        <p:spPr>
          <a:xfrm>
            <a:off x="7360920" y="2926080"/>
            <a:ext cx="868680" cy="18288"/>
          </a:xfrm>
          <a:prstGeom prst="rect">
            <a:avLst/>
          </a:prstGeom>
          <a:solidFill>
            <a:srgbClr val="D4A017"/>
          </a:solidFill>
          <a:ln/>
        </p:spPr>
        <p:txBody>
          <a:bodyPr/>
          <a:lstStyle/>
          <a:p>
            <a:endParaRPr lang="en-US"/>
          </a:p>
        </p:txBody>
      </p:sp>
      <p:sp>
        <p:nvSpPr>
          <p:cNvPr id="33" name="Text 31"/>
          <p:cNvSpPr/>
          <p:nvPr/>
        </p:nvSpPr>
        <p:spPr>
          <a:xfrm>
            <a:off x="6903720" y="3017520"/>
            <a:ext cx="1783080" cy="548640"/>
          </a:xfrm>
          <a:prstGeom prst="rect">
            <a:avLst/>
          </a:prstGeom>
          <a:noFill/>
          <a:ln/>
        </p:spPr>
        <p:txBody>
          <a:bodyPr wrap="square" rtlCol="0" anchor="t"/>
          <a:lstStyle/>
          <a:p>
            <a:pPr marL="0" indent="0" algn="ctr">
              <a:lnSpc>
                <a:spcPct val="130000"/>
              </a:lnSpc>
              <a:buNone/>
            </a:pPr>
            <a:r>
              <a:rPr lang="en-US" sz="900" dirty="0">
                <a:solidFill>
                  <a:srgbClr val="8899AA"/>
                </a:solidFill>
                <a:latin typeface="Arial" pitchFamily="34" charset="0"/>
                <a:ea typeface="Arial" pitchFamily="34" charset="-122"/>
                <a:cs typeface="Arial" pitchFamily="34" charset="-120"/>
              </a:rPr>
              <a:t>AI, IoT, BIM — dữ liệu là tài sản</a:t>
            </a:r>
            <a:endParaRPr lang="en-US" sz="900" dirty="0"/>
          </a:p>
        </p:txBody>
      </p:sp>
      <p:sp>
        <p:nvSpPr>
          <p:cNvPr id="34" name="Shape 32"/>
          <p:cNvSpPr/>
          <p:nvPr/>
        </p:nvSpPr>
        <p:spPr>
          <a:xfrm>
            <a:off x="365760" y="3931920"/>
            <a:ext cx="8412480" cy="731520"/>
          </a:xfrm>
          <a:prstGeom prst="roundRect">
            <a:avLst>
              <a:gd name="adj" fmla="val 150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35" name="Text 33"/>
          <p:cNvSpPr/>
          <p:nvPr/>
        </p:nvSpPr>
        <p:spPr>
          <a:xfrm>
            <a:off x="640080" y="3977640"/>
            <a:ext cx="7955280" cy="640080"/>
          </a:xfrm>
          <a:prstGeom prst="rect">
            <a:avLst/>
          </a:prstGeom>
          <a:noFill/>
          <a:ln/>
        </p:spPr>
        <p:txBody>
          <a:bodyPr wrap="square" rtlCol="0" anchor="ctr"/>
          <a:lstStyle/>
          <a:p>
            <a:pPr marL="0" indent="0">
              <a:buNone/>
            </a:pPr>
            <a:r>
              <a:rPr lang="en-US" sz="1600" dirty="0">
                <a:solidFill>
                  <a:srgbClr val="000000"/>
                </a:solidFill>
                <a:latin typeface="Arial" pitchFamily="34" charset="0"/>
                <a:ea typeface="Arial" pitchFamily="34" charset="-122"/>
                <a:cs typeface="Arial" pitchFamily="34" charset="-120"/>
              </a:rPr>
              <a:t>💡  </a:t>
            </a:r>
            <a:r>
              <a:rPr lang="en-US" sz="1300" i="1" dirty="0">
                <a:solidFill>
                  <a:srgbClr val="F0D68A"/>
                </a:solidFill>
                <a:latin typeface="Arial" pitchFamily="34" charset="0"/>
                <a:ea typeface="Arial" pitchFamily="34" charset="-122"/>
                <a:cs typeface="Arial" pitchFamily="34" charset="-120"/>
              </a:rPr>
              <a:t>Tổ chức nào làm chủ dữ liệu sớm — tổ chức đó sẽ quản lý hiệu quả hơn, minh bạch hơn và tiết kiệm nguồn lực hơn.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13E"/>
        </a:solidFill>
        <a:effectLst/>
      </p:bgPr>
    </p:bg>
    <p:spTree>
      <p:nvGrpSpPr>
        <p:cNvPr id="1" name=""/>
        <p:cNvGrpSpPr/>
        <p:nvPr/>
      </p:nvGrpSpPr>
      <p:grpSpPr>
        <a:xfrm>
          <a:off x="0" y="0"/>
          <a:ext cx="0" cy="0"/>
          <a:chOff x="0" y="0"/>
          <a:chExt cx="0" cy="0"/>
        </a:xfrm>
      </p:grpSpPr>
      <p:sp>
        <p:nvSpPr>
          <p:cNvPr id="2" name="Text 0"/>
          <p:cNvSpPr/>
          <p:nvPr/>
        </p:nvSpPr>
        <p:spPr>
          <a:xfrm>
            <a:off x="548640" y="274320"/>
            <a:ext cx="8046720" cy="548640"/>
          </a:xfrm>
          <a:prstGeom prst="rect">
            <a:avLst/>
          </a:prstGeom>
          <a:noFill/>
          <a:ln/>
        </p:spPr>
        <p:txBody>
          <a:bodyPr wrap="square" rtlCol="0" anchor="ctr"/>
          <a:lstStyle/>
          <a:p>
            <a:r>
              <a:rPr sz="2800" b="1">
                <a:solidFill>
                  <a:srgbClr val="D4A017"/>
                </a:solidFill>
                <a:latin typeface="Arial"/>
              </a:rPr>
              <a:t>NỀN TẢNG PHÁP LÝ</a:t>
            </a:r>
          </a:p>
        </p:txBody>
      </p:sp>
      <p:sp>
        <p:nvSpPr>
          <p:cNvPr id="3" name="Text 1"/>
          <p:cNvSpPr/>
          <p:nvPr/>
        </p:nvSpPr>
        <p:spPr>
          <a:xfrm>
            <a:off x="548640" y="777240"/>
            <a:ext cx="8046720" cy="365760"/>
          </a:xfrm>
          <a:prstGeom prst="rect">
            <a:avLst/>
          </a:prstGeom>
          <a:noFill/>
          <a:ln/>
        </p:spPr>
        <p:txBody>
          <a:bodyPr wrap="square" rtlCol="0" anchor="ctr"/>
          <a:lstStyle/>
          <a:p>
            <a:r>
              <a:rPr sz="1400">
                <a:solidFill>
                  <a:srgbClr val="8899AA"/>
                </a:solidFill>
                <a:latin typeface="Arial"/>
              </a:rPr>
              <a:t>Hành lang pháp lý cho chuyển đổi số ngành xây dựng</a:t>
            </a:r>
          </a:p>
        </p:txBody>
      </p:sp>
      <p:sp>
        <p:nvSpPr>
          <p:cNvPr id="4" name="Shape 2"/>
          <p:cNvSpPr/>
          <p:nvPr/>
        </p:nvSpPr>
        <p:spPr>
          <a:xfrm>
            <a:off x="548640" y="1143000"/>
            <a:ext cx="1371600" cy="36576"/>
          </a:xfrm>
          <a:prstGeom prst="rect">
            <a:avLst/>
          </a:prstGeom>
          <a:solidFill>
            <a:srgbClr val="D4A017"/>
          </a:solidFill>
          <a:ln/>
        </p:spPr>
        <p:txBody>
          <a:bodyPr/>
          <a:lstStyle/>
          <a:p>
            <a:endParaRPr/>
          </a:p>
        </p:txBody>
      </p:sp>
      <p:sp>
        <p:nvSpPr>
          <p:cNvPr id="5" name="Shape 3"/>
          <p:cNvSpPr/>
          <p:nvPr/>
        </p:nvSpPr>
        <p:spPr>
          <a:xfrm>
            <a:off x="365760" y="1371600"/>
            <a:ext cx="4023360" cy="3291840"/>
          </a:xfrm>
          <a:prstGeom prst="roundRect">
            <a:avLst>
              <a:gd name="adj" fmla="val 3333"/>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a:p>
        </p:txBody>
      </p:sp>
      <p:sp>
        <p:nvSpPr>
          <p:cNvPr id="6" name="Text 4"/>
          <p:cNvSpPr/>
          <p:nvPr/>
        </p:nvSpPr>
        <p:spPr>
          <a:xfrm>
            <a:off x="548640" y="1463040"/>
            <a:ext cx="3657600" cy="365760"/>
          </a:xfrm>
          <a:prstGeom prst="rect">
            <a:avLst/>
          </a:prstGeom>
          <a:noFill/>
          <a:ln/>
        </p:spPr>
        <p:txBody>
          <a:bodyPr wrap="square" rtlCol="0" anchor="ctr"/>
          <a:lstStyle/>
          <a:p>
            <a:r>
              <a:rPr sz="1300" b="1">
                <a:solidFill>
                  <a:srgbClr val="8899AA"/>
                </a:solidFill>
                <a:latin typeface="Arial"/>
              </a:rPr>
              <a:t>📅  2019 — 2023</a:t>
            </a:r>
          </a:p>
        </p:txBody>
      </p:sp>
      <p:sp>
        <p:nvSpPr>
          <p:cNvPr id="7" name="Text 5"/>
          <p:cNvSpPr/>
          <p:nvPr/>
        </p:nvSpPr>
        <p:spPr>
          <a:xfrm>
            <a:off x="548640" y="1920240"/>
            <a:ext cx="3657600" cy="2560320"/>
          </a:xfrm>
          <a:prstGeom prst="rect">
            <a:avLst/>
          </a:prstGeom>
          <a:noFill/>
          <a:ln/>
        </p:spPr>
        <p:txBody>
          <a:bodyPr wrap="square" rtlCol="0" anchor="t"/>
          <a:lstStyle/>
          <a:p>
            <a:pPr>
              <a:spcAft>
                <a:spcPts val="100"/>
              </a:spcAft>
              <a:buSzPct val="100000"/>
            </a:pPr>
            <a:r>
              <a:rPr sz="1000" b="1">
                <a:solidFill>
                  <a:srgbClr val="E8E8E8"/>
                </a:solidFill>
                <a:latin typeface="Arial"/>
              </a:rPr>
              <a:t>2019  │  NQ 52-NQ/TW</a:t>
            </a:r>
            <a:endParaRPr lang="en-US" sz="1100" dirty="0"/>
          </a:p>
          <a:p>
            <a:pPr>
              <a:spcAft>
                <a:spcPts val="600"/>
              </a:spcAft>
            </a:pPr>
            <a:r>
              <a:rPr sz="850">
                <a:solidFill>
                  <a:srgbClr val="8899AA"/>
                </a:solidFill>
                <a:latin typeface="Arial"/>
              </a:rPr>
              <a:t>     Chủ trương tham gia CMCN 4.0, CĐS quốc gia</a:t>
            </a:r>
          </a:p>
          <a:p>
            <a:pPr>
              <a:spcAft>
                <a:spcPts val="100"/>
              </a:spcAft>
            </a:pPr>
            <a:r>
              <a:rPr sz="1000" b="1">
                <a:solidFill>
                  <a:srgbClr val="E8E8E8"/>
                </a:solidFill>
                <a:latin typeface="Arial"/>
              </a:rPr>
              <a:t>2020  │  QĐ 749/QĐ-TTg</a:t>
            </a:r>
          </a:p>
          <a:p>
            <a:pPr>
              <a:spcAft>
                <a:spcPts val="600"/>
              </a:spcAft>
            </a:pPr>
            <a:r>
              <a:rPr sz="850">
                <a:solidFill>
                  <a:srgbClr val="8899AA"/>
                </a:solidFill>
                <a:latin typeface="Arial"/>
              </a:rPr>
              <a:t>     Chương trình CĐS quốc gia — AI, Big Data, BIM</a:t>
            </a:r>
          </a:p>
          <a:p>
            <a:pPr>
              <a:spcAft>
                <a:spcPts val="100"/>
              </a:spcAft>
            </a:pPr>
            <a:r>
              <a:rPr sz="1000" b="1">
                <a:solidFill>
                  <a:srgbClr val="E8E8E8"/>
                </a:solidFill>
                <a:latin typeface="Arial"/>
              </a:rPr>
              <a:t>2023  │  QĐ 258/QĐ-TTg</a:t>
            </a:r>
          </a:p>
          <a:p>
            <a:pPr>
              <a:spcAft>
                <a:spcPts val="600"/>
              </a:spcAft>
            </a:pPr>
            <a:r>
              <a:rPr sz="850">
                <a:solidFill>
                  <a:srgbClr val="8899AA"/>
                </a:solidFill>
                <a:latin typeface="Arial"/>
              </a:rPr>
              <a:t>     Lộ trình áp dụng BIM — bắt buộc nhóm B</a:t>
            </a:r>
          </a:p>
        </p:txBody>
      </p:sp>
      <p:sp>
        <p:nvSpPr>
          <p:cNvPr id="8" name="Shape 6"/>
          <p:cNvSpPr/>
          <p:nvPr/>
        </p:nvSpPr>
        <p:spPr>
          <a:xfrm>
            <a:off x="4754880" y="1371600"/>
            <a:ext cx="4023360" cy="3291840"/>
          </a:xfrm>
          <a:prstGeom prst="roundRect">
            <a:avLst>
              <a:gd name="adj" fmla="val 3333"/>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a:p>
        </p:txBody>
      </p:sp>
      <p:sp>
        <p:nvSpPr>
          <p:cNvPr id="9" name="Text 7"/>
          <p:cNvSpPr/>
          <p:nvPr/>
        </p:nvSpPr>
        <p:spPr>
          <a:xfrm>
            <a:off x="4937760" y="1463040"/>
            <a:ext cx="3657600" cy="365760"/>
          </a:xfrm>
          <a:prstGeom prst="rect">
            <a:avLst/>
          </a:prstGeom>
          <a:noFill/>
          <a:ln/>
        </p:spPr>
        <p:txBody>
          <a:bodyPr wrap="square" rtlCol="0" anchor="ctr"/>
          <a:lstStyle/>
          <a:p>
            <a:r>
              <a:rPr sz="1300" b="1">
                <a:solidFill>
                  <a:srgbClr val="D4A017"/>
                </a:solidFill>
                <a:latin typeface="Arial"/>
              </a:rPr>
              <a:t>📅  2024 — 2025</a:t>
            </a:r>
          </a:p>
        </p:txBody>
      </p:sp>
      <p:sp>
        <p:nvSpPr>
          <p:cNvPr id="10" name="Text 8"/>
          <p:cNvSpPr/>
          <p:nvPr/>
        </p:nvSpPr>
        <p:spPr>
          <a:xfrm>
            <a:off x="4937760" y="1920240"/>
            <a:ext cx="3657600" cy="2560320"/>
          </a:xfrm>
          <a:prstGeom prst="rect">
            <a:avLst/>
          </a:prstGeom>
          <a:noFill/>
          <a:ln/>
        </p:spPr>
        <p:txBody>
          <a:bodyPr wrap="square" rtlCol="0" anchor="t"/>
          <a:lstStyle/>
          <a:p>
            <a:pPr>
              <a:spcAft>
                <a:spcPts val="0"/>
              </a:spcAft>
            </a:pPr>
            <a:r>
              <a:rPr sz="900" b="1">
                <a:solidFill>
                  <a:srgbClr val="D4A017"/>
                </a:solidFill>
                <a:latin typeface="Arial"/>
              </a:rPr>
              <a:t>2024  │  NĐ 111/2024</a:t>
            </a:r>
          </a:p>
          <a:p>
            <a:pPr>
              <a:spcAft>
                <a:spcPts val="300"/>
              </a:spcAft>
            </a:pPr>
            <a:r>
              <a:rPr sz="750">
                <a:solidFill>
                  <a:srgbClr val="8899AA"/>
                </a:solidFill>
                <a:latin typeface="Arial"/>
              </a:rPr>
              <a:t>     Bước ngoặt: CSDL quốc gia về XD</a:t>
            </a:r>
          </a:p>
          <a:p>
            <a:pPr>
              <a:spcAft>
                <a:spcPts val="0"/>
              </a:spcAft>
            </a:pPr>
            <a:r>
              <a:rPr sz="900" b="1">
                <a:solidFill>
                  <a:srgbClr val="D4A017"/>
                </a:solidFill>
                <a:latin typeface="Arial"/>
              </a:rPr>
              <a:t>2024  │  NQ 57-NQ/TW</a:t>
            </a:r>
          </a:p>
          <a:p>
            <a:pPr>
              <a:spcAft>
                <a:spcPts val="300"/>
              </a:spcAft>
            </a:pPr>
            <a:r>
              <a:rPr sz="750">
                <a:solidFill>
                  <a:srgbClr val="8899AA"/>
                </a:solidFill>
                <a:latin typeface="Arial"/>
              </a:rPr>
              <a:t>     Digital Twin đô thị, bản sao số</a:t>
            </a:r>
          </a:p>
          <a:p>
            <a:pPr>
              <a:spcAft>
                <a:spcPts val="0"/>
              </a:spcAft>
            </a:pPr>
            <a:r>
              <a:rPr sz="900" b="1">
                <a:solidFill>
                  <a:srgbClr val="D4A017"/>
                </a:solidFill>
                <a:latin typeface="Arial"/>
              </a:rPr>
              <a:t>2024  │  NĐ 175/2024</a:t>
            </a:r>
          </a:p>
          <a:p>
            <a:pPr>
              <a:spcAft>
                <a:spcPts val="300"/>
              </a:spcAft>
            </a:pPr>
            <a:r>
              <a:rPr sz="750">
                <a:solidFill>
                  <a:srgbClr val="8899AA"/>
                </a:solidFill>
                <a:latin typeface="Arial"/>
              </a:rPr>
              <a:t>     Luật hóa BIM cho dự án nhóm B trở lên</a:t>
            </a:r>
          </a:p>
          <a:p>
            <a:pPr>
              <a:spcAft>
                <a:spcPts val="0"/>
              </a:spcAft>
            </a:pPr>
            <a:r>
              <a:rPr sz="900" b="1">
                <a:solidFill>
                  <a:srgbClr val="D4A017"/>
                </a:solidFill>
                <a:latin typeface="Arial"/>
              </a:rPr>
              <a:t>2025  │  Luật XD 135/2025</a:t>
            </a:r>
          </a:p>
          <a:p>
            <a:pPr>
              <a:spcAft>
                <a:spcPts val="300"/>
              </a:spcAft>
            </a:pPr>
            <a:r>
              <a:rPr sz="750">
                <a:solidFill>
                  <a:srgbClr val="8899AA"/>
                </a:solidFill>
                <a:latin typeface="Arial"/>
              </a:rPr>
              <a:t>     Luật XD mới: CĐS, BIM (Đ7), CSDL QG (Đ14)</a:t>
            </a:r>
          </a:p>
          <a:p>
            <a:pPr>
              <a:spcAft>
                <a:spcPts val="0"/>
              </a:spcAft>
            </a:pPr>
            <a:r>
              <a:rPr sz="900" b="1">
                <a:solidFill>
                  <a:srgbClr val="D4A017"/>
                </a:solidFill>
                <a:latin typeface="Arial"/>
              </a:rPr>
              <a:t>2025  │  TT 24/2025</a:t>
            </a:r>
          </a:p>
          <a:p>
            <a:pPr>
              <a:spcAft>
                <a:spcPts val="300"/>
              </a:spcAft>
            </a:pPr>
            <a:r>
              <a:rPr sz="750">
                <a:solidFill>
                  <a:srgbClr val="8899AA"/>
                </a:solidFill>
                <a:latin typeface="Arial"/>
              </a:rPr>
              <a:t>     Chuẩn hóa dữ liệu, mã số định danh CSDL QG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548640" y="274320"/>
            <a:ext cx="8046720" cy="548640"/>
          </a:xfrm>
          <a:prstGeom prst="rect">
            <a:avLst/>
          </a:prstGeom>
          <a:noFill/>
          <a:ln/>
        </p:spPr>
        <p:txBody>
          <a:bodyPr wrap="square" rtlCol="0" anchor="ctr"/>
          <a:lstStyle/>
          <a:p>
            <a:pPr marL="0" indent="0" algn="l">
              <a:buNone/>
            </a:pPr>
            <a:r>
              <a:rPr lang="en-US" sz="2800" b="1" dirty="0">
                <a:solidFill>
                  <a:srgbClr val="D4A017"/>
                </a:solidFill>
                <a:latin typeface="Arial" pitchFamily="34" charset="0"/>
                <a:ea typeface="Arial" pitchFamily="34" charset="-122"/>
                <a:cs typeface="Arial" pitchFamily="34" charset="-120"/>
              </a:rPr>
              <a:t>THÁCH THỨC &amp; GIẢI PHÁP</a:t>
            </a:r>
            <a:endParaRPr lang="en-US" sz="2800" dirty="0"/>
          </a:p>
        </p:txBody>
      </p:sp>
      <p:sp>
        <p:nvSpPr>
          <p:cNvPr id="3" name="Text 1"/>
          <p:cNvSpPr/>
          <p:nvPr/>
        </p:nvSpPr>
        <p:spPr>
          <a:xfrm>
            <a:off x="548640" y="777240"/>
            <a:ext cx="8046720" cy="365760"/>
          </a:xfrm>
          <a:prstGeom prst="rect">
            <a:avLst/>
          </a:prstGeom>
          <a:noFill/>
          <a:ln/>
        </p:spPr>
        <p:txBody>
          <a:bodyPr wrap="square" rtlCol="0" anchor="ctr"/>
          <a:lstStyle/>
          <a:p>
            <a:pPr marL="0" indent="0" algn="l">
              <a:buNone/>
            </a:pPr>
            <a:r>
              <a:rPr lang="en-US" sz="1400" dirty="0">
                <a:solidFill>
                  <a:srgbClr val="8899AA"/>
                </a:solidFill>
                <a:latin typeface="Arial" pitchFamily="34" charset="0"/>
                <a:ea typeface="Arial" pitchFamily="34" charset="-122"/>
                <a:cs typeface="Arial" pitchFamily="34" charset="-120"/>
              </a:rPr>
              <a:t>5 vấn đề cốt lõi và 5 trụ cột giải pháp</a:t>
            </a:r>
            <a:endParaRPr lang="en-US" sz="1400" dirty="0"/>
          </a:p>
        </p:txBody>
      </p:sp>
      <p:sp>
        <p:nvSpPr>
          <p:cNvPr id="4" name="Shape 2"/>
          <p:cNvSpPr/>
          <p:nvPr/>
        </p:nvSpPr>
        <p:spPr>
          <a:xfrm>
            <a:off x="548640" y="1143000"/>
            <a:ext cx="1371600" cy="36576"/>
          </a:xfrm>
          <a:prstGeom prst="rect">
            <a:avLst/>
          </a:prstGeom>
          <a:solidFill>
            <a:srgbClr val="D4A017"/>
          </a:solidFill>
          <a:ln/>
        </p:spPr>
        <p:txBody>
          <a:bodyPr/>
          <a:lstStyle/>
          <a:p>
            <a:endParaRPr lang="en-US"/>
          </a:p>
        </p:txBody>
      </p:sp>
      <p:sp>
        <p:nvSpPr>
          <p:cNvPr id="5" name="Shape 3"/>
          <p:cNvSpPr/>
          <p:nvPr/>
        </p:nvSpPr>
        <p:spPr>
          <a:xfrm>
            <a:off x="365760" y="1371600"/>
            <a:ext cx="4023360" cy="3291840"/>
          </a:xfrm>
          <a:prstGeom prst="roundRect">
            <a:avLst>
              <a:gd name="adj" fmla="val 3333"/>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6" name="Text 4"/>
          <p:cNvSpPr/>
          <p:nvPr/>
        </p:nvSpPr>
        <p:spPr>
          <a:xfrm>
            <a:off x="548640" y="1463040"/>
            <a:ext cx="3657600" cy="365760"/>
          </a:xfrm>
          <a:prstGeom prst="rect">
            <a:avLst/>
          </a:prstGeom>
          <a:noFill/>
          <a:ln/>
        </p:spPr>
        <p:txBody>
          <a:bodyPr wrap="square" rtlCol="0" anchor="ctr"/>
          <a:lstStyle/>
          <a:p>
            <a:pPr marL="0" indent="0">
              <a:buNone/>
            </a:pPr>
            <a:r>
              <a:rPr lang="en-US" sz="1400" b="1" dirty="0">
                <a:solidFill>
                  <a:srgbClr val="F97316"/>
                </a:solidFill>
                <a:latin typeface="Arial" pitchFamily="34" charset="0"/>
                <a:ea typeface="Arial" pitchFamily="34" charset="-122"/>
                <a:cs typeface="Arial" pitchFamily="34" charset="-120"/>
              </a:rPr>
              <a:t>⚠  THÁCH THỨC HIỆN TẠI</a:t>
            </a:r>
            <a:endParaRPr lang="en-US" sz="1400" dirty="0"/>
          </a:p>
        </p:txBody>
      </p:sp>
      <p:sp>
        <p:nvSpPr>
          <p:cNvPr id="7" name="Text 5"/>
          <p:cNvSpPr/>
          <p:nvPr/>
        </p:nvSpPr>
        <p:spPr>
          <a:xfrm>
            <a:off x="548640" y="1874520"/>
            <a:ext cx="3657600" cy="2651760"/>
          </a:xfrm>
          <a:prstGeom prst="rect">
            <a:avLst/>
          </a:prstGeom>
          <a:noFill/>
          <a:ln/>
        </p:spPr>
        <p:txBody>
          <a:bodyPr wrap="square" rtlCol="0" anchor="t"/>
          <a:lstStyle/>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Quản lý phân tán</a:t>
            </a:r>
            <a:endParaRPr lang="en-US" sz="1200" dirty="0"/>
          </a:p>
          <a:p>
            <a:pPr marL="0" indent="0">
              <a:spcAft>
                <a:spcPts val="700"/>
              </a:spcAft>
              <a:buNone/>
            </a:pPr>
            <a:r>
              <a:rPr lang="en-US" sz="1000" dirty="0">
                <a:solidFill>
                  <a:srgbClr val="8899AA"/>
                </a:solidFill>
                <a:latin typeface="Arial" pitchFamily="34" charset="0"/>
                <a:ea typeface="Arial" pitchFamily="34" charset="-122"/>
                <a:cs typeface="Arial" pitchFamily="34" charset="-120"/>
              </a:rPr>
              <a:t>Excel, email, giấy tờ</a:t>
            </a:r>
            <a:endParaRPr lang="en-US" sz="1200" dirty="0"/>
          </a:p>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Thiếu minh bạch tiến độ</a:t>
            </a:r>
            <a:endParaRPr lang="en-US" sz="1200" dirty="0"/>
          </a:p>
          <a:p>
            <a:pPr marL="0" indent="0">
              <a:spcAft>
                <a:spcPts val="700"/>
              </a:spcAft>
              <a:buNone/>
            </a:pPr>
            <a:r>
              <a:rPr lang="en-US" sz="1000" dirty="0">
                <a:solidFill>
                  <a:srgbClr val="8899AA"/>
                </a:solidFill>
                <a:latin typeface="Arial" pitchFamily="34" charset="0"/>
                <a:ea typeface="Arial" pitchFamily="34" charset="-122"/>
                <a:cs typeface="Arial" pitchFamily="34" charset="-120"/>
              </a:rPr>
              <a:t>không theo dõi được realtime</a:t>
            </a:r>
            <a:endParaRPr lang="en-US" sz="1200" dirty="0"/>
          </a:p>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Báo cáo thủ công</a:t>
            </a:r>
            <a:endParaRPr lang="en-US" sz="1200" dirty="0"/>
          </a:p>
          <a:p>
            <a:pPr marL="0" indent="0">
              <a:spcAft>
                <a:spcPts val="700"/>
              </a:spcAft>
              <a:buNone/>
            </a:pPr>
            <a:r>
              <a:rPr lang="en-US" sz="1000" dirty="0">
                <a:solidFill>
                  <a:srgbClr val="8899AA"/>
                </a:solidFill>
                <a:latin typeface="Arial" pitchFamily="34" charset="0"/>
                <a:ea typeface="Arial" pitchFamily="34" charset="-122"/>
                <a:cs typeface="Arial" pitchFamily="34" charset="-120"/>
              </a:rPr>
              <a:t>tốn thời gian, dễ sai sót</a:t>
            </a:r>
            <a:endParaRPr lang="en-US" sz="1200" dirty="0"/>
          </a:p>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Rủi ro pháp lý</a:t>
            </a:r>
            <a:endParaRPr lang="en-US" sz="1200" dirty="0"/>
          </a:p>
          <a:p>
            <a:pPr marL="0" indent="0">
              <a:spcAft>
                <a:spcPts val="700"/>
              </a:spcAft>
              <a:buNone/>
            </a:pPr>
            <a:r>
              <a:rPr lang="en-US" sz="1000" dirty="0">
                <a:solidFill>
                  <a:srgbClr val="8899AA"/>
                </a:solidFill>
                <a:latin typeface="Arial" pitchFamily="34" charset="0"/>
                <a:ea typeface="Arial" pitchFamily="34" charset="-122"/>
                <a:cs typeface="Arial" pitchFamily="34" charset="-120"/>
              </a:rPr>
              <a:t>Luật ĐTC 2024, Luật XD 135/2025, Luật ĐT 2023</a:t>
            </a:r>
            <a:endParaRPr lang="en-US" sz="1200" dirty="0"/>
          </a:p>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Chưa đáp ứng CĐS</a:t>
            </a:r>
            <a:endParaRPr lang="en-US" sz="1200" dirty="0"/>
          </a:p>
          <a:p>
            <a:pPr marL="0" indent="0">
              <a:buNone/>
            </a:pPr>
            <a:r>
              <a:rPr lang="en-US" sz="1000" dirty="0">
                <a:solidFill>
                  <a:srgbClr val="8899AA"/>
                </a:solidFill>
                <a:latin typeface="Arial" pitchFamily="34" charset="0"/>
                <a:ea typeface="Arial" pitchFamily="34" charset="-122"/>
                <a:cs typeface="Arial" pitchFamily="34" charset="-120"/>
              </a:rPr>
              <a:t>chưa kết nối CSDL QG, chưa BIM/AI/CDE</a:t>
            </a:r>
            <a:endParaRPr lang="en-US" sz="1200" dirty="0"/>
          </a:p>
        </p:txBody>
      </p:sp>
      <p:sp>
        <p:nvSpPr>
          <p:cNvPr id="8" name="Shape 6"/>
          <p:cNvSpPr/>
          <p:nvPr/>
        </p:nvSpPr>
        <p:spPr>
          <a:xfrm>
            <a:off x="4754880" y="1371600"/>
            <a:ext cx="4023360" cy="3291840"/>
          </a:xfrm>
          <a:prstGeom prst="roundRect">
            <a:avLst>
              <a:gd name="adj" fmla="val 3333"/>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9" name="Text 7"/>
          <p:cNvSpPr/>
          <p:nvPr/>
        </p:nvSpPr>
        <p:spPr>
          <a:xfrm>
            <a:off x="4937760" y="1463040"/>
            <a:ext cx="3657600" cy="365760"/>
          </a:xfrm>
          <a:prstGeom prst="rect">
            <a:avLst/>
          </a:prstGeom>
          <a:noFill/>
          <a:ln/>
        </p:spPr>
        <p:txBody>
          <a:bodyPr wrap="square" rtlCol="0" anchor="ctr"/>
          <a:lstStyle/>
          <a:p>
            <a:pPr marL="0" indent="0">
              <a:buNone/>
            </a:pPr>
            <a:r>
              <a:rPr lang="en-US" sz="1400" b="1" dirty="0">
                <a:solidFill>
                  <a:srgbClr val="10B981"/>
                </a:solidFill>
                <a:latin typeface="Arial" pitchFamily="34" charset="0"/>
                <a:ea typeface="Arial" pitchFamily="34" charset="-122"/>
                <a:cs typeface="Arial" pitchFamily="34" charset="-120"/>
              </a:rPr>
              <a:t>✓  GIẢI PHÁP</a:t>
            </a:r>
            <a:endParaRPr lang="en-US" sz="1400" dirty="0"/>
          </a:p>
        </p:txBody>
      </p:sp>
      <p:sp>
        <p:nvSpPr>
          <p:cNvPr id="10" name="Text 8"/>
          <p:cNvSpPr/>
          <p:nvPr/>
        </p:nvSpPr>
        <p:spPr>
          <a:xfrm>
            <a:off x="4937760" y="1874520"/>
            <a:ext cx="3657600" cy="2651760"/>
          </a:xfrm>
          <a:prstGeom prst="rect">
            <a:avLst/>
          </a:prstGeom>
          <a:noFill/>
          <a:ln/>
        </p:spPr>
        <p:txBody>
          <a:bodyPr wrap="square" rtlCol="0" anchor="t"/>
          <a:lstStyle/>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Nền tảng tập trung</a:t>
            </a:r>
            <a:endParaRPr lang="en-US" sz="1200" dirty="0"/>
          </a:p>
          <a:p>
            <a:pPr marL="0" indent="0">
              <a:spcAft>
                <a:spcPts val="700"/>
              </a:spcAft>
              <a:buNone/>
            </a:pPr>
            <a:r>
              <a:rPr lang="en-US" sz="1000" dirty="0">
                <a:solidFill>
                  <a:srgbClr val="8899AA"/>
                </a:solidFill>
                <a:latin typeface="Arial" pitchFamily="34" charset="0"/>
                <a:ea typeface="Arial" pitchFamily="34" charset="-122"/>
                <a:cs typeface="Arial" pitchFamily="34" charset="-120"/>
              </a:rPr>
              <a:t>tất cả dữ liệu trên một hệ thống</a:t>
            </a:r>
            <a:endParaRPr lang="en-US" sz="1200" dirty="0"/>
          </a:p>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Dashboard thời gian thực</a:t>
            </a:r>
            <a:endParaRPr lang="en-US" sz="1200" dirty="0"/>
          </a:p>
          <a:p>
            <a:pPr marL="0" indent="0">
              <a:spcAft>
                <a:spcPts val="700"/>
              </a:spcAft>
              <a:buNone/>
            </a:pPr>
            <a:r>
              <a:rPr lang="en-US" sz="1000" dirty="0">
                <a:solidFill>
                  <a:srgbClr val="8899AA"/>
                </a:solidFill>
                <a:latin typeface="Arial" pitchFamily="34" charset="0"/>
                <a:ea typeface="Arial" pitchFamily="34" charset="-122"/>
                <a:cs typeface="Arial" pitchFamily="34" charset="-120"/>
              </a:rPr>
              <a:t>KPI, biểu đồ, bản đồ cập nhật tức thì</a:t>
            </a:r>
            <a:endParaRPr lang="en-US" sz="1200" dirty="0"/>
          </a:p>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Tự động hóa báo cáo</a:t>
            </a:r>
            <a:endParaRPr lang="en-US" sz="1200" dirty="0"/>
          </a:p>
          <a:p>
            <a:pPr marL="0" indent="0">
              <a:spcAft>
                <a:spcPts val="700"/>
              </a:spcAft>
              <a:buNone/>
            </a:pPr>
            <a:r>
              <a:rPr lang="en-US" sz="1000" dirty="0">
                <a:solidFill>
                  <a:srgbClr val="8899AA"/>
                </a:solidFill>
                <a:latin typeface="Arial" pitchFamily="34" charset="0"/>
                <a:ea typeface="Arial" pitchFamily="34" charset="-122"/>
                <a:cs typeface="Arial" pitchFamily="34" charset="-120"/>
              </a:rPr>
              <a:t>biểu mẫu theo TT24/2025, Luật ĐTC</a:t>
            </a:r>
            <a:endParaRPr lang="en-US" sz="1200" dirty="0"/>
          </a:p>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Tuân thủ pháp luật</a:t>
            </a:r>
            <a:endParaRPr lang="en-US" sz="1200" dirty="0"/>
          </a:p>
          <a:p>
            <a:pPr marL="0" indent="0">
              <a:spcAft>
                <a:spcPts val="700"/>
              </a:spcAft>
              <a:buNone/>
            </a:pPr>
            <a:r>
              <a:rPr lang="en-US" sz="1000" dirty="0">
                <a:solidFill>
                  <a:srgbClr val="8899AA"/>
                </a:solidFill>
                <a:latin typeface="Arial" pitchFamily="34" charset="0"/>
                <a:ea typeface="Arial" pitchFamily="34" charset="-122"/>
                <a:cs typeface="Arial" pitchFamily="34" charset="-120"/>
              </a:rPr>
              <a:t>checklist tích hợp, cảnh báo tự động</a:t>
            </a:r>
            <a:endParaRPr lang="en-US" sz="1200" dirty="0"/>
          </a:p>
          <a:p>
            <a:pPr marL="342900" indent="-342900">
              <a:spcAft>
                <a:spcPts val="400"/>
              </a:spcAft>
              <a:buSzPct val="100000"/>
              <a:buChar char="•"/>
            </a:pPr>
            <a:r>
              <a:rPr lang="en-US" sz="1200" dirty="0">
                <a:solidFill>
                  <a:srgbClr val="E8E8E8"/>
                </a:solidFill>
                <a:latin typeface="Arial" pitchFamily="34" charset="0"/>
                <a:ea typeface="Arial" pitchFamily="34" charset="-122"/>
                <a:cs typeface="Arial" pitchFamily="34" charset="-120"/>
              </a:rPr>
              <a:t>Sẵn sàng cho 4.0</a:t>
            </a:r>
            <a:endParaRPr lang="en-US" sz="1200" dirty="0"/>
          </a:p>
          <a:p>
            <a:pPr marL="0" indent="0">
              <a:buNone/>
            </a:pPr>
            <a:r>
              <a:rPr lang="en-US" sz="1000" dirty="0">
                <a:solidFill>
                  <a:srgbClr val="8899AA"/>
                </a:solidFill>
                <a:latin typeface="Arial" pitchFamily="34" charset="0"/>
                <a:ea typeface="Arial" pitchFamily="34" charset="-122"/>
                <a:cs typeface="Arial" pitchFamily="34" charset="-120"/>
              </a:rPr>
              <a:t>BIM, AI, CDE, CSDL quốc gia (NĐ 111)</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13E"/>
        </a:solidFill>
        <a:effectLst/>
      </p:bgPr>
    </p:bg>
    <p:spTree>
      <p:nvGrpSpPr>
        <p:cNvPr id="1" name=""/>
        <p:cNvGrpSpPr/>
        <p:nvPr/>
      </p:nvGrpSpPr>
      <p:grpSpPr>
        <a:xfrm>
          <a:off x="0" y="0"/>
          <a:ext cx="0" cy="0"/>
          <a:chOff x="0" y="0"/>
          <a:chExt cx="0" cy="0"/>
        </a:xfrm>
      </p:grpSpPr>
      <p:sp>
        <p:nvSpPr>
          <p:cNvPr id="2" name="Text 0"/>
          <p:cNvSpPr/>
          <p:nvPr/>
        </p:nvSpPr>
        <p:spPr>
          <a:xfrm>
            <a:off x="548640" y="274320"/>
            <a:ext cx="8046720" cy="548640"/>
          </a:xfrm>
          <a:prstGeom prst="rect">
            <a:avLst/>
          </a:prstGeom>
          <a:noFill/>
          <a:ln/>
        </p:spPr>
        <p:txBody>
          <a:bodyPr wrap="square" rtlCol="0" anchor="ctr"/>
          <a:lstStyle/>
          <a:p>
            <a:pPr marL="0" indent="0" algn="l">
              <a:buNone/>
            </a:pPr>
            <a:r>
              <a:rPr lang="en-US" sz="2800" b="1" dirty="0">
                <a:solidFill>
                  <a:srgbClr val="D4A017"/>
                </a:solidFill>
                <a:latin typeface="Arial" pitchFamily="34" charset="0"/>
                <a:ea typeface="Arial" pitchFamily="34" charset="-122"/>
                <a:cs typeface="Arial" pitchFamily="34" charset="-120"/>
              </a:rPr>
              <a:t>TỔNG QUAN HỆ THỐNG</a:t>
            </a:r>
            <a:endParaRPr lang="en-US" sz="2800" dirty="0"/>
          </a:p>
        </p:txBody>
      </p:sp>
      <p:sp>
        <p:nvSpPr>
          <p:cNvPr id="3" name="Text 1"/>
          <p:cNvSpPr/>
          <p:nvPr/>
        </p:nvSpPr>
        <p:spPr>
          <a:xfrm>
            <a:off x="548640" y="777240"/>
            <a:ext cx="8046720" cy="365760"/>
          </a:xfrm>
          <a:prstGeom prst="rect">
            <a:avLst/>
          </a:prstGeom>
          <a:noFill/>
          <a:ln/>
        </p:spPr>
        <p:txBody>
          <a:bodyPr wrap="square" rtlCol="0" anchor="ctr"/>
          <a:lstStyle/>
          <a:p>
            <a:pPr marL="0" indent="0" algn="l">
              <a:buNone/>
            </a:pPr>
            <a:r>
              <a:rPr lang="en-US" sz="1400" dirty="0">
                <a:solidFill>
                  <a:srgbClr val="8899AA"/>
                </a:solidFill>
                <a:latin typeface="Arial" pitchFamily="34" charset="0"/>
                <a:ea typeface="Arial" pitchFamily="34" charset="-122"/>
                <a:cs typeface="Arial" pitchFamily="34" charset="-120"/>
              </a:rPr>
              <a:t>Nền tảng web hiện đại — truy cập mọi lúc, không cần cài đặt</a:t>
            </a:r>
            <a:endParaRPr lang="en-US" sz="1400" dirty="0"/>
          </a:p>
        </p:txBody>
      </p:sp>
      <p:sp>
        <p:nvSpPr>
          <p:cNvPr id="4" name="Shape 2"/>
          <p:cNvSpPr/>
          <p:nvPr/>
        </p:nvSpPr>
        <p:spPr>
          <a:xfrm>
            <a:off x="548640" y="1143000"/>
            <a:ext cx="1371600" cy="36576"/>
          </a:xfrm>
          <a:prstGeom prst="rect">
            <a:avLst/>
          </a:prstGeom>
          <a:solidFill>
            <a:srgbClr val="D4A017"/>
          </a:solidFill>
          <a:ln/>
        </p:spPr>
        <p:txBody>
          <a:bodyPr/>
          <a:lstStyle/>
          <a:p>
            <a:endParaRPr lang="en-US"/>
          </a:p>
        </p:txBody>
      </p:sp>
      <p:sp>
        <p:nvSpPr>
          <p:cNvPr id="5" name="Shape 3"/>
          <p:cNvSpPr/>
          <p:nvPr/>
        </p:nvSpPr>
        <p:spPr>
          <a:xfrm>
            <a:off x="365760" y="1371600"/>
            <a:ext cx="1572768" cy="1463040"/>
          </a:xfrm>
          <a:prstGeom prst="roundRect">
            <a:avLst>
              <a:gd name="adj" fmla="val 75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6" name="Text 4"/>
          <p:cNvSpPr/>
          <p:nvPr/>
        </p:nvSpPr>
        <p:spPr>
          <a:xfrm>
            <a:off x="365760" y="1463040"/>
            <a:ext cx="1572768" cy="640080"/>
          </a:xfrm>
          <a:prstGeom prst="rect">
            <a:avLst/>
          </a:prstGeom>
          <a:noFill/>
          <a:ln/>
        </p:spPr>
        <p:txBody>
          <a:bodyPr wrap="square" rtlCol="0" anchor="ctr"/>
          <a:lstStyle/>
          <a:p>
            <a:pPr marL="0" indent="0" algn="ctr">
              <a:buNone/>
            </a:pPr>
            <a:r>
              <a:rPr lang="en-US" sz="2800" b="1" dirty="0">
                <a:solidFill>
                  <a:srgbClr val="D4A017"/>
                </a:solidFill>
                <a:latin typeface="Arial" pitchFamily="34" charset="0"/>
                <a:ea typeface="Arial" pitchFamily="34" charset="-122"/>
                <a:cs typeface="Arial" pitchFamily="34" charset="-120"/>
              </a:rPr>
              <a:t>13+</a:t>
            </a:r>
            <a:endParaRPr lang="en-US" sz="2800" dirty="0"/>
          </a:p>
        </p:txBody>
      </p:sp>
      <p:sp>
        <p:nvSpPr>
          <p:cNvPr id="7" name="Text 5"/>
          <p:cNvSpPr/>
          <p:nvPr/>
        </p:nvSpPr>
        <p:spPr>
          <a:xfrm>
            <a:off x="365760" y="2103120"/>
            <a:ext cx="1572768" cy="594360"/>
          </a:xfrm>
          <a:prstGeom prst="rect">
            <a:avLst/>
          </a:prstGeom>
          <a:noFill/>
          <a:ln/>
        </p:spPr>
        <p:txBody>
          <a:bodyPr wrap="square" rtlCol="0" anchor="t"/>
          <a:lstStyle/>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Module</a:t>
            </a:r>
            <a:endParaRPr lang="en-US" sz="1000" dirty="0"/>
          </a:p>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chức năng</a:t>
            </a:r>
            <a:endParaRPr lang="en-US" sz="1000" dirty="0"/>
          </a:p>
        </p:txBody>
      </p:sp>
      <p:sp>
        <p:nvSpPr>
          <p:cNvPr id="8" name="Shape 6"/>
          <p:cNvSpPr/>
          <p:nvPr/>
        </p:nvSpPr>
        <p:spPr>
          <a:xfrm>
            <a:off x="2121408" y="1371600"/>
            <a:ext cx="1572768" cy="1463040"/>
          </a:xfrm>
          <a:prstGeom prst="roundRect">
            <a:avLst>
              <a:gd name="adj" fmla="val 75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9" name="Text 7"/>
          <p:cNvSpPr/>
          <p:nvPr/>
        </p:nvSpPr>
        <p:spPr>
          <a:xfrm>
            <a:off x="2121408" y="1463040"/>
            <a:ext cx="1572768" cy="640080"/>
          </a:xfrm>
          <a:prstGeom prst="rect">
            <a:avLst/>
          </a:prstGeom>
          <a:noFill/>
          <a:ln/>
        </p:spPr>
        <p:txBody>
          <a:bodyPr wrap="square" rtlCol="0" anchor="ctr"/>
          <a:lstStyle/>
          <a:p>
            <a:pPr marL="0" indent="0" algn="ctr">
              <a:buNone/>
            </a:pPr>
            <a:r>
              <a:rPr lang="en-US" sz="2800" b="1" dirty="0">
                <a:solidFill>
                  <a:srgbClr val="3B82F6"/>
                </a:solidFill>
                <a:latin typeface="Arial" pitchFamily="34" charset="0"/>
                <a:ea typeface="Arial" pitchFamily="34" charset="-122"/>
                <a:cs typeface="Arial" pitchFamily="34" charset="-120"/>
              </a:rPr>
              <a:t>5</a:t>
            </a:r>
            <a:endParaRPr lang="en-US" sz="2800" dirty="0"/>
          </a:p>
        </p:txBody>
      </p:sp>
      <p:sp>
        <p:nvSpPr>
          <p:cNvPr id="10" name="Text 8"/>
          <p:cNvSpPr/>
          <p:nvPr/>
        </p:nvSpPr>
        <p:spPr>
          <a:xfrm>
            <a:off x="2121408" y="2103120"/>
            <a:ext cx="1572768" cy="594360"/>
          </a:xfrm>
          <a:prstGeom prst="rect">
            <a:avLst/>
          </a:prstGeom>
          <a:noFill/>
          <a:ln/>
        </p:spPr>
        <p:txBody>
          <a:bodyPr wrap="square" rtlCol="0" anchor="t"/>
          <a:lstStyle/>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Ban QLDA</a:t>
            </a:r>
            <a:endParaRPr lang="en-US" sz="1000" dirty="0"/>
          </a:p>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trực thuộc</a:t>
            </a:r>
            <a:endParaRPr lang="en-US" sz="1000" dirty="0"/>
          </a:p>
        </p:txBody>
      </p:sp>
      <p:sp>
        <p:nvSpPr>
          <p:cNvPr id="11" name="Shape 9"/>
          <p:cNvSpPr/>
          <p:nvPr/>
        </p:nvSpPr>
        <p:spPr>
          <a:xfrm>
            <a:off x="3877056" y="1371600"/>
            <a:ext cx="1572768" cy="1463040"/>
          </a:xfrm>
          <a:prstGeom prst="roundRect">
            <a:avLst>
              <a:gd name="adj" fmla="val 75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2" name="Text 10"/>
          <p:cNvSpPr/>
          <p:nvPr/>
        </p:nvSpPr>
        <p:spPr>
          <a:xfrm>
            <a:off x="3877056" y="1463040"/>
            <a:ext cx="1572768" cy="640080"/>
          </a:xfrm>
          <a:prstGeom prst="rect">
            <a:avLst/>
          </a:prstGeom>
          <a:noFill/>
          <a:ln/>
        </p:spPr>
        <p:txBody>
          <a:bodyPr wrap="square" rtlCol="0" anchor="ctr"/>
          <a:lstStyle/>
          <a:p>
            <a:pPr marL="0" indent="0" algn="ctr">
              <a:buNone/>
            </a:pPr>
            <a:r>
              <a:rPr lang="en-US" sz="2800" b="1" dirty="0">
                <a:solidFill>
                  <a:srgbClr val="10B981"/>
                </a:solidFill>
                <a:latin typeface="Arial" pitchFamily="34" charset="0"/>
                <a:ea typeface="Arial" pitchFamily="34" charset="-122"/>
                <a:cs typeface="Arial" pitchFamily="34" charset="-120"/>
              </a:rPr>
              <a:t>IFC</a:t>
            </a:r>
            <a:endParaRPr lang="en-US" sz="2800" dirty="0"/>
          </a:p>
        </p:txBody>
      </p:sp>
      <p:sp>
        <p:nvSpPr>
          <p:cNvPr id="13" name="Text 11"/>
          <p:cNvSpPr/>
          <p:nvPr/>
        </p:nvSpPr>
        <p:spPr>
          <a:xfrm>
            <a:off x="3877056" y="2103120"/>
            <a:ext cx="1572768" cy="594360"/>
          </a:xfrm>
          <a:prstGeom prst="rect">
            <a:avLst/>
          </a:prstGeom>
          <a:noFill/>
          <a:ln/>
        </p:spPr>
        <p:txBody>
          <a:bodyPr wrap="square" rtlCol="0" anchor="t"/>
          <a:lstStyle/>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BIM 3D</a:t>
            </a:r>
            <a:endParaRPr lang="en-US" sz="1000" dirty="0"/>
          </a:p>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Viewer</a:t>
            </a:r>
            <a:endParaRPr lang="en-US" sz="1000" dirty="0"/>
          </a:p>
        </p:txBody>
      </p:sp>
      <p:sp>
        <p:nvSpPr>
          <p:cNvPr id="14" name="Shape 12"/>
          <p:cNvSpPr/>
          <p:nvPr/>
        </p:nvSpPr>
        <p:spPr>
          <a:xfrm>
            <a:off x="5632704" y="1371600"/>
            <a:ext cx="1572768" cy="1463040"/>
          </a:xfrm>
          <a:prstGeom prst="roundRect">
            <a:avLst>
              <a:gd name="adj" fmla="val 75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5" name="Text 13"/>
          <p:cNvSpPr/>
          <p:nvPr/>
        </p:nvSpPr>
        <p:spPr>
          <a:xfrm>
            <a:off x="5632704" y="1463040"/>
            <a:ext cx="1572768" cy="640080"/>
          </a:xfrm>
          <a:prstGeom prst="rect">
            <a:avLst/>
          </a:prstGeom>
          <a:noFill/>
          <a:ln/>
        </p:spPr>
        <p:txBody>
          <a:bodyPr wrap="square" rtlCol="0" anchor="ctr"/>
          <a:lstStyle/>
          <a:p>
            <a:pPr marL="0" indent="0" algn="ctr">
              <a:buNone/>
            </a:pPr>
            <a:r>
              <a:rPr lang="en-US" sz="2800" b="1" dirty="0">
                <a:solidFill>
                  <a:srgbClr val="F97316"/>
                </a:solidFill>
                <a:latin typeface="Arial" pitchFamily="34" charset="0"/>
                <a:ea typeface="Arial" pitchFamily="34" charset="-122"/>
                <a:cs typeface="Arial" pitchFamily="34" charset="-120"/>
              </a:rPr>
              <a:t>Gemini</a:t>
            </a:r>
            <a:endParaRPr lang="en-US" sz="2800" dirty="0"/>
          </a:p>
        </p:txBody>
      </p:sp>
      <p:sp>
        <p:nvSpPr>
          <p:cNvPr id="16" name="Text 14"/>
          <p:cNvSpPr/>
          <p:nvPr/>
        </p:nvSpPr>
        <p:spPr>
          <a:xfrm>
            <a:off x="5632704" y="2103120"/>
            <a:ext cx="1572768" cy="594360"/>
          </a:xfrm>
          <a:prstGeom prst="rect">
            <a:avLst/>
          </a:prstGeom>
          <a:noFill/>
          <a:ln/>
        </p:spPr>
        <p:txBody>
          <a:bodyPr wrap="square" rtlCol="0" anchor="t"/>
          <a:lstStyle/>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AI</a:t>
            </a:r>
            <a:endParaRPr lang="en-US" sz="1000" dirty="0"/>
          </a:p>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tích hợp</a:t>
            </a:r>
            <a:endParaRPr lang="en-US" sz="1000" dirty="0"/>
          </a:p>
        </p:txBody>
      </p:sp>
      <p:sp>
        <p:nvSpPr>
          <p:cNvPr id="17" name="Shape 15"/>
          <p:cNvSpPr/>
          <p:nvPr/>
        </p:nvSpPr>
        <p:spPr>
          <a:xfrm>
            <a:off x="7388352" y="1371600"/>
            <a:ext cx="1572768" cy="1463040"/>
          </a:xfrm>
          <a:prstGeom prst="roundRect">
            <a:avLst>
              <a:gd name="adj" fmla="val 75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8" name="Text 16"/>
          <p:cNvSpPr/>
          <p:nvPr/>
        </p:nvSpPr>
        <p:spPr>
          <a:xfrm>
            <a:off x="7388352" y="1463040"/>
            <a:ext cx="1572768" cy="640080"/>
          </a:xfrm>
          <a:prstGeom prst="rect">
            <a:avLst/>
          </a:prstGeom>
          <a:noFill/>
          <a:ln/>
        </p:spPr>
        <p:txBody>
          <a:bodyPr wrap="square" rtlCol="0" anchor="ctr"/>
          <a:lstStyle/>
          <a:p>
            <a:pPr marL="0" indent="0" algn="ctr">
              <a:buNone/>
            </a:pPr>
            <a:r>
              <a:rPr lang="en-US" sz="2800" b="1" dirty="0">
                <a:solidFill>
                  <a:srgbClr val="D4A017"/>
                </a:solidFill>
                <a:latin typeface="Arial" pitchFamily="34" charset="0"/>
                <a:ea typeface="Arial" pitchFamily="34" charset="-122"/>
                <a:cs typeface="Arial" pitchFamily="34" charset="-120"/>
              </a:rPr>
              <a:t>RLS</a:t>
            </a:r>
            <a:endParaRPr lang="en-US" sz="2800" dirty="0"/>
          </a:p>
        </p:txBody>
      </p:sp>
      <p:sp>
        <p:nvSpPr>
          <p:cNvPr id="19" name="Text 17"/>
          <p:cNvSpPr/>
          <p:nvPr/>
        </p:nvSpPr>
        <p:spPr>
          <a:xfrm>
            <a:off x="7388352" y="2103120"/>
            <a:ext cx="1572768" cy="594360"/>
          </a:xfrm>
          <a:prstGeom prst="rect">
            <a:avLst/>
          </a:prstGeom>
          <a:noFill/>
          <a:ln/>
        </p:spPr>
        <p:txBody>
          <a:bodyPr wrap="square" rtlCol="0" anchor="t"/>
          <a:lstStyle/>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Bảo mật</a:t>
            </a:r>
            <a:endParaRPr lang="en-US" sz="1000" dirty="0"/>
          </a:p>
          <a:p>
            <a:pPr marL="0" indent="0" algn="ctr">
              <a:lnSpc>
                <a:spcPct val="120000"/>
              </a:lnSpc>
              <a:buNone/>
            </a:pPr>
            <a:r>
              <a:rPr lang="en-US" sz="1000" dirty="0">
                <a:solidFill>
                  <a:srgbClr val="8899AA"/>
                </a:solidFill>
                <a:latin typeface="Arial" pitchFamily="34" charset="0"/>
                <a:ea typeface="Arial" pitchFamily="34" charset="-122"/>
                <a:cs typeface="Arial" pitchFamily="34" charset="-120"/>
              </a:rPr>
              <a:t>RBAC</a:t>
            </a:r>
            <a:endParaRPr lang="en-US" sz="1000" dirty="0"/>
          </a:p>
        </p:txBody>
      </p:sp>
      <p:sp>
        <p:nvSpPr>
          <p:cNvPr id="20" name="Text 18"/>
          <p:cNvSpPr/>
          <p:nvPr/>
        </p:nvSpPr>
        <p:spPr>
          <a:xfrm>
            <a:off x="548640" y="3063240"/>
            <a:ext cx="8046720" cy="365760"/>
          </a:xfrm>
          <a:prstGeom prst="rect">
            <a:avLst/>
          </a:prstGeom>
          <a:noFill/>
          <a:ln/>
        </p:spPr>
        <p:txBody>
          <a:bodyPr wrap="square" rtlCol="0" anchor="ctr"/>
          <a:lstStyle/>
          <a:p>
            <a:pPr marL="0" indent="0">
              <a:buNone/>
            </a:pPr>
            <a:r>
              <a:rPr lang="en-US" sz="1150" dirty="0">
                <a:solidFill>
                  <a:srgbClr val="E8E8E8"/>
                </a:solidFill>
                <a:latin typeface="Arial" pitchFamily="34" charset="0"/>
                <a:ea typeface="Arial" pitchFamily="34" charset="-122"/>
                <a:cs typeface="Arial" pitchFamily="34" charset="-120"/>
              </a:rPr>
              <a:t>📊  Dashboard realtime với 5 KPI chính, biểu đồ giải ngân, bản đồ dự án</a:t>
            </a:r>
            <a:endParaRPr lang="en-US" sz="1150" dirty="0"/>
          </a:p>
        </p:txBody>
      </p:sp>
      <p:sp>
        <p:nvSpPr>
          <p:cNvPr id="21" name="Text 19"/>
          <p:cNvSpPr/>
          <p:nvPr/>
        </p:nvSpPr>
        <p:spPr>
          <a:xfrm>
            <a:off x="548640" y="3465576"/>
            <a:ext cx="8046720" cy="365760"/>
          </a:xfrm>
          <a:prstGeom prst="rect">
            <a:avLst/>
          </a:prstGeom>
          <a:noFill/>
          <a:ln/>
        </p:spPr>
        <p:txBody>
          <a:bodyPr wrap="square" rtlCol="0" anchor="ctr"/>
          <a:lstStyle/>
          <a:p>
            <a:pPr marL="0" indent="0">
              <a:buNone/>
            </a:pPr>
            <a:r>
              <a:rPr lang="en-US" sz="1150" dirty="0">
                <a:solidFill>
                  <a:srgbClr val="E8E8E8"/>
                </a:solidFill>
                <a:latin typeface="Arial" pitchFamily="34" charset="0"/>
                <a:ea typeface="Arial" pitchFamily="34" charset="-122"/>
                <a:cs typeface="Arial" pitchFamily="34" charset="-120"/>
              </a:rPr>
              <a:t>🏗️  Quản lý toàn bộ vòng đời dự án: Chuẩn bị → Thực hiện → Kết thúc XD</a:t>
            </a:r>
            <a:endParaRPr lang="en-US" sz="1150" dirty="0"/>
          </a:p>
        </p:txBody>
      </p:sp>
      <p:sp>
        <p:nvSpPr>
          <p:cNvPr id="22" name="Text 20"/>
          <p:cNvSpPr/>
          <p:nvPr/>
        </p:nvSpPr>
        <p:spPr>
          <a:xfrm>
            <a:off x="548640" y="3867912"/>
            <a:ext cx="8046720" cy="365760"/>
          </a:xfrm>
          <a:prstGeom prst="rect">
            <a:avLst/>
          </a:prstGeom>
          <a:noFill/>
          <a:ln/>
        </p:spPr>
        <p:txBody>
          <a:bodyPr wrap="square" rtlCol="0" anchor="ctr"/>
          <a:lstStyle/>
          <a:p>
            <a:pPr marL="0" indent="0">
              <a:buNone/>
            </a:pPr>
            <a:r>
              <a:rPr lang="en-US" sz="1150" dirty="0">
                <a:solidFill>
                  <a:srgbClr val="E8E8E8"/>
                </a:solidFill>
                <a:latin typeface="Arial" pitchFamily="34" charset="0"/>
                <a:ea typeface="Arial" pitchFamily="34" charset="-122"/>
                <a:cs typeface="Arial" pitchFamily="34" charset="-120"/>
              </a:rPr>
              <a:t>🤖  AI tóm tắt tình hình, phát hiện bất thường, chấm điểm nhà thầu tự động</a:t>
            </a:r>
            <a:endParaRPr lang="en-US" sz="1150" dirty="0"/>
          </a:p>
        </p:txBody>
      </p:sp>
      <p:sp>
        <p:nvSpPr>
          <p:cNvPr id="23" name="Text 21"/>
          <p:cNvSpPr/>
          <p:nvPr/>
        </p:nvSpPr>
        <p:spPr>
          <a:xfrm>
            <a:off x="548640" y="4270248"/>
            <a:ext cx="8046720" cy="365760"/>
          </a:xfrm>
          <a:prstGeom prst="rect">
            <a:avLst/>
          </a:prstGeom>
          <a:noFill/>
          <a:ln/>
        </p:spPr>
        <p:txBody>
          <a:bodyPr wrap="square" rtlCol="0" anchor="ctr"/>
          <a:lstStyle/>
          <a:p>
            <a:pPr marL="0" indent="0">
              <a:buNone/>
            </a:pPr>
            <a:r>
              <a:rPr lang="en-US" sz="1150" dirty="0">
                <a:solidFill>
                  <a:srgbClr val="E8E8E8"/>
                </a:solidFill>
                <a:latin typeface="Arial" pitchFamily="34" charset="0"/>
                <a:ea typeface="Arial" pitchFamily="34" charset="-122"/>
                <a:cs typeface="Arial" pitchFamily="34" charset="-120"/>
              </a:rPr>
              <a:t>🏢  BIM 3D Viewer — xem mô hình công trình trong trình duyệt, không cần phần mềm</a:t>
            </a:r>
            <a:endParaRPr lang="en-US" sz="1150" dirty="0"/>
          </a:p>
        </p:txBody>
      </p:sp>
      <p:sp>
        <p:nvSpPr>
          <p:cNvPr id="24" name="Text 22"/>
          <p:cNvSpPr/>
          <p:nvPr/>
        </p:nvSpPr>
        <p:spPr>
          <a:xfrm>
            <a:off x="548640" y="4672584"/>
            <a:ext cx="8046720" cy="365760"/>
          </a:xfrm>
          <a:prstGeom prst="rect">
            <a:avLst/>
          </a:prstGeom>
          <a:noFill/>
          <a:ln/>
        </p:spPr>
        <p:txBody>
          <a:bodyPr wrap="square" rtlCol="0" anchor="ctr"/>
          <a:lstStyle/>
          <a:p>
            <a:pPr marL="0" indent="0">
              <a:buNone/>
            </a:pPr>
            <a:r>
              <a:rPr lang="en-US" sz="1150" dirty="0">
                <a:solidFill>
                  <a:srgbClr val="E8E8E8"/>
                </a:solidFill>
                <a:latin typeface="Arial" pitchFamily="34" charset="0"/>
                <a:ea typeface="Arial" pitchFamily="34" charset="-122"/>
                <a:cs typeface="Arial" pitchFamily="34" charset="-120"/>
              </a:rPr>
              <a:t>📋  CDE — Môi trường dữ liệu chung theo ISO 19650, workflow duyệt tài liệu</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16213E"/>
        </a:solidFill>
        <a:effectLst/>
      </p:bgPr>
    </p:bg>
    <p:spTree>
      <p:nvGrpSpPr>
        <p:cNvPr id="1" name=""/>
        <p:cNvGrpSpPr/>
        <p:nvPr/>
      </p:nvGrpSpPr>
      <p:grpSpPr>
        <a:xfrm>
          <a:off x="0" y="0"/>
          <a:ext cx="0" cy="0"/>
          <a:chOff x="0" y="0"/>
          <a:chExt cx="0" cy="0"/>
        </a:xfrm>
      </p:grpSpPr>
      <p:sp>
        <p:nvSpPr>
          <p:cNvPr id="2" name="Text 0"/>
          <p:cNvSpPr/>
          <p:nvPr/>
        </p:nvSpPr>
        <p:spPr>
          <a:xfrm>
            <a:off x="548640" y="274320"/>
            <a:ext cx="8046720" cy="548640"/>
          </a:xfrm>
          <a:prstGeom prst="rect">
            <a:avLst/>
          </a:prstGeom>
          <a:noFill/>
          <a:ln/>
        </p:spPr>
        <p:txBody>
          <a:bodyPr wrap="square" rtlCol="0" anchor="ctr"/>
          <a:lstStyle/>
          <a:p>
            <a:r>
              <a:rPr sz="2800" b="1">
                <a:solidFill>
                  <a:srgbClr val="D4A017"/>
                </a:solidFill>
                <a:latin typeface="Arial"/>
              </a:rPr>
              <a:t>KIẾN TRÚC &amp; BẢO MẬT</a:t>
            </a:r>
          </a:p>
        </p:txBody>
      </p:sp>
      <p:sp>
        <p:nvSpPr>
          <p:cNvPr id="3" name="Text 1"/>
          <p:cNvSpPr/>
          <p:nvPr/>
        </p:nvSpPr>
        <p:spPr>
          <a:xfrm>
            <a:off x="548640" y="777240"/>
            <a:ext cx="8046720" cy="365760"/>
          </a:xfrm>
          <a:prstGeom prst="rect">
            <a:avLst/>
          </a:prstGeom>
          <a:noFill/>
          <a:ln/>
        </p:spPr>
        <p:txBody>
          <a:bodyPr wrap="square" rtlCol="0" anchor="ctr"/>
          <a:lstStyle/>
          <a:p>
            <a:pPr marL="0" indent="0" algn="l">
              <a:buNone/>
            </a:pPr>
            <a:r>
              <a:rPr lang="en-US" sz="1400" dirty="0">
                <a:solidFill>
                  <a:srgbClr val="8899AA"/>
                </a:solidFill>
                <a:latin typeface="Arial" pitchFamily="34" charset="0"/>
                <a:ea typeface="Arial" pitchFamily="34" charset="-122"/>
                <a:cs typeface="Arial" pitchFamily="34" charset="-120"/>
              </a:rPr>
              <a:t>Nền tảng web hiện đại — Không cần cài đặt, truy cập mọi lúc mọi nơi</a:t>
            </a:r>
            <a:endParaRPr lang="en-US" sz="1400" dirty="0"/>
          </a:p>
        </p:txBody>
      </p:sp>
      <p:sp>
        <p:nvSpPr>
          <p:cNvPr id="4" name="Shape 2"/>
          <p:cNvSpPr/>
          <p:nvPr/>
        </p:nvSpPr>
        <p:spPr>
          <a:xfrm>
            <a:off x="548640" y="1143000"/>
            <a:ext cx="1371600" cy="36576"/>
          </a:xfrm>
          <a:prstGeom prst="rect">
            <a:avLst/>
          </a:prstGeom>
          <a:solidFill>
            <a:srgbClr val="D4A017"/>
          </a:solidFill>
          <a:ln/>
        </p:spPr>
        <p:txBody>
          <a:bodyPr/>
          <a:lstStyle/>
          <a:p>
            <a:endParaRPr lang="en-US"/>
          </a:p>
        </p:txBody>
      </p:sp>
      <p:sp>
        <p:nvSpPr>
          <p:cNvPr id="5" name="Shape 3"/>
          <p:cNvSpPr/>
          <p:nvPr/>
        </p:nvSpPr>
        <p:spPr>
          <a:xfrm>
            <a:off x="365760" y="1371600"/>
            <a:ext cx="8412480" cy="777240"/>
          </a:xfrm>
          <a:prstGeom prst="roundRect">
            <a:avLst>
              <a:gd name="adj" fmla="val 14118"/>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6" name="Shape 4"/>
          <p:cNvSpPr/>
          <p:nvPr/>
        </p:nvSpPr>
        <p:spPr>
          <a:xfrm>
            <a:off x="365760" y="1371600"/>
            <a:ext cx="73152" cy="777240"/>
          </a:xfrm>
          <a:prstGeom prst="rect">
            <a:avLst/>
          </a:prstGeom>
          <a:solidFill>
            <a:srgbClr val="3B82F6"/>
          </a:solidFill>
          <a:ln/>
        </p:spPr>
        <p:txBody>
          <a:bodyPr/>
          <a:lstStyle/>
          <a:p>
            <a:endParaRPr lang="en-US"/>
          </a:p>
        </p:txBody>
      </p:sp>
      <p:sp>
        <p:nvSpPr>
          <p:cNvPr id="7" name="Text 5"/>
          <p:cNvSpPr/>
          <p:nvPr/>
        </p:nvSpPr>
        <p:spPr>
          <a:xfrm>
            <a:off x="640080" y="1371600"/>
            <a:ext cx="1463040" cy="777240"/>
          </a:xfrm>
          <a:prstGeom prst="rect">
            <a:avLst/>
          </a:prstGeom>
          <a:noFill/>
          <a:ln/>
        </p:spPr>
        <p:txBody>
          <a:bodyPr wrap="square" rtlCol="0" anchor="ctr"/>
          <a:lstStyle/>
          <a:p>
            <a:pPr marL="0" indent="0">
              <a:buNone/>
            </a:pPr>
            <a:r>
              <a:rPr lang="en-US" sz="1100" b="1" dirty="0">
                <a:solidFill>
                  <a:srgbClr val="3B82F6"/>
                </a:solidFill>
                <a:latin typeface="Arial" pitchFamily="34" charset="0"/>
                <a:ea typeface="Arial" pitchFamily="34" charset="-122"/>
                <a:cs typeface="Arial" pitchFamily="34" charset="-120"/>
              </a:rPr>
              <a:t>FRONTEND</a:t>
            </a:r>
            <a:endParaRPr lang="en-US" sz="1100" dirty="0"/>
          </a:p>
        </p:txBody>
      </p:sp>
      <p:sp>
        <p:nvSpPr>
          <p:cNvPr id="8" name="Text 6"/>
          <p:cNvSpPr/>
          <p:nvPr/>
        </p:nvSpPr>
        <p:spPr>
          <a:xfrm>
            <a:off x="2194560" y="1417320"/>
            <a:ext cx="4114800" cy="365760"/>
          </a:xfrm>
          <a:prstGeom prst="rect">
            <a:avLst/>
          </a:prstGeom>
          <a:noFill/>
          <a:ln/>
        </p:spPr>
        <p:txBody>
          <a:bodyPr wrap="square" rtlCol="0" anchor="ctr"/>
          <a:lstStyle/>
          <a:p>
            <a:pPr marL="0" indent="0">
              <a:buNone/>
            </a:pPr>
            <a:r>
              <a:rPr lang="en-US" sz="1400" b="1" dirty="0">
                <a:solidFill>
                  <a:srgbClr val="FFFFFF"/>
                </a:solidFill>
                <a:latin typeface="Arial" pitchFamily="34" charset="0"/>
                <a:ea typeface="Arial" pitchFamily="34" charset="-122"/>
                <a:cs typeface="Arial" pitchFamily="34" charset="-120"/>
              </a:rPr>
              <a:t>React 18 + TypeScript + Vite</a:t>
            </a:r>
            <a:endParaRPr lang="en-US" sz="1400" dirty="0"/>
          </a:p>
        </p:txBody>
      </p:sp>
      <p:sp>
        <p:nvSpPr>
          <p:cNvPr id="9" name="Text 7"/>
          <p:cNvSpPr/>
          <p:nvPr/>
        </p:nvSpPr>
        <p:spPr>
          <a:xfrm>
            <a:off x="2194560" y="1783080"/>
            <a:ext cx="4114800" cy="274320"/>
          </a:xfrm>
          <a:prstGeom prst="rect">
            <a:avLst/>
          </a:prstGeom>
          <a:noFill/>
          <a:ln/>
        </p:spPr>
        <p:txBody>
          <a:bodyPr wrap="square" rtlCol="0" anchor="t"/>
          <a:lstStyle/>
          <a:p>
            <a:pPr marL="0" indent="0">
              <a:buNone/>
            </a:pPr>
            <a:r>
              <a:rPr lang="en-US" sz="1000" dirty="0">
                <a:solidFill>
                  <a:srgbClr val="8899AA"/>
                </a:solidFill>
                <a:latin typeface="Arial" pitchFamily="34" charset="0"/>
                <a:ea typeface="Arial" pitchFamily="34" charset="-122"/>
                <a:cs typeface="Arial" pitchFamily="34" charset="-120"/>
              </a:rPr>
              <a:t>SPA, Code-splitting, Lazy loading</a:t>
            </a:r>
            <a:endParaRPr lang="en-US" sz="1000" dirty="0"/>
          </a:p>
        </p:txBody>
      </p:sp>
      <p:sp>
        <p:nvSpPr>
          <p:cNvPr id="10" name="Shape 8"/>
          <p:cNvSpPr/>
          <p:nvPr/>
        </p:nvSpPr>
        <p:spPr>
          <a:xfrm>
            <a:off x="365760" y="2286000"/>
            <a:ext cx="8412480" cy="777240"/>
          </a:xfrm>
          <a:prstGeom prst="roundRect">
            <a:avLst>
              <a:gd name="adj" fmla="val 14118"/>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1" name="Shape 9"/>
          <p:cNvSpPr/>
          <p:nvPr/>
        </p:nvSpPr>
        <p:spPr>
          <a:xfrm>
            <a:off x="365760" y="2286000"/>
            <a:ext cx="73152" cy="777240"/>
          </a:xfrm>
          <a:prstGeom prst="rect">
            <a:avLst/>
          </a:prstGeom>
          <a:solidFill>
            <a:srgbClr val="D4A017"/>
          </a:solidFill>
          <a:ln/>
        </p:spPr>
        <p:txBody>
          <a:bodyPr/>
          <a:lstStyle/>
          <a:p>
            <a:endParaRPr lang="en-US"/>
          </a:p>
        </p:txBody>
      </p:sp>
      <p:sp>
        <p:nvSpPr>
          <p:cNvPr id="12" name="Text 10"/>
          <p:cNvSpPr/>
          <p:nvPr/>
        </p:nvSpPr>
        <p:spPr>
          <a:xfrm>
            <a:off x="640080" y="2286000"/>
            <a:ext cx="1463040" cy="777240"/>
          </a:xfrm>
          <a:prstGeom prst="rect">
            <a:avLst/>
          </a:prstGeom>
          <a:noFill/>
          <a:ln/>
        </p:spPr>
        <p:txBody>
          <a:bodyPr wrap="square" rtlCol="0" anchor="ctr"/>
          <a:lstStyle/>
          <a:p>
            <a:pPr marL="0" indent="0">
              <a:buNone/>
            </a:pPr>
            <a:r>
              <a:rPr lang="en-US" sz="1100" b="1" dirty="0">
                <a:solidFill>
                  <a:srgbClr val="D4A017"/>
                </a:solidFill>
                <a:latin typeface="Arial" pitchFamily="34" charset="0"/>
                <a:ea typeface="Arial" pitchFamily="34" charset="-122"/>
                <a:cs typeface="Arial" pitchFamily="34" charset="-120"/>
              </a:rPr>
              <a:t>UI / UX</a:t>
            </a:r>
            <a:endParaRPr lang="en-US" sz="1100" dirty="0"/>
          </a:p>
        </p:txBody>
      </p:sp>
      <p:sp>
        <p:nvSpPr>
          <p:cNvPr id="13" name="Text 11"/>
          <p:cNvSpPr/>
          <p:nvPr/>
        </p:nvSpPr>
        <p:spPr>
          <a:xfrm>
            <a:off x="2194560" y="2331720"/>
            <a:ext cx="4114800" cy="365760"/>
          </a:xfrm>
          <a:prstGeom prst="rect">
            <a:avLst/>
          </a:prstGeom>
          <a:noFill/>
          <a:ln/>
        </p:spPr>
        <p:txBody>
          <a:bodyPr wrap="square" rtlCol="0" anchor="ctr"/>
          <a:lstStyle/>
          <a:p>
            <a:pPr marL="0" indent="0">
              <a:buNone/>
            </a:pPr>
            <a:r>
              <a:rPr lang="en-US" sz="1400" b="1" dirty="0">
                <a:solidFill>
                  <a:srgbClr val="FFFFFF"/>
                </a:solidFill>
                <a:latin typeface="Arial" pitchFamily="34" charset="0"/>
                <a:ea typeface="Arial" pitchFamily="34" charset="-122"/>
                <a:cs typeface="Arial" pitchFamily="34" charset="-120"/>
              </a:rPr>
              <a:t>TailwindCSS + Recharts + Leaflet</a:t>
            </a:r>
            <a:endParaRPr lang="en-US" sz="1400" dirty="0"/>
          </a:p>
        </p:txBody>
      </p:sp>
      <p:sp>
        <p:nvSpPr>
          <p:cNvPr id="14" name="Text 12"/>
          <p:cNvSpPr/>
          <p:nvPr/>
        </p:nvSpPr>
        <p:spPr>
          <a:xfrm>
            <a:off x="2194560" y="2697480"/>
            <a:ext cx="4114800" cy="274320"/>
          </a:xfrm>
          <a:prstGeom prst="rect">
            <a:avLst/>
          </a:prstGeom>
          <a:noFill/>
          <a:ln/>
        </p:spPr>
        <p:txBody>
          <a:bodyPr wrap="square" rtlCol="0" anchor="t"/>
          <a:lstStyle/>
          <a:p>
            <a:pPr marL="0" indent="0">
              <a:buNone/>
            </a:pPr>
            <a:r>
              <a:rPr lang="en-US" sz="1000" dirty="0">
                <a:solidFill>
                  <a:srgbClr val="8899AA"/>
                </a:solidFill>
                <a:latin typeface="Arial" pitchFamily="34" charset="0"/>
                <a:ea typeface="Arial" pitchFamily="34" charset="-122"/>
                <a:cs typeface="Arial" pitchFamily="34" charset="-120"/>
              </a:rPr>
              <a:t>Responsive, Dark/Light mode, Charts, Maps</a:t>
            </a:r>
            <a:endParaRPr lang="en-US" sz="1000" dirty="0"/>
          </a:p>
        </p:txBody>
      </p:sp>
      <p:sp>
        <p:nvSpPr>
          <p:cNvPr id="15" name="Shape 13"/>
          <p:cNvSpPr/>
          <p:nvPr/>
        </p:nvSpPr>
        <p:spPr>
          <a:xfrm>
            <a:off x="365760" y="3200400"/>
            <a:ext cx="8412480" cy="777240"/>
          </a:xfrm>
          <a:prstGeom prst="roundRect">
            <a:avLst>
              <a:gd name="adj" fmla="val 14118"/>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6" name="Shape 14"/>
          <p:cNvSpPr/>
          <p:nvPr/>
        </p:nvSpPr>
        <p:spPr>
          <a:xfrm>
            <a:off x="365760" y="3200400"/>
            <a:ext cx="73152" cy="777240"/>
          </a:xfrm>
          <a:prstGeom prst="rect">
            <a:avLst/>
          </a:prstGeom>
          <a:solidFill>
            <a:srgbClr val="10B981"/>
          </a:solidFill>
          <a:ln/>
        </p:spPr>
        <p:txBody>
          <a:bodyPr/>
          <a:lstStyle/>
          <a:p>
            <a:endParaRPr lang="en-US"/>
          </a:p>
        </p:txBody>
      </p:sp>
      <p:sp>
        <p:nvSpPr>
          <p:cNvPr id="17" name="Text 15"/>
          <p:cNvSpPr/>
          <p:nvPr/>
        </p:nvSpPr>
        <p:spPr>
          <a:xfrm>
            <a:off x="640080" y="3200400"/>
            <a:ext cx="1463040" cy="777240"/>
          </a:xfrm>
          <a:prstGeom prst="rect">
            <a:avLst/>
          </a:prstGeom>
          <a:noFill/>
          <a:ln/>
        </p:spPr>
        <p:txBody>
          <a:bodyPr wrap="square" rtlCol="0" anchor="ctr"/>
          <a:lstStyle/>
          <a:p>
            <a:pPr marL="0" indent="0">
              <a:buNone/>
            </a:pPr>
            <a:r>
              <a:rPr lang="en-US" sz="1100" b="1" dirty="0">
                <a:solidFill>
                  <a:srgbClr val="10B981"/>
                </a:solidFill>
                <a:latin typeface="Arial" pitchFamily="34" charset="0"/>
                <a:ea typeface="Arial" pitchFamily="34" charset="-122"/>
                <a:cs typeface="Arial" pitchFamily="34" charset="-120"/>
              </a:rPr>
              <a:t>BACKEND</a:t>
            </a:r>
            <a:endParaRPr lang="en-US" sz="1100" dirty="0"/>
          </a:p>
        </p:txBody>
      </p:sp>
      <p:sp>
        <p:nvSpPr>
          <p:cNvPr id="18" name="Text 16"/>
          <p:cNvSpPr/>
          <p:nvPr/>
        </p:nvSpPr>
        <p:spPr>
          <a:xfrm>
            <a:off x="2194560" y="3246120"/>
            <a:ext cx="4114800" cy="365760"/>
          </a:xfrm>
          <a:prstGeom prst="rect">
            <a:avLst/>
          </a:prstGeom>
          <a:noFill/>
          <a:ln/>
        </p:spPr>
        <p:txBody>
          <a:bodyPr wrap="square" rtlCol="0" anchor="ctr"/>
          <a:lstStyle/>
          <a:p>
            <a:pPr marL="0" indent="0">
              <a:buNone/>
            </a:pPr>
            <a:r>
              <a:rPr lang="en-US" sz="1400" b="1" dirty="0">
                <a:solidFill>
                  <a:srgbClr val="FFFFFF"/>
                </a:solidFill>
                <a:latin typeface="Arial" pitchFamily="34" charset="0"/>
                <a:ea typeface="Arial" pitchFamily="34" charset="-122"/>
                <a:cs typeface="Arial" pitchFamily="34" charset="-120"/>
              </a:rPr>
              <a:t>Supabase (PostgreSQL + Auth)</a:t>
            </a:r>
            <a:endParaRPr lang="en-US" sz="1400" dirty="0"/>
          </a:p>
        </p:txBody>
      </p:sp>
      <p:sp>
        <p:nvSpPr>
          <p:cNvPr id="19" name="Text 17"/>
          <p:cNvSpPr/>
          <p:nvPr/>
        </p:nvSpPr>
        <p:spPr>
          <a:xfrm>
            <a:off x="2194560" y="3611880"/>
            <a:ext cx="4114800" cy="274320"/>
          </a:xfrm>
          <a:prstGeom prst="rect">
            <a:avLst/>
          </a:prstGeom>
          <a:noFill/>
          <a:ln/>
        </p:spPr>
        <p:txBody>
          <a:bodyPr wrap="square" rtlCol="0" anchor="t"/>
          <a:lstStyle/>
          <a:p>
            <a:pPr marL="0" indent="0">
              <a:buNone/>
            </a:pPr>
            <a:r>
              <a:rPr lang="en-US" sz="1000" dirty="0">
                <a:solidFill>
                  <a:srgbClr val="8899AA"/>
                </a:solidFill>
                <a:latin typeface="Arial" pitchFamily="34" charset="0"/>
                <a:ea typeface="Arial" pitchFamily="34" charset="-122"/>
                <a:cs typeface="Arial" pitchFamily="34" charset="-120"/>
              </a:rPr>
              <a:t>RESTful API, Realtime, Storage, RLS</a:t>
            </a:r>
            <a:endParaRPr lang="en-US" sz="1000" dirty="0"/>
          </a:p>
        </p:txBody>
      </p:sp>
      <p:sp>
        <p:nvSpPr>
          <p:cNvPr id="20" name="Shape 18"/>
          <p:cNvSpPr/>
          <p:nvPr/>
        </p:nvSpPr>
        <p:spPr>
          <a:xfrm>
            <a:off x="365760" y="4114800"/>
            <a:ext cx="8412480" cy="777240"/>
          </a:xfrm>
          <a:prstGeom prst="roundRect">
            <a:avLst>
              <a:gd name="adj" fmla="val 14118"/>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21" name="Shape 19"/>
          <p:cNvSpPr/>
          <p:nvPr/>
        </p:nvSpPr>
        <p:spPr>
          <a:xfrm>
            <a:off x="365760" y="4114800"/>
            <a:ext cx="73152" cy="777240"/>
          </a:xfrm>
          <a:prstGeom prst="rect">
            <a:avLst/>
          </a:prstGeom>
          <a:solidFill>
            <a:srgbClr val="F97316"/>
          </a:solidFill>
          <a:ln/>
        </p:spPr>
        <p:txBody>
          <a:bodyPr/>
          <a:lstStyle/>
          <a:p>
            <a:endParaRPr lang="en-US"/>
          </a:p>
        </p:txBody>
      </p:sp>
      <p:sp>
        <p:nvSpPr>
          <p:cNvPr id="22" name="Text 20"/>
          <p:cNvSpPr/>
          <p:nvPr/>
        </p:nvSpPr>
        <p:spPr>
          <a:xfrm>
            <a:off x="640080" y="4114800"/>
            <a:ext cx="1463040" cy="777240"/>
          </a:xfrm>
          <a:prstGeom prst="rect">
            <a:avLst/>
          </a:prstGeom>
          <a:noFill/>
          <a:ln/>
        </p:spPr>
        <p:txBody>
          <a:bodyPr wrap="square" rtlCol="0" anchor="ctr"/>
          <a:lstStyle/>
          <a:p>
            <a:pPr marL="0" indent="0">
              <a:buNone/>
            </a:pPr>
            <a:r>
              <a:rPr lang="en-US" sz="1100" b="1" dirty="0">
                <a:solidFill>
                  <a:srgbClr val="F97316"/>
                </a:solidFill>
                <a:latin typeface="Arial" pitchFamily="34" charset="0"/>
                <a:ea typeface="Arial" pitchFamily="34" charset="-122"/>
                <a:cs typeface="Arial" pitchFamily="34" charset="-120"/>
              </a:rPr>
              <a:t>AI / BIM</a:t>
            </a:r>
            <a:endParaRPr lang="en-US" sz="1100" dirty="0"/>
          </a:p>
        </p:txBody>
      </p:sp>
      <p:sp>
        <p:nvSpPr>
          <p:cNvPr id="23" name="Text 21"/>
          <p:cNvSpPr/>
          <p:nvPr/>
        </p:nvSpPr>
        <p:spPr>
          <a:xfrm>
            <a:off x="2194560" y="4160520"/>
            <a:ext cx="4114800" cy="365760"/>
          </a:xfrm>
          <a:prstGeom prst="rect">
            <a:avLst/>
          </a:prstGeom>
          <a:noFill/>
          <a:ln/>
        </p:spPr>
        <p:txBody>
          <a:bodyPr wrap="square" rtlCol="0" anchor="ctr"/>
          <a:lstStyle/>
          <a:p>
            <a:pPr marL="0" indent="0">
              <a:buNone/>
            </a:pPr>
            <a:r>
              <a:rPr lang="en-US" sz="1400" b="1" dirty="0">
                <a:solidFill>
                  <a:srgbClr val="FFFFFF"/>
                </a:solidFill>
                <a:latin typeface="Arial" pitchFamily="34" charset="0"/>
                <a:ea typeface="Arial" pitchFamily="34" charset="-122"/>
                <a:cs typeface="Arial" pitchFamily="34" charset="-120"/>
              </a:rPr>
              <a:t>Gemini API + Three.js + IFC.js</a:t>
            </a:r>
            <a:endParaRPr lang="en-US" sz="1400" dirty="0"/>
          </a:p>
        </p:txBody>
      </p:sp>
      <p:sp>
        <p:nvSpPr>
          <p:cNvPr id="24" name="Text 22"/>
          <p:cNvSpPr/>
          <p:nvPr/>
        </p:nvSpPr>
        <p:spPr>
          <a:xfrm>
            <a:off x="2194560" y="4526280"/>
            <a:ext cx="4114800" cy="274320"/>
          </a:xfrm>
          <a:prstGeom prst="rect">
            <a:avLst/>
          </a:prstGeom>
          <a:noFill/>
          <a:ln/>
        </p:spPr>
        <p:txBody>
          <a:bodyPr wrap="square" rtlCol="0" anchor="t"/>
          <a:lstStyle/>
          <a:p>
            <a:pPr marL="0" indent="0">
              <a:buNone/>
            </a:pPr>
            <a:r>
              <a:rPr lang="en-US" sz="1000" dirty="0">
                <a:solidFill>
                  <a:srgbClr val="8899AA"/>
                </a:solidFill>
                <a:latin typeface="Arial" pitchFamily="34" charset="0"/>
                <a:ea typeface="Arial" pitchFamily="34" charset="-122"/>
                <a:cs typeface="Arial" pitchFamily="34" charset="-120"/>
              </a:rPr>
              <a:t>AI Summary, Risk Detection, 3D BIM Viewer</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bg>
      <p:bgPr>
        <a:solidFill>
          <a:srgbClr val="16213E"/>
        </a:solidFill>
        <a:effectLst/>
      </p:bgPr>
    </p:bg>
    <p:spTree>
      <p:nvGrpSpPr>
        <p:cNvPr id="1" name=""/>
        <p:cNvGrpSpPr/>
        <p:nvPr/>
      </p:nvGrpSpPr>
      <p:grpSpPr>
        <a:xfrm>
          <a:off x="0" y="0"/>
          <a:ext cx="0" cy="0"/>
          <a:chOff x="0" y="0"/>
          <a:chExt cx="0" cy="0"/>
        </a:xfrm>
      </p:grpSpPr>
      <p:sp>
        <p:nvSpPr>
          <p:cNvPr id="2" name="Text 0"/>
          <p:cNvSpPr/>
          <p:nvPr/>
        </p:nvSpPr>
        <p:spPr>
          <a:xfrm>
            <a:off x="548640" y="274320"/>
            <a:ext cx="8046720" cy="548640"/>
          </a:xfrm>
          <a:prstGeom prst="rect">
            <a:avLst/>
          </a:prstGeom>
          <a:noFill/>
          <a:ln/>
        </p:spPr>
        <p:txBody>
          <a:bodyPr wrap="square" rtlCol="0" anchor="ctr"/>
          <a:lstStyle/>
          <a:p>
            <a:pPr marL="0" indent="0" algn="l">
              <a:buNone/>
            </a:pPr>
            <a:r>
              <a:rPr lang="en-US" sz="2800" b="1" dirty="0">
                <a:solidFill>
                  <a:srgbClr val="D4A017"/>
                </a:solidFill>
                <a:latin typeface="Arial" pitchFamily="34" charset="0"/>
                <a:ea typeface="Arial" pitchFamily="34" charset="-122"/>
                <a:cs typeface="Arial" pitchFamily="34" charset="-120"/>
              </a:rPr>
              <a:t>LỢI ÍCH &amp; GIÁ TRỊ</a:t>
            </a:r>
            <a:endParaRPr lang="en-US" sz="2800" dirty="0"/>
          </a:p>
        </p:txBody>
      </p:sp>
      <p:sp>
        <p:nvSpPr>
          <p:cNvPr id="3" name="Text 1"/>
          <p:cNvSpPr/>
          <p:nvPr/>
        </p:nvSpPr>
        <p:spPr>
          <a:xfrm>
            <a:off x="548640" y="777240"/>
            <a:ext cx="8046720" cy="365760"/>
          </a:xfrm>
          <a:prstGeom prst="rect">
            <a:avLst/>
          </a:prstGeom>
          <a:noFill/>
          <a:ln/>
        </p:spPr>
        <p:txBody>
          <a:bodyPr wrap="square" rtlCol="0" anchor="ctr"/>
          <a:lstStyle/>
          <a:p>
            <a:pPr marL="0" indent="0" algn="l">
              <a:buNone/>
            </a:pPr>
            <a:r>
              <a:rPr lang="en-US" sz="1400" dirty="0">
                <a:solidFill>
                  <a:srgbClr val="8899AA"/>
                </a:solidFill>
                <a:latin typeface="Arial" pitchFamily="34" charset="0"/>
                <a:ea typeface="Arial" pitchFamily="34" charset="-122"/>
                <a:cs typeface="Arial" pitchFamily="34" charset="-120"/>
              </a:rPr>
              <a:t>Giá trị mang lại cho Ban QLDA ĐTXD DDCN</a:t>
            </a:r>
            <a:endParaRPr lang="en-US" sz="1400" dirty="0"/>
          </a:p>
        </p:txBody>
      </p:sp>
      <p:sp>
        <p:nvSpPr>
          <p:cNvPr id="4" name="Shape 2"/>
          <p:cNvSpPr/>
          <p:nvPr/>
        </p:nvSpPr>
        <p:spPr>
          <a:xfrm>
            <a:off x="548640" y="1143000"/>
            <a:ext cx="1371600" cy="36576"/>
          </a:xfrm>
          <a:prstGeom prst="rect">
            <a:avLst/>
          </a:prstGeom>
          <a:solidFill>
            <a:srgbClr val="D4A017"/>
          </a:solidFill>
          <a:ln/>
        </p:spPr>
        <p:txBody>
          <a:bodyPr/>
          <a:lstStyle/>
          <a:p>
            <a:endParaRPr lang="en-US"/>
          </a:p>
        </p:txBody>
      </p:sp>
      <p:sp>
        <p:nvSpPr>
          <p:cNvPr id="5" name="Shape 3"/>
          <p:cNvSpPr/>
          <p:nvPr/>
        </p:nvSpPr>
        <p:spPr>
          <a:xfrm>
            <a:off x="274320" y="1371600"/>
            <a:ext cx="2011680" cy="2560320"/>
          </a:xfrm>
          <a:prstGeom prst="roundRect">
            <a:avLst>
              <a:gd name="adj" fmla="val 5455"/>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6" name="Text 4"/>
          <p:cNvSpPr/>
          <p:nvPr/>
        </p:nvSpPr>
        <p:spPr>
          <a:xfrm>
            <a:off x="274320" y="1554480"/>
            <a:ext cx="2011680" cy="640080"/>
          </a:xfrm>
          <a:prstGeom prst="rect">
            <a:avLst/>
          </a:prstGeom>
          <a:noFill/>
          <a:ln/>
        </p:spPr>
        <p:txBody>
          <a:bodyPr wrap="square" rtlCol="0" anchor="ctr"/>
          <a:lstStyle/>
          <a:p>
            <a:pPr marL="0" indent="0" algn="ctr">
              <a:buNone/>
            </a:pPr>
            <a:r>
              <a:rPr lang="en-US" sz="3600" b="1" dirty="0">
                <a:solidFill>
                  <a:srgbClr val="D4A017"/>
                </a:solidFill>
                <a:latin typeface="Arial" pitchFamily="34" charset="0"/>
                <a:ea typeface="Arial" pitchFamily="34" charset="-122"/>
                <a:cs typeface="Arial" pitchFamily="34" charset="-120"/>
              </a:rPr>
              <a:t>80%</a:t>
            </a:r>
            <a:endParaRPr lang="en-US" sz="3600" dirty="0"/>
          </a:p>
        </p:txBody>
      </p:sp>
      <p:sp>
        <p:nvSpPr>
          <p:cNvPr id="7" name="Text 5"/>
          <p:cNvSpPr/>
          <p:nvPr/>
        </p:nvSpPr>
        <p:spPr>
          <a:xfrm>
            <a:off x="274320" y="2240280"/>
            <a:ext cx="2011680" cy="548640"/>
          </a:xfrm>
          <a:prstGeom prst="rect">
            <a:avLst/>
          </a:prstGeom>
          <a:noFill/>
          <a:ln/>
        </p:spPr>
        <p:txBody>
          <a:bodyPr wrap="square" rtlCol="0" anchor="ctr"/>
          <a:lstStyle/>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Giảm thời gian</a:t>
            </a:r>
            <a:endParaRPr lang="en-US" sz="1200" dirty="0"/>
          </a:p>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lập báo cáo</a:t>
            </a:r>
            <a:endParaRPr lang="en-US" sz="1200" dirty="0"/>
          </a:p>
        </p:txBody>
      </p:sp>
      <p:sp>
        <p:nvSpPr>
          <p:cNvPr id="8" name="Shape 6"/>
          <p:cNvSpPr/>
          <p:nvPr/>
        </p:nvSpPr>
        <p:spPr>
          <a:xfrm>
            <a:off x="822960" y="2834640"/>
            <a:ext cx="914400" cy="27432"/>
          </a:xfrm>
          <a:prstGeom prst="rect">
            <a:avLst/>
          </a:prstGeom>
          <a:solidFill>
            <a:srgbClr val="D4A017"/>
          </a:solidFill>
          <a:ln/>
        </p:spPr>
        <p:txBody>
          <a:bodyPr/>
          <a:lstStyle/>
          <a:p>
            <a:endParaRPr lang="en-US"/>
          </a:p>
        </p:txBody>
      </p:sp>
      <p:sp>
        <p:nvSpPr>
          <p:cNvPr id="9" name="Text 7"/>
          <p:cNvSpPr/>
          <p:nvPr/>
        </p:nvSpPr>
        <p:spPr>
          <a:xfrm>
            <a:off x="365760" y="2926080"/>
            <a:ext cx="1828800" cy="731520"/>
          </a:xfrm>
          <a:prstGeom prst="rect">
            <a:avLst/>
          </a:prstGeom>
          <a:noFill/>
          <a:ln/>
        </p:spPr>
        <p:txBody>
          <a:bodyPr wrap="square" rtlCol="0" anchor="t"/>
          <a:lstStyle/>
          <a:p>
            <a:pPr marL="0" indent="0" algn="ctr">
              <a:lnSpc>
                <a:spcPct val="130000"/>
              </a:lnSpc>
              <a:buNone/>
            </a:pPr>
            <a:r>
              <a:rPr lang="en-US" sz="1000" dirty="0">
                <a:solidFill>
                  <a:srgbClr val="8899AA"/>
                </a:solidFill>
                <a:latin typeface="Arial" pitchFamily="34" charset="0"/>
                <a:ea typeface="Arial" pitchFamily="34" charset="-122"/>
                <a:cs typeface="Arial" pitchFamily="34" charset="-120"/>
              </a:rPr>
              <a:t>Tự động hóa biểu mẫu TT24, Luật ĐTC</a:t>
            </a:r>
            <a:endParaRPr lang="en-US" sz="1000" dirty="0"/>
          </a:p>
        </p:txBody>
      </p:sp>
      <p:sp>
        <p:nvSpPr>
          <p:cNvPr id="10" name="Shape 8"/>
          <p:cNvSpPr/>
          <p:nvPr/>
        </p:nvSpPr>
        <p:spPr>
          <a:xfrm>
            <a:off x="2468880" y="1371600"/>
            <a:ext cx="2011680" cy="2560320"/>
          </a:xfrm>
          <a:prstGeom prst="roundRect">
            <a:avLst>
              <a:gd name="adj" fmla="val 5455"/>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1" name="Text 9"/>
          <p:cNvSpPr/>
          <p:nvPr/>
        </p:nvSpPr>
        <p:spPr>
          <a:xfrm>
            <a:off x="2468880" y="1554480"/>
            <a:ext cx="2011680" cy="640080"/>
          </a:xfrm>
          <a:prstGeom prst="rect">
            <a:avLst/>
          </a:prstGeom>
          <a:noFill/>
          <a:ln/>
        </p:spPr>
        <p:txBody>
          <a:bodyPr wrap="square" rtlCol="0" anchor="ctr"/>
          <a:lstStyle/>
          <a:p>
            <a:pPr marL="0" indent="0" algn="ctr">
              <a:buNone/>
            </a:pPr>
            <a:r>
              <a:rPr lang="en-US" sz="3600" b="1" dirty="0">
                <a:solidFill>
                  <a:srgbClr val="10B981"/>
                </a:solidFill>
                <a:latin typeface="Arial" pitchFamily="34" charset="0"/>
                <a:ea typeface="Arial" pitchFamily="34" charset="-122"/>
                <a:cs typeface="Arial" pitchFamily="34" charset="-120"/>
              </a:rPr>
              <a:t>100%</a:t>
            </a:r>
            <a:endParaRPr lang="en-US" sz="3600" dirty="0"/>
          </a:p>
        </p:txBody>
      </p:sp>
      <p:sp>
        <p:nvSpPr>
          <p:cNvPr id="12" name="Text 10"/>
          <p:cNvSpPr/>
          <p:nvPr/>
        </p:nvSpPr>
        <p:spPr>
          <a:xfrm>
            <a:off x="2468880" y="2240280"/>
            <a:ext cx="2011680" cy="548640"/>
          </a:xfrm>
          <a:prstGeom prst="rect">
            <a:avLst/>
          </a:prstGeom>
          <a:noFill/>
          <a:ln/>
        </p:spPr>
        <p:txBody>
          <a:bodyPr wrap="square" rtlCol="0" anchor="ctr"/>
          <a:lstStyle/>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Minh bạch</a:t>
            </a:r>
            <a:endParaRPr lang="en-US" sz="1200" dirty="0"/>
          </a:p>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tiến độ</a:t>
            </a:r>
            <a:endParaRPr lang="en-US" sz="1200" dirty="0"/>
          </a:p>
        </p:txBody>
      </p:sp>
      <p:sp>
        <p:nvSpPr>
          <p:cNvPr id="13" name="Shape 11"/>
          <p:cNvSpPr/>
          <p:nvPr/>
        </p:nvSpPr>
        <p:spPr>
          <a:xfrm>
            <a:off x="3017520" y="2834640"/>
            <a:ext cx="914400" cy="27432"/>
          </a:xfrm>
          <a:prstGeom prst="rect">
            <a:avLst/>
          </a:prstGeom>
          <a:solidFill>
            <a:srgbClr val="10B981"/>
          </a:solidFill>
          <a:ln/>
        </p:spPr>
        <p:txBody>
          <a:bodyPr/>
          <a:lstStyle/>
          <a:p>
            <a:endParaRPr lang="en-US"/>
          </a:p>
        </p:txBody>
      </p:sp>
      <p:sp>
        <p:nvSpPr>
          <p:cNvPr id="14" name="Text 12"/>
          <p:cNvSpPr/>
          <p:nvPr/>
        </p:nvSpPr>
        <p:spPr>
          <a:xfrm>
            <a:off x="2560320" y="2926080"/>
            <a:ext cx="1828800" cy="731520"/>
          </a:xfrm>
          <a:prstGeom prst="rect">
            <a:avLst/>
          </a:prstGeom>
          <a:noFill/>
          <a:ln/>
        </p:spPr>
        <p:txBody>
          <a:bodyPr wrap="square" rtlCol="0" anchor="t"/>
          <a:lstStyle/>
          <a:p>
            <a:pPr marL="0" indent="0" algn="ctr">
              <a:lnSpc>
                <a:spcPct val="130000"/>
              </a:lnSpc>
              <a:buNone/>
            </a:pPr>
            <a:r>
              <a:rPr lang="en-US" sz="1000" dirty="0">
                <a:solidFill>
                  <a:srgbClr val="8899AA"/>
                </a:solidFill>
                <a:latin typeface="Arial" pitchFamily="34" charset="0"/>
                <a:ea typeface="Arial" pitchFamily="34" charset="-122"/>
                <a:cs typeface="Arial" pitchFamily="34" charset="-120"/>
              </a:rPr>
              <a:t>Realtime dashboard, bản đồ, cảnh báo</a:t>
            </a:r>
            <a:endParaRPr lang="en-US" sz="1000" dirty="0"/>
          </a:p>
        </p:txBody>
      </p:sp>
      <p:sp>
        <p:nvSpPr>
          <p:cNvPr id="15" name="Shape 13"/>
          <p:cNvSpPr/>
          <p:nvPr/>
        </p:nvSpPr>
        <p:spPr>
          <a:xfrm>
            <a:off x="4663440" y="1371600"/>
            <a:ext cx="2011680" cy="2560320"/>
          </a:xfrm>
          <a:prstGeom prst="roundRect">
            <a:avLst>
              <a:gd name="adj" fmla="val 5455"/>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6" name="Text 14"/>
          <p:cNvSpPr/>
          <p:nvPr/>
        </p:nvSpPr>
        <p:spPr>
          <a:xfrm>
            <a:off x="4663440" y="1554480"/>
            <a:ext cx="2011680" cy="640080"/>
          </a:xfrm>
          <a:prstGeom prst="rect">
            <a:avLst/>
          </a:prstGeom>
          <a:noFill/>
          <a:ln/>
        </p:spPr>
        <p:txBody>
          <a:bodyPr wrap="square" rtlCol="0" anchor="ctr"/>
          <a:lstStyle/>
          <a:p>
            <a:pPr marL="0" indent="0" algn="ctr">
              <a:buNone/>
            </a:pPr>
            <a:r>
              <a:rPr lang="en-US" sz="3600" b="1" dirty="0">
                <a:solidFill>
                  <a:srgbClr val="3B82F6"/>
                </a:solidFill>
                <a:latin typeface="Arial" pitchFamily="34" charset="0"/>
                <a:ea typeface="Arial" pitchFamily="34" charset="-122"/>
                <a:cs typeface="Arial" pitchFamily="34" charset="-120"/>
              </a:rPr>
              <a:t>5×</a:t>
            </a:r>
            <a:endParaRPr lang="en-US" sz="3600" dirty="0"/>
          </a:p>
        </p:txBody>
      </p:sp>
      <p:sp>
        <p:nvSpPr>
          <p:cNvPr id="17" name="Text 15"/>
          <p:cNvSpPr/>
          <p:nvPr/>
        </p:nvSpPr>
        <p:spPr>
          <a:xfrm>
            <a:off x="4663440" y="2240280"/>
            <a:ext cx="2011680" cy="548640"/>
          </a:xfrm>
          <a:prstGeom prst="rect">
            <a:avLst/>
          </a:prstGeom>
          <a:noFill/>
          <a:ln/>
        </p:spPr>
        <p:txBody>
          <a:bodyPr wrap="square" rtlCol="0" anchor="ctr"/>
          <a:lstStyle/>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Tốc độ</a:t>
            </a:r>
            <a:endParaRPr lang="en-US" sz="1200" dirty="0"/>
          </a:p>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tra cứu</a:t>
            </a:r>
            <a:endParaRPr lang="en-US" sz="1200" dirty="0"/>
          </a:p>
        </p:txBody>
      </p:sp>
      <p:sp>
        <p:nvSpPr>
          <p:cNvPr id="18" name="Shape 16"/>
          <p:cNvSpPr/>
          <p:nvPr/>
        </p:nvSpPr>
        <p:spPr>
          <a:xfrm>
            <a:off x="5212080" y="2834640"/>
            <a:ext cx="914400" cy="27432"/>
          </a:xfrm>
          <a:prstGeom prst="rect">
            <a:avLst/>
          </a:prstGeom>
          <a:solidFill>
            <a:srgbClr val="3B82F6"/>
          </a:solidFill>
          <a:ln/>
        </p:spPr>
        <p:txBody>
          <a:bodyPr/>
          <a:lstStyle/>
          <a:p>
            <a:endParaRPr lang="en-US"/>
          </a:p>
        </p:txBody>
      </p:sp>
      <p:sp>
        <p:nvSpPr>
          <p:cNvPr id="19" name="Text 17"/>
          <p:cNvSpPr/>
          <p:nvPr/>
        </p:nvSpPr>
        <p:spPr>
          <a:xfrm>
            <a:off x="4754880" y="2926080"/>
            <a:ext cx="1828800" cy="731520"/>
          </a:xfrm>
          <a:prstGeom prst="rect">
            <a:avLst/>
          </a:prstGeom>
          <a:noFill/>
          <a:ln/>
        </p:spPr>
        <p:txBody>
          <a:bodyPr wrap="square" rtlCol="0" anchor="t"/>
          <a:lstStyle/>
          <a:p>
            <a:pPr marL="0" indent="0" algn="ctr">
              <a:lnSpc>
                <a:spcPct val="130000"/>
              </a:lnSpc>
              <a:buNone/>
            </a:pPr>
            <a:r>
              <a:rPr lang="en-US" sz="1000" dirty="0">
                <a:solidFill>
                  <a:srgbClr val="8899AA"/>
                </a:solidFill>
                <a:latin typeface="Arial" pitchFamily="34" charset="0"/>
                <a:ea typeface="Arial" pitchFamily="34" charset="-122"/>
                <a:cs typeface="Arial" pitchFamily="34" charset="-120"/>
              </a:rPr>
              <a:t>Tập trung dữ liệu, tìm kiếm thông minh</a:t>
            </a:r>
            <a:endParaRPr lang="en-US" sz="1000" dirty="0"/>
          </a:p>
        </p:txBody>
      </p:sp>
      <p:sp>
        <p:nvSpPr>
          <p:cNvPr id="20" name="Shape 18"/>
          <p:cNvSpPr/>
          <p:nvPr/>
        </p:nvSpPr>
        <p:spPr>
          <a:xfrm>
            <a:off x="6858000" y="1371600"/>
            <a:ext cx="2011680" cy="2560320"/>
          </a:xfrm>
          <a:prstGeom prst="roundRect">
            <a:avLst>
              <a:gd name="adj" fmla="val 5455"/>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21" name="Text 19"/>
          <p:cNvSpPr/>
          <p:nvPr/>
        </p:nvSpPr>
        <p:spPr>
          <a:xfrm>
            <a:off x="6858000" y="1554480"/>
            <a:ext cx="2011680" cy="640080"/>
          </a:xfrm>
          <a:prstGeom prst="rect">
            <a:avLst/>
          </a:prstGeom>
          <a:noFill/>
          <a:ln/>
        </p:spPr>
        <p:txBody>
          <a:bodyPr wrap="square" rtlCol="0" anchor="ctr"/>
          <a:lstStyle/>
          <a:p>
            <a:pPr marL="0" indent="0" algn="ctr">
              <a:buNone/>
            </a:pPr>
            <a:r>
              <a:rPr lang="en-US" sz="3600" b="1" dirty="0">
                <a:solidFill>
                  <a:srgbClr val="F97316"/>
                </a:solidFill>
                <a:latin typeface="Arial" pitchFamily="34" charset="0"/>
                <a:ea typeface="Arial" pitchFamily="34" charset="-122"/>
                <a:cs typeface="Arial" pitchFamily="34" charset="-120"/>
              </a:rPr>
              <a:t>0</a:t>
            </a:r>
            <a:endParaRPr lang="en-US" sz="3600" dirty="0"/>
          </a:p>
        </p:txBody>
      </p:sp>
      <p:sp>
        <p:nvSpPr>
          <p:cNvPr id="22" name="Text 20"/>
          <p:cNvSpPr/>
          <p:nvPr/>
        </p:nvSpPr>
        <p:spPr>
          <a:xfrm>
            <a:off x="6858000" y="2240280"/>
            <a:ext cx="2011680" cy="548640"/>
          </a:xfrm>
          <a:prstGeom prst="rect">
            <a:avLst/>
          </a:prstGeom>
          <a:noFill/>
          <a:ln/>
        </p:spPr>
        <p:txBody>
          <a:bodyPr wrap="square" rtlCol="0" anchor="ctr"/>
          <a:lstStyle/>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Cài đặt</a:t>
            </a:r>
            <a:endParaRPr lang="en-US" sz="1200" dirty="0"/>
          </a:p>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phần mềm</a:t>
            </a:r>
            <a:endParaRPr lang="en-US" sz="1200" dirty="0"/>
          </a:p>
        </p:txBody>
      </p:sp>
      <p:sp>
        <p:nvSpPr>
          <p:cNvPr id="23" name="Shape 21"/>
          <p:cNvSpPr/>
          <p:nvPr/>
        </p:nvSpPr>
        <p:spPr>
          <a:xfrm>
            <a:off x="7406640" y="2834640"/>
            <a:ext cx="914400" cy="27432"/>
          </a:xfrm>
          <a:prstGeom prst="rect">
            <a:avLst/>
          </a:prstGeom>
          <a:solidFill>
            <a:srgbClr val="F97316"/>
          </a:solidFill>
          <a:ln/>
        </p:spPr>
        <p:txBody>
          <a:bodyPr/>
          <a:lstStyle/>
          <a:p>
            <a:endParaRPr lang="en-US"/>
          </a:p>
        </p:txBody>
      </p:sp>
      <p:sp>
        <p:nvSpPr>
          <p:cNvPr id="24" name="Text 22"/>
          <p:cNvSpPr/>
          <p:nvPr/>
        </p:nvSpPr>
        <p:spPr>
          <a:xfrm>
            <a:off x="6949440" y="2926080"/>
            <a:ext cx="1828800" cy="731520"/>
          </a:xfrm>
          <a:prstGeom prst="rect">
            <a:avLst/>
          </a:prstGeom>
          <a:noFill/>
          <a:ln/>
        </p:spPr>
        <p:txBody>
          <a:bodyPr wrap="square" rtlCol="0" anchor="t"/>
          <a:lstStyle/>
          <a:p>
            <a:pPr marL="0" indent="0" algn="ctr">
              <a:lnSpc>
                <a:spcPct val="130000"/>
              </a:lnSpc>
              <a:buNone/>
            </a:pPr>
            <a:r>
              <a:rPr lang="en-US" sz="1000" dirty="0">
                <a:solidFill>
                  <a:srgbClr val="8899AA"/>
                </a:solidFill>
                <a:latin typeface="Arial" pitchFamily="34" charset="0"/>
                <a:ea typeface="Arial" pitchFamily="34" charset="-122"/>
                <a:cs typeface="Arial" pitchFamily="34" charset="-120"/>
              </a:rPr>
              <a:t>Web-based, truy cập mọi thiết bị</a:t>
            </a:r>
            <a:endParaRPr lang="en-US" sz="1000" dirty="0"/>
          </a:p>
        </p:txBody>
      </p:sp>
      <p:sp>
        <p:nvSpPr>
          <p:cNvPr id="25" name="Text 23"/>
          <p:cNvSpPr/>
          <p:nvPr/>
        </p:nvSpPr>
        <p:spPr>
          <a:xfrm>
            <a:off x="548640" y="4069080"/>
            <a:ext cx="8046720" cy="256032"/>
          </a:xfrm>
          <a:prstGeom prst="rect">
            <a:avLst/>
          </a:prstGeom>
          <a:noFill/>
          <a:ln/>
        </p:spPr>
        <p:txBody>
          <a:bodyPr wrap="square" rtlCol="0" anchor="ctr"/>
          <a:lstStyle/>
          <a:p>
            <a:pPr marL="0" indent="0">
              <a:buNone/>
            </a:pPr>
            <a:r>
              <a:rPr lang="en-US" sz="1050" dirty="0">
                <a:solidFill>
                  <a:srgbClr val="E8E8E8"/>
                </a:solidFill>
                <a:latin typeface="Arial" pitchFamily="34" charset="0"/>
                <a:ea typeface="Arial" pitchFamily="34" charset="-122"/>
                <a:cs typeface="Arial" pitchFamily="34" charset="-120"/>
              </a:rPr>
              <a:t>✓  Tuân thủ pháp luật: checklist TT24/2025, Luật ĐTC 58/2024, Luật XD 135/2025</a:t>
            </a:r>
            <a:endParaRPr lang="en-US" sz="1050" dirty="0"/>
          </a:p>
        </p:txBody>
      </p:sp>
      <p:sp>
        <p:nvSpPr>
          <p:cNvPr id="26" name="Text 24"/>
          <p:cNvSpPr/>
          <p:nvPr/>
        </p:nvSpPr>
        <p:spPr>
          <a:xfrm>
            <a:off x="548640" y="4343400"/>
            <a:ext cx="8046720" cy="256032"/>
          </a:xfrm>
          <a:prstGeom prst="rect">
            <a:avLst/>
          </a:prstGeom>
          <a:noFill/>
          <a:ln/>
        </p:spPr>
        <p:txBody>
          <a:bodyPr wrap="square" rtlCol="0" anchor="ctr"/>
          <a:lstStyle/>
          <a:p>
            <a:pPr marL="0" indent="0">
              <a:buNone/>
            </a:pPr>
            <a:r>
              <a:rPr lang="en-US" sz="1050" dirty="0">
                <a:solidFill>
                  <a:srgbClr val="E8E8E8"/>
                </a:solidFill>
                <a:latin typeface="Arial" pitchFamily="34" charset="0"/>
                <a:ea typeface="Arial" pitchFamily="34" charset="-122"/>
                <a:cs typeface="Arial" pitchFamily="34" charset="-120"/>
              </a:rPr>
              <a:t>✓  BIM tích hợp: xem mô hình 3D trực tiếp, không cần phần mềm chuyên dụng</a:t>
            </a:r>
            <a:endParaRPr lang="en-US" sz="1050" dirty="0"/>
          </a:p>
        </p:txBody>
      </p:sp>
      <p:sp>
        <p:nvSpPr>
          <p:cNvPr id="27" name="Text 25"/>
          <p:cNvSpPr/>
          <p:nvPr/>
        </p:nvSpPr>
        <p:spPr>
          <a:xfrm>
            <a:off x="548640" y="4617720"/>
            <a:ext cx="8046720" cy="256032"/>
          </a:xfrm>
          <a:prstGeom prst="rect">
            <a:avLst/>
          </a:prstGeom>
          <a:noFill/>
          <a:ln/>
        </p:spPr>
        <p:txBody>
          <a:bodyPr wrap="square" rtlCol="0" anchor="ctr"/>
          <a:lstStyle/>
          <a:p>
            <a:pPr marL="0" indent="0">
              <a:buNone/>
            </a:pPr>
            <a:r>
              <a:rPr lang="en-US" sz="1050" dirty="0">
                <a:solidFill>
                  <a:srgbClr val="E8E8E8"/>
                </a:solidFill>
                <a:latin typeface="Arial" pitchFamily="34" charset="0"/>
                <a:ea typeface="Arial" pitchFamily="34" charset="-122"/>
                <a:cs typeface="Arial" pitchFamily="34" charset="-120"/>
              </a:rPr>
              <a:t>✓  AI thông minh: tóm tắt tự động, phát hiện bất thường, tối ưu nguồn lực</a:t>
            </a:r>
            <a:endParaRPr lang="en-US" sz="1050" dirty="0"/>
          </a:p>
        </p:txBody>
      </p:sp>
      <p:sp>
        <p:nvSpPr>
          <p:cNvPr id="28" name="Text 26"/>
          <p:cNvSpPr/>
          <p:nvPr/>
        </p:nvSpPr>
        <p:spPr>
          <a:xfrm>
            <a:off x="548640" y="4892040"/>
            <a:ext cx="8046720" cy="256032"/>
          </a:xfrm>
          <a:prstGeom prst="rect">
            <a:avLst/>
          </a:prstGeom>
          <a:noFill/>
          <a:ln/>
        </p:spPr>
        <p:txBody>
          <a:bodyPr wrap="square" rtlCol="0" anchor="ctr"/>
          <a:lstStyle/>
          <a:p>
            <a:pPr marL="0" indent="0">
              <a:buNone/>
            </a:pPr>
            <a:r>
              <a:rPr lang="en-US" sz="1050" dirty="0">
                <a:solidFill>
                  <a:srgbClr val="E8E8E8"/>
                </a:solidFill>
                <a:latin typeface="Arial" pitchFamily="34" charset="0"/>
                <a:ea typeface="Arial" pitchFamily="34" charset="-122"/>
                <a:cs typeface="Arial" pitchFamily="34" charset="-120"/>
              </a:rPr>
              <a:t>✓  CDE theo ISO 19650: môi trường dữ liệu chung, workflow duyệt tài liệu chuyên nghiệp</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548640" y="274320"/>
            <a:ext cx="8046720" cy="548640"/>
          </a:xfrm>
          <a:prstGeom prst="rect">
            <a:avLst/>
          </a:prstGeom>
          <a:noFill/>
          <a:ln/>
        </p:spPr>
        <p:txBody>
          <a:bodyPr wrap="square" rtlCol="0" anchor="ctr"/>
          <a:lstStyle/>
          <a:p>
            <a:pPr marL="0" indent="0" algn="l">
              <a:buNone/>
            </a:pPr>
            <a:r>
              <a:rPr lang="en-US" sz="2800" b="1" dirty="0">
                <a:solidFill>
                  <a:srgbClr val="D4A017"/>
                </a:solidFill>
                <a:latin typeface="Arial" pitchFamily="34" charset="0"/>
                <a:ea typeface="Arial" pitchFamily="34" charset="-122"/>
                <a:cs typeface="Arial" pitchFamily="34" charset="-120"/>
              </a:rPr>
              <a:t>LỘ TRÌNH TRIỂN KHAI — Q2/2026</a:t>
            </a:r>
            <a:endParaRPr lang="en-US" sz="2800" dirty="0"/>
          </a:p>
        </p:txBody>
      </p:sp>
      <p:sp>
        <p:nvSpPr>
          <p:cNvPr id="3" name="Text 1"/>
          <p:cNvSpPr/>
          <p:nvPr/>
        </p:nvSpPr>
        <p:spPr>
          <a:xfrm>
            <a:off x="548640" y="777240"/>
            <a:ext cx="8046720" cy="365760"/>
          </a:xfrm>
          <a:prstGeom prst="rect">
            <a:avLst/>
          </a:prstGeom>
          <a:noFill/>
          <a:ln/>
        </p:spPr>
        <p:txBody>
          <a:bodyPr wrap="square" rtlCol="0" anchor="ctr"/>
          <a:lstStyle/>
          <a:p>
            <a:pPr marL="0" indent="0" algn="l">
              <a:buNone/>
            </a:pPr>
            <a:r>
              <a:rPr lang="en-US" sz="1400" dirty="0">
                <a:solidFill>
                  <a:srgbClr val="8899AA"/>
                </a:solidFill>
                <a:latin typeface="Arial" pitchFamily="34" charset="0"/>
                <a:ea typeface="Arial" pitchFamily="34" charset="-122"/>
                <a:cs typeface="Arial" pitchFamily="34" charset="-120"/>
              </a:rPr>
              <a:t>Gói gọn trong 1 quý (12 tuần) — 4 giai đoạn liên tiếp</a:t>
            </a:r>
            <a:endParaRPr lang="en-US" sz="1400" dirty="0"/>
          </a:p>
        </p:txBody>
      </p:sp>
      <p:sp>
        <p:nvSpPr>
          <p:cNvPr id="4" name="Shape 2"/>
          <p:cNvSpPr/>
          <p:nvPr/>
        </p:nvSpPr>
        <p:spPr>
          <a:xfrm>
            <a:off x="548640" y="1143000"/>
            <a:ext cx="1371600" cy="36576"/>
          </a:xfrm>
          <a:prstGeom prst="rect">
            <a:avLst/>
          </a:prstGeom>
          <a:solidFill>
            <a:srgbClr val="D4A017"/>
          </a:solidFill>
          <a:ln/>
        </p:spPr>
        <p:txBody>
          <a:bodyPr/>
          <a:lstStyle/>
          <a:p>
            <a:endParaRPr lang="en-US"/>
          </a:p>
        </p:txBody>
      </p:sp>
      <p:sp>
        <p:nvSpPr>
          <p:cNvPr id="5" name="Shape 3"/>
          <p:cNvSpPr/>
          <p:nvPr/>
        </p:nvSpPr>
        <p:spPr>
          <a:xfrm>
            <a:off x="731520" y="1920240"/>
            <a:ext cx="7680960" cy="36576"/>
          </a:xfrm>
          <a:prstGeom prst="rect">
            <a:avLst/>
          </a:prstGeom>
          <a:solidFill>
            <a:srgbClr val="D4A017"/>
          </a:solidFill>
          <a:ln/>
        </p:spPr>
        <p:txBody>
          <a:bodyPr/>
          <a:lstStyle/>
          <a:p>
            <a:endParaRPr lang="en-US"/>
          </a:p>
        </p:txBody>
      </p:sp>
      <p:sp>
        <p:nvSpPr>
          <p:cNvPr id="6" name="Shape 4"/>
          <p:cNvSpPr/>
          <p:nvPr/>
        </p:nvSpPr>
        <p:spPr>
          <a:xfrm>
            <a:off x="1069848" y="1755648"/>
            <a:ext cx="274320" cy="274320"/>
          </a:xfrm>
          <a:prstGeom prst="ellipse">
            <a:avLst/>
          </a:prstGeom>
          <a:solidFill>
            <a:srgbClr val="D4A017"/>
          </a:solidFill>
          <a:ln/>
        </p:spPr>
        <p:txBody>
          <a:bodyPr/>
          <a:lstStyle/>
          <a:p>
            <a:endParaRPr lang="en-US"/>
          </a:p>
        </p:txBody>
      </p:sp>
      <p:sp>
        <p:nvSpPr>
          <p:cNvPr id="7" name="Text 5"/>
          <p:cNvSpPr/>
          <p:nvPr/>
        </p:nvSpPr>
        <p:spPr>
          <a:xfrm>
            <a:off x="1069848" y="1755648"/>
            <a:ext cx="274320" cy="274320"/>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8" name="Shape 6"/>
          <p:cNvSpPr/>
          <p:nvPr/>
        </p:nvSpPr>
        <p:spPr>
          <a:xfrm>
            <a:off x="274320" y="2286000"/>
            <a:ext cx="2011680" cy="2651760"/>
          </a:xfrm>
          <a:prstGeom prst="roundRect">
            <a:avLst>
              <a:gd name="adj" fmla="val 5455"/>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9" name="Text 7"/>
          <p:cNvSpPr/>
          <p:nvPr/>
        </p:nvSpPr>
        <p:spPr>
          <a:xfrm>
            <a:off x="274320" y="2377440"/>
            <a:ext cx="2011680" cy="274320"/>
          </a:xfrm>
          <a:prstGeom prst="rect">
            <a:avLst/>
          </a:prstGeom>
          <a:noFill/>
          <a:ln/>
        </p:spPr>
        <p:txBody>
          <a:bodyPr wrap="square" rtlCol="0" anchor="ctr"/>
          <a:lstStyle/>
          <a:p>
            <a:pPr marL="0" indent="0" algn="ctr">
              <a:buNone/>
            </a:pPr>
            <a:r>
              <a:rPr lang="en-US" sz="1000" b="1" dirty="0">
                <a:solidFill>
                  <a:srgbClr val="D4A017"/>
                </a:solidFill>
                <a:latin typeface="Arial" pitchFamily="34" charset="0"/>
                <a:ea typeface="Arial" pitchFamily="34" charset="-122"/>
                <a:cs typeface="Arial" pitchFamily="34" charset="-120"/>
              </a:rPr>
              <a:t>Tuần 1–2</a:t>
            </a:r>
            <a:endParaRPr lang="en-US" sz="1000" dirty="0"/>
          </a:p>
        </p:txBody>
      </p:sp>
      <p:sp>
        <p:nvSpPr>
          <p:cNvPr id="10" name="Shape 8"/>
          <p:cNvSpPr/>
          <p:nvPr/>
        </p:nvSpPr>
        <p:spPr>
          <a:xfrm>
            <a:off x="822960" y="2697480"/>
            <a:ext cx="914400" cy="18288"/>
          </a:xfrm>
          <a:prstGeom prst="rect">
            <a:avLst/>
          </a:prstGeom>
          <a:solidFill>
            <a:srgbClr val="D4A017"/>
          </a:solidFill>
          <a:ln/>
        </p:spPr>
        <p:txBody>
          <a:bodyPr/>
          <a:lstStyle/>
          <a:p>
            <a:endParaRPr lang="en-US"/>
          </a:p>
        </p:txBody>
      </p:sp>
      <p:sp>
        <p:nvSpPr>
          <p:cNvPr id="11" name="Text 9"/>
          <p:cNvSpPr/>
          <p:nvPr/>
        </p:nvSpPr>
        <p:spPr>
          <a:xfrm>
            <a:off x="274320" y="2743200"/>
            <a:ext cx="2011680" cy="457200"/>
          </a:xfrm>
          <a:prstGeom prst="rect">
            <a:avLst/>
          </a:prstGeom>
          <a:noFill/>
          <a:ln/>
        </p:spPr>
        <p:txBody>
          <a:bodyPr wrap="square" rtlCol="0" anchor="ctr"/>
          <a:lstStyle/>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Thiết lập &amp;</a:t>
            </a:r>
            <a:endParaRPr lang="en-US" sz="1200" dirty="0"/>
          </a:p>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Nhập dữ liệu</a:t>
            </a:r>
            <a:endParaRPr lang="en-US" sz="1200" dirty="0"/>
          </a:p>
        </p:txBody>
      </p:sp>
      <p:sp>
        <p:nvSpPr>
          <p:cNvPr id="12" name="Text 10"/>
          <p:cNvSpPr/>
          <p:nvPr/>
        </p:nvSpPr>
        <p:spPr>
          <a:xfrm>
            <a:off x="365760" y="3291840"/>
            <a:ext cx="1828800" cy="1371600"/>
          </a:xfrm>
          <a:prstGeom prst="rect">
            <a:avLst/>
          </a:prstGeom>
          <a:noFill/>
          <a:ln/>
        </p:spPr>
        <p:txBody>
          <a:bodyPr wrap="square" rtlCol="0" anchor="t"/>
          <a:lstStyle/>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Hạ tầng, RBAC,</a:t>
            </a:r>
            <a:endParaRPr lang="en-US" sz="950" dirty="0"/>
          </a:p>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nhập dữ liệu hiện có,</a:t>
            </a:r>
            <a:endParaRPr lang="en-US" sz="950" dirty="0"/>
          </a:p>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Dashboard &amp; Quản trị</a:t>
            </a:r>
            <a:endParaRPr lang="en-US" sz="950" dirty="0"/>
          </a:p>
        </p:txBody>
      </p:sp>
      <p:sp>
        <p:nvSpPr>
          <p:cNvPr id="13" name="Shape 11"/>
          <p:cNvSpPr/>
          <p:nvPr/>
        </p:nvSpPr>
        <p:spPr>
          <a:xfrm>
            <a:off x="3264408" y="1755648"/>
            <a:ext cx="274320" cy="274320"/>
          </a:xfrm>
          <a:prstGeom prst="ellipse">
            <a:avLst/>
          </a:prstGeom>
          <a:solidFill>
            <a:srgbClr val="3B82F6"/>
          </a:solidFill>
          <a:ln/>
        </p:spPr>
        <p:txBody>
          <a:bodyPr/>
          <a:lstStyle/>
          <a:p>
            <a:endParaRPr lang="en-US"/>
          </a:p>
        </p:txBody>
      </p:sp>
      <p:sp>
        <p:nvSpPr>
          <p:cNvPr id="14" name="Text 12"/>
          <p:cNvSpPr/>
          <p:nvPr/>
        </p:nvSpPr>
        <p:spPr>
          <a:xfrm>
            <a:off x="3264408" y="1755648"/>
            <a:ext cx="274320" cy="274320"/>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5" name="Shape 13"/>
          <p:cNvSpPr/>
          <p:nvPr/>
        </p:nvSpPr>
        <p:spPr>
          <a:xfrm>
            <a:off x="2468880" y="2286000"/>
            <a:ext cx="2011680" cy="2651760"/>
          </a:xfrm>
          <a:prstGeom prst="roundRect">
            <a:avLst>
              <a:gd name="adj" fmla="val 5455"/>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16" name="Text 14"/>
          <p:cNvSpPr/>
          <p:nvPr/>
        </p:nvSpPr>
        <p:spPr>
          <a:xfrm>
            <a:off x="2468880" y="2377440"/>
            <a:ext cx="2011680" cy="274320"/>
          </a:xfrm>
          <a:prstGeom prst="rect">
            <a:avLst/>
          </a:prstGeom>
          <a:noFill/>
          <a:ln/>
        </p:spPr>
        <p:txBody>
          <a:bodyPr wrap="square" rtlCol="0" anchor="ctr"/>
          <a:lstStyle/>
          <a:p>
            <a:pPr marL="0" indent="0" algn="ctr">
              <a:buNone/>
            </a:pPr>
            <a:r>
              <a:rPr lang="en-US" sz="1000" b="1" dirty="0">
                <a:solidFill>
                  <a:srgbClr val="3B82F6"/>
                </a:solidFill>
                <a:latin typeface="Arial" pitchFamily="34" charset="0"/>
                <a:ea typeface="Arial" pitchFamily="34" charset="-122"/>
                <a:cs typeface="Arial" pitchFamily="34" charset="-120"/>
              </a:rPr>
              <a:t>Tuần 3–6</a:t>
            </a:r>
            <a:endParaRPr lang="en-US" sz="1000" dirty="0"/>
          </a:p>
        </p:txBody>
      </p:sp>
      <p:sp>
        <p:nvSpPr>
          <p:cNvPr id="17" name="Shape 15"/>
          <p:cNvSpPr/>
          <p:nvPr/>
        </p:nvSpPr>
        <p:spPr>
          <a:xfrm>
            <a:off x="3017520" y="2697480"/>
            <a:ext cx="914400" cy="18288"/>
          </a:xfrm>
          <a:prstGeom prst="rect">
            <a:avLst/>
          </a:prstGeom>
          <a:solidFill>
            <a:srgbClr val="3B82F6"/>
          </a:solidFill>
          <a:ln/>
        </p:spPr>
        <p:txBody>
          <a:bodyPr/>
          <a:lstStyle/>
          <a:p>
            <a:endParaRPr lang="en-US"/>
          </a:p>
        </p:txBody>
      </p:sp>
      <p:sp>
        <p:nvSpPr>
          <p:cNvPr id="18" name="Text 16"/>
          <p:cNvSpPr/>
          <p:nvPr/>
        </p:nvSpPr>
        <p:spPr>
          <a:xfrm>
            <a:off x="2468880" y="2743200"/>
            <a:ext cx="2011680" cy="457200"/>
          </a:xfrm>
          <a:prstGeom prst="rect">
            <a:avLst/>
          </a:prstGeom>
          <a:noFill/>
          <a:ln/>
        </p:spPr>
        <p:txBody>
          <a:bodyPr wrap="square" rtlCol="0" anchor="ctr"/>
          <a:lstStyle/>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Module</a:t>
            </a:r>
            <a:endParaRPr lang="en-US" sz="1200" dirty="0"/>
          </a:p>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nghiệp vụ</a:t>
            </a:r>
            <a:endParaRPr lang="en-US" sz="1200" dirty="0"/>
          </a:p>
        </p:txBody>
      </p:sp>
      <p:sp>
        <p:nvSpPr>
          <p:cNvPr id="19" name="Text 17"/>
          <p:cNvSpPr/>
          <p:nvPr/>
        </p:nvSpPr>
        <p:spPr>
          <a:xfrm>
            <a:off x="2560320" y="3291840"/>
            <a:ext cx="1828800" cy="1371600"/>
          </a:xfrm>
          <a:prstGeom prst="rect">
            <a:avLst/>
          </a:prstGeom>
          <a:noFill/>
          <a:ln/>
        </p:spPr>
        <p:txBody>
          <a:bodyPr wrap="square" rtlCol="0" anchor="t"/>
          <a:lstStyle/>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Dự án (8 tab), HĐ,</a:t>
            </a:r>
            <a:endParaRPr lang="en-US" sz="950" dirty="0"/>
          </a:p>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Thanh toán, Kanban,</a:t>
            </a:r>
            <a:endParaRPr lang="en-US" sz="950" dirty="0"/>
          </a:p>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CDE, BIM, VB pháp luật</a:t>
            </a:r>
            <a:endParaRPr lang="en-US" sz="950" dirty="0"/>
          </a:p>
        </p:txBody>
      </p:sp>
      <p:sp>
        <p:nvSpPr>
          <p:cNvPr id="20" name="Shape 18"/>
          <p:cNvSpPr/>
          <p:nvPr/>
        </p:nvSpPr>
        <p:spPr>
          <a:xfrm>
            <a:off x="5458968" y="1755648"/>
            <a:ext cx="274320" cy="274320"/>
          </a:xfrm>
          <a:prstGeom prst="ellipse">
            <a:avLst/>
          </a:prstGeom>
          <a:solidFill>
            <a:srgbClr val="10B981"/>
          </a:solidFill>
          <a:ln/>
        </p:spPr>
        <p:txBody>
          <a:bodyPr/>
          <a:lstStyle/>
          <a:p>
            <a:endParaRPr lang="en-US"/>
          </a:p>
        </p:txBody>
      </p:sp>
      <p:sp>
        <p:nvSpPr>
          <p:cNvPr id="21" name="Text 19"/>
          <p:cNvSpPr/>
          <p:nvPr/>
        </p:nvSpPr>
        <p:spPr>
          <a:xfrm>
            <a:off x="5458968" y="1755648"/>
            <a:ext cx="274320" cy="274320"/>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Shape 20"/>
          <p:cNvSpPr/>
          <p:nvPr/>
        </p:nvSpPr>
        <p:spPr>
          <a:xfrm>
            <a:off x="4663440" y="2286000"/>
            <a:ext cx="2011680" cy="2651760"/>
          </a:xfrm>
          <a:prstGeom prst="roundRect">
            <a:avLst>
              <a:gd name="adj" fmla="val 5455"/>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23" name="Text 21"/>
          <p:cNvSpPr/>
          <p:nvPr/>
        </p:nvSpPr>
        <p:spPr>
          <a:xfrm>
            <a:off x="4663440" y="2377440"/>
            <a:ext cx="2011680" cy="274320"/>
          </a:xfrm>
          <a:prstGeom prst="rect">
            <a:avLst/>
          </a:prstGeom>
          <a:noFill/>
          <a:ln/>
        </p:spPr>
        <p:txBody>
          <a:bodyPr wrap="square" rtlCol="0" anchor="ctr"/>
          <a:lstStyle/>
          <a:p>
            <a:pPr marL="0" indent="0" algn="ctr">
              <a:buNone/>
            </a:pPr>
            <a:r>
              <a:rPr lang="en-US" sz="1000" b="1" dirty="0">
                <a:solidFill>
                  <a:srgbClr val="10B981"/>
                </a:solidFill>
                <a:latin typeface="Arial" pitchFamily="34" charset="0"/>
                <a:ea typeface="Arial" pitchFamily="34" charset="-122"/>
                <a:cs typeface="Arial" pitchFamily="34" charset="-120"/>
              </a:rPr>
              <a:t>Tuần 7–10</a:t>
            </a:r>
            <a:endParaRPr lang="en-US" sz="1000" dirty="0"/>
          </a:p>
        </p:txBody>
      </p:sp>
      <p:sp>
        <p:nvSpPr>
          <p:cNvPr id="24" name="Shape 22"/>
          <p:cNvSpPr/>
          <p:nvPr/>
        </p:nvSpPr>
        <p:spPr>
          <a:xfrm>
            <a:off x="5212080" y="2697480"/>
            <a:ext cx="914400" cy="18288"/>
          </a:xfrm>
          <a:prstGeom prst="rect">
            <a:avLst/>
          </a:prstGeom>
          <a:solidFill>
            <a:srgbClr val="10B981"/>
          </a:solidFill>
          <a:ln/>
        </p:spPr>
        <p:txBody>
          <a:bodyPr/>
          <a:lstStyle/>
          <a:p>
            <a:endParaRPr lang="en-US"/>
          </a:p>
        </p:txBody>
      </p:sp>
      <p:sp>
        <p:nvSpPr>
          <p:cNvPr id="25" name="Text 23"/>
          <p:cNvSpPr/>
          <p:nvPr/>
        </p:nvSpPr>
        <p:spPr>
          <a:xfrm>
            <a:off x="4663440" y="2743200"/>
            <a:ext cx="2011680" cy="457200"/>
          </a:xfrm>
          <a:prstGeom prst="rect">
            <a:avLst/>
          </a:prstGeom>
          <a:noFill/>
          <a:ln/>
        </p:spPr>
        <p:txBody>
          <a:bodyPr wrap="square" rtlCol="0" anchor="ctr"/>
          <a:lstStyle/>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Nâng cao &amp;</a:t>
            </a:r>
            <a:endParaRPr lang="en-US" sz="1200" dirty="0"/>
          </a:p>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Tích hợp</a:t>
            </a:r>
            <a:endParaRPr lang="en-US" sz="1200" dirty="0"/>
          </a:p>
        </p:txBody>
      </p:sp>
      <p:sp>
        <p:nvSpPr>
          <p:cNvPr id="26" name="Text 24"/>
          <p:cNvSpPr/>
          <p:nvPr/>
        </p:nvSpPr>
        <p:spPr>
          <a:xfrm>
            <a:off x="4754880" y="3291840"/>
            <a:ext cx="1828800" cy="1371600"/>
          </a:xfrm>
          <a:prstGeom prst="rect">
            <a:avLst/>
          </a:prstGeom>
          <a:noFill/>
          <a:ln/>
        </p:spPr>
        <p:txBody>
          <a:bodyPr wrap="square" rtlCol="0" anchor="t"/>
          <a:lstStyle/>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AI Analytics, Báo cáo</a:t>
            </a:r>
            <a:endParaRPr lang="en-US" sz="950" dirty="0"/>
          </a:p>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TT24, CSDL Quốc gia</a:t>
            </a:r>
            <a:endParaRPr lang="en-US" sz="950" dirty="0"/>
          </a:p>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(NĐ 111), Responsive</a:t>
            </a:r>
            <a:endParaRPr lang="en-US" sz="950" dirty="0"/>
          </a:p>
        </p:txBody>
      </p:sp>
      <p:sp>
        <p:nvSpPr>
          <p:cNvPr id="27" name="Shape 25"/>
          <p:cNvSpPr/>
          <p:nvPr/>
        </p:nvSpPr>
        <p:spPr>
          <a:xfrm>
            <a:off x="7653528" y="1755648"/>
            <a:ext cx="274320" cy="274320"/>
          </a:xfrm>
          <a:prstGeom prst="ellipse">
            <a:avLst/>
          </a:prstGeom>
          <a:solidFill>
            <a:srgbClr val="F97316"/>
          </a:solidFill>
          <a:ln/>
        </p:spPr>
        <p:txBody>
          <a:bodyPr/>
          <a:lstStyle/>
          <a:p>
            <a:endParaRPr lang="en-US"/>
          </a:p>
        </p:txBody>
      </p:sp>
      <p:sp>
        <p:nvSpPr>
          <p:cNvPr id="28" name="Text 26"/>
          <p:cNvSpPr/>
          <p:nvPr/>
        </p:nvSpPr>
        <p:spPr>
          <a:xfrm>
            <a:off x="7653528" y="1755648"/>
            <a:ext cx="274320" cy="274320"/>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Shape 27"/>
          <p:cNvSpPr/>
          <p:nvPr/>
        </p:nvSpPr>
        <p:spPr>
          <a:xfrm>
            <a:off x="6858000" y="2286000"/>
            <a:ext cx="2011680" cy="2651760"/>
          </a:xfrm>
          <a:prstGeom prst="roundRect">
            <a:avLst>
              <a:gd name="adj" fmla="val 5455"/>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30" name="Text 28"/>
          <p:cNvSpPr/>
          <p:nvPr/>
        </p:nvSpPr>
        <p:spPr>
          <a:xfrm>
            <a:off x="6858000" y="2377440"/>
            <a:ext cx="2011680" cy="274320"/>
          </a:xfrm>
          <a:prstGeom prst="rect">
            <a:avLst/>
          </a:prstGeom>
          <a:noFill/>
          <a:ln/>
        </p:spPr>
        <p:txBody>
          <a:bodyPr wrap="square" rtlCol="0" anchor="ctr"/>
          <a:lstStyle/>
          <a:p>
            <a:pPr marL="0" indent="0" algn="ctr">
              <a:buNone/>
            </a:pPr>
            <a:r>
              <a:rPr lang="en-US" sz="1000" b="1" dirty="0">
                <a:solidFill>
                  <a:srgbClr val="F97316"/>
                </a:solidFill>
                <a:latin typeface="Arial" pitchFamily="34" charset="0"/>
                <a:ea typeface="Arial" pitchFamily="34" charset="-122"/>
                <a:cs typeface="Arial" pitchFamily="34" charset="-120"/>
              </a:rPr>
              <a:t>Tuần 11–12</a:t>
            </a:r>
            <a:endParaRPr lang="en-US" sz="1000" dirty="0"/>
          </a:p>
        </p:txBody>
      </p:sp>
      <p:sp>
        <p:nvSpPr>
          <p:cNvPr id="31" name="Shape 29"/>
          <p:cNvSpPr/>
          <p:nvPr/>
        </p:nvSpPr>
        <p:spPr>
          <a:xfrm>
            <a:off x="7406640" y="2697480"/>
            <a:ext cx="914400" cy="18288"/>
          </a:xfrm>
          <a:prstGeom prst="rect">
            <a:avLst/>
          </a:prstGeom>
          <a:solidFill>
            <a:srgbClr val="F97316"/>
          </a:solidFill>
          <a:ln/>
        </p:spPr>
        <p:txBody>
          <a:bodyPr/>
          <a:lstStyle/>
          <a:p>
            <a:endParaRPr lang="en-US"/>
          </a:p>
        </p:txBody>
      </p:sp>
      <p:sp>
        <p:nvSpPr>
          <p:cNvPr id="32" name="Text 30"/>
          <p:cNvSpPr/>
          <p:nvPr/>
        </p:nvSpPr>
        <p:spPr>
          <a:xfrm>
            <a:off x="6858000" y="2743200"/>
            <a:ext cx="2011680" cy="457200"/>
          </a:xfrm>
          <a:prstGeom prst="rect">
            <a:avLst/>
          </a:prstGeom>
          <a:noFill/>
          <a:ln/>
        </p:spPr>
        <p:txBody>
          <a:bodyPr wrap="square" rtlCol="0" anchor="ctr"/>
          <a:lstStyle/>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Đào tạo &amp;</a:t>
            </a:r>
            <a:endParaRPr lang="en-US" sz="1200" dirty="0"/>
          </a:p>
          <a:p>
            <a:pPr marL="0" indent="0" algn="ctr">
              <a:lnSpc>
                <a:spcPct val="120000"/>
              </a:lnSpc>
              <a:buNone/>
            </a:pPr>
            <a:r>
              <a:rPr lang="en-US" sz="1200" b="1" dirty="0">
                <a:solidFill>
                  <a:srgbClr val="FFFFFF"/>
                </a:solidFill>
                <a:latin typeface="Arial" pitchFamily="34" charset="0"/>
                <a:ea typeface="Arial" pitchFamily="34" charset="-122"/>
                <a:cs typeface="Arial" pitchFamily="34" charset="-120"/>
              </a:rPr>
              <a:t>Go-live</a:t>
            </a:r>
            <a:endParaRPr lang="en-US" sz="1200" dirty="0"/>
          </a:p>
        </p:txBody>
      </p:sp>
      <p:sp>
        <p:nvSpPr>
          <p:cNvPr id="33" name="Text 31"/>
          <p:cNvSpPr/>
          <p:nvPr/>
        </p:nvSpPr>
        <p:spPr>
          <a:xfrm>
            <a:off x="6949440" y="3291840"/>
            <a:ext cx="1828800" cy="1371600"/>
          </a:xfrm>
          <a:prstGeom prst="rect">
            <a:avLst/>
          </a:prstGeom>
          <a:noFill/>
          <a:ln/>
        </p:spPr>
        <p:txBody>
          <a:bodyPr wrap="square" rtlCol="0" anchor="t"/>
          <a:lstStyle/>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Đào tạo 5 Ban QLDA,</a:t>
            </a:r>
            <a:endParaRPr lang="en-US" sz="950" dirty="0"/>
          </a:p>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chạy song song,</a:t>
            </a:r>
            <a:endParaRPr lang="en-US" sz="950" dirty="0"/>
          </a:p>
          <a:p>
            <a:pPr marL="0" indent="0" algn="ctr">
              <a:lnSpc>
                <a:spcPct val="140000"/>
              </a:lnSpc>
              <a:buNone/>
            </a:pPr>
            <a:r>
              <a:rPr lang="en-US" sz="950" dirty="0">
                <a:solidFill>
                  <a:srgbClr val="8899AA"/>
                </a:solidFill>
                <a:latin typeface="Arial" pitchFamily="34" charset="0"/>
                <a:ea typeface="Arial" pitchFamily="34" charset="-122"/>
                <a:cs typeface="Arial" pitchFamily="34" charset="-120"/>
              </a:rPr>
              <a:t>nghiệm thu &amp; vận hành</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6213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017"/>
          </a:solidFill>
          <a:ln/>
        </p:spPr>
        <p:txBody>
          <a:bodyPr/>
          <a:lstStyle/>
          <a:p>
            <a:endParaRPr/>
          </a:p>
        </p:txBody>
      </p:sp>
      <p:sp>
        <p:nvSpPr>
          <p:cNvPr id="3" name="Text 1"/>
          <p:cNvSpPr/>
          <p:nvPr/>
        </p:nvSpPr>
        <p:spPr>
          <a:xfrm>
            <a:off x="548640" y="914400"/>
            <a:ext cx="8046720" cy="1280160"/>
          </a:xfrm>
          <a:prstGeom prst="rect">
            <a:avLst/>
          </a:prstGeom>
          <a:noFill/>
          <a:ln/>
        </p:spPr>
        <p:txBody>
          <a:bodyPr wrap="square" rtlCol="0" anchor="ctr"/>
          <a:lstStyle/>
          <a:p>
            <a:pPr marL="0" indent="0" algn="ctr">
              <a:lnSpc>
                <a:spcPct val="130000"/>
              </a:lnSpc>
              <a:buNone/>
            </a:pPr>
            <a:r>
              <a:rPr lang="en-US" sz="3600" b="1" dirty="0">
                <a:solidFill>
                  <a:srgbClr val="FFFFFF"/>
                </a:solidFill>
                <a:latin typeface="Arial" pitchFamily="34" charset="0"/>
                <a:ea typeface="Arial" pitchFamily="34" charset="-122"/>
                <a:cs typeface="Arial" pitchFamily="34" charset="-120"/>
              </a:rPr>
              <a:t>CẢM ƠN QUÝ BAN</a:t>
            </a:r>
            <a:endParaRPr lang="en-US" sz="3600" dirty="0"/>
          </a:p>
          <a:p>
            <a:pPr marL="0" indent="0" algn="ctr">
              <a:lnSpc>
                <a:spcPct val="130000"/>
              </a:lnSpc>
              <a:buNone/>
            </a:pPr>
            <a:r>
              <a:rPr lang="en-US" sz="3600" b="1" dirty="0">
                <a:solidFill>
                  <a:srgbClr val="FFFFFF"/>
                </a:solidFill>
                <a:latin typeface="Arial" pitchFamily="34" charset="0"/>
                <a:ea typeface="Arial" pitchFamily="34" charset="-122"/>
                <a:cs typeface="Arial" pitchFamily="34" charset="-120"/>
              </a:rPr>
              <a:t>ĐÃ LẮNG NGHE</a:t>
            </a:r>
            <a:endParaRPr lang="en-US" sz="3600" dirty="0"/>
          </a:p>
        </p:txBody>
      </p:sp>
      <p:sp>
        <p:nvSpPr>
          <p:cNvPr id="4" name="Shape 2"/>
          <p:cNvSpPr/>
          <p:nvPr/>
        </p:nvSpPr>
        <p:spPr>
          <a:xfrm>
            <a:off x="3657600" y="2286000"/>
            <a:ext cx="1828800" cy="45720"/>
          </a:xfrm>
          <a:prstGeom prst="rect">
            <a:avLst/>
          </a:prstGeom>
          <a:solidFill>
            <a:srgbClr val="D4A017"/>
          </a:solidFill>
          <a:ln/>
        </p:spPr>
        <p:txBody>
          <a:bodyPr/>
          <a:lstStyle/>
          <a:p>
            <a:endParaRPr lang="en-US"/>
          </a:p>
        </p:txBody>
      </p:sp>
      <p:sp>
        <p:nvSpPr>
          <p:cNvPr id="5" name="Text 3"/>
          <p:cNvSpPr/>
          <p:nvPr/>
        </p:nvSpPr>
        <p:spPr>
          <a:xfrm>
            <a:off x="914400" y="2560320"/>
            <a:ext cx="7315200" cy="731520"/>
          </a:xfrm>
          <a:prstGeom prst="rect">
            <a:avLst/>
          </a:prstGeom>
          <a:noFill/>
          <a:ln/>
        </p:spPr>
        <p:txBody>
          <a:bodyPr wrap="square" rtlCol="0" anchor="ctr"/>
          <a:lstStyle/>
          <a:p>
            <a:pPr marL="0" indent="0" algn="ctr">
              <a:lnSpc>
                <a:spcPct val="140000"/>
              </a:lnSpc>
              <a:buNone/>
            </a:pPr>
            <a:r>
              <a:rPr lang="en-US" sz="1400" dirty="0">
                <a:solidFill>
                  <a:srgbClr val="F0D68A"/>
                </a:solidFill>
                <a:latin typeface="Arial" pitchFamily="34" charset="0"/>
                <a:ea typeface="Arial" pitchFamily="34" charset="-122"/>
                <a:cs typeface="Arial" pitchFamily="34" charset="-120"/>
              </a:rPr>
              <a:t>Hệ thống QLDA ĐTXD — Giải pháp số hóa toàn diện</a:t>
            </a:r>
            <a:endParaRPr lang="en-US" sz="1400" dirty="0"/>
          </a:p>
          <a:p>
            <a:pPr marL="0" indent="0" algn="ctr">
              <a:lnSpc>
                <a:spcPct val="140000"/>
              </a:lnSpc>
              <a:buNone/>
            </a:pPr>
            <a:r>
              <a:rPr lang="en-US" sz="1400" dirty="0">
                <a:solidFill>
                  <a:srgbClr val="F0D68A"/>
                </a:solidFill>
                <a:latin typeface="Arial" pitchFamily="34" charset="0"/>
                <a:ea typeface="Arial" pitchFamily="34" charset="-122"/>
                <a:cs typeface="Arial" pitchFamily="34" charset="-120"/>
              </a:rPr>
              <a:t>cho quản lý dự án đầu tư xây dựng</a:t>
            </a:r>
            <a:endParaRPr lang="en-US" sz="1400" dirty="0"/>
          </a:p>
        </p:txBody>
      </p:sp>
      <p:sp>
        <p:nvSpPr>
          <p:cNvPr id="6" name="Shape 4"/>
          <p:cNvSpPr/>
          <p:nvPr/>
        </p:nvSpPr>
        <p:spPr>
          <a:xfrm>
            <a:off x="2286000" y="3474720"/>
            <a:ext cx="4572000" cy="1097280"/>
          </a:xfrm>
          <a:prstGeom prst="roundRect">
            <a:avLst>
              <a:gd name="adj" fmla="val 10000"/>
            </a:avLst>
          </a:prstGeom>
          <a:solidFill>
            <a:srgbClr val="1E2A4A"/>
          </a:solidFill>
          <a:ln w="12700">
            <a:solidFill>
              <a:srgbClr val="2A3A5E"/>
            </a:solidFill>
            <a:prstDash val="solid"/>
          </a:ln>
          <a:effectLst>
            <a:outerShdw blurRad="101600" dist="25400" dir="8100000" algn="bl" rotWithShape="0">
              <a:srgbClr val="000000">
                <a:alpha val="20000"/>
              </a:srgbClr>
            </a:outerShdw>
          </a:effectLst>
        </p:spPr>
        <p:txBody>
          <a:bodyPr/>
          <a:lstStyle/>
          <a:p>
            <a:endParaRPr lang="en-US"/>
          </a:p>
        </p:txBody>
      </p:sp>
      <p:sp>
        <p:nvSpPr>
          <p:cNvPr id="7" name="Text 5"/>
          <p:cNvSpPr/>
          <p:nvPr/>
        </p:nvSpPr>
        <p:spPr>
          <a:xfrm>
            <a:off x="2468880" y="3566160"/>
            <a:ext cx="4206240" cy="914400"/>
          </a:xfrm>
          <a:prstGeom prst="rect">
            <a:avLst/>
          </a:prstGeom>
          <a:noFill/>
          <a:ln/>
        </p:spPr>
        <p:txBody>
          <a:bodyPr wrap="square" rtlCol="0" anchor="ctr"/>
          <a:lstStyle/>
          <a:p>
            <a:pPr marL="0" indent="0" algn="ctr">
              <a:lnSpc>
                <a:spcPct val="130000"/>
              </a:lnSpc>
              <a:buNone/>
            </a:pPr>
            <a:r>
              <a:rPr lang="en-US" sz="1400" b="1" dirty="0">
                <a:solidFill>
                  <a:srgbClr val="D4A017"/>
                </a:solidFill>
                <a:latin typeface="Arial" pitchFamily="34" charset="0"/>
                <a:ea typeface="Arial" pitchFamily="34" charset="-122"/>
                <a:cs typeface="Arial" pitchFamily="34" charset="-120"/>
              </a:rPr>
              <a:t>CIC Technology and Consultancy JSC
</a:t>
            </a:r>
            <a:endParaRPr lang="en-US" sz="1400" dirty="0"/>
          </a:p>
          <a:p>
            <a:pPr marL="0" indent="0" algn="ctr">
              <a:lnSpc>
                <a:spcPct val="130000"/>
              </a:lnSpc>
              <a:buNone/>
            </a:pPr>
            <a:r>
              <a:rPr lang="en-US" sz="1100" dirty="0">
                <a:solidFill>
                  <a:srgbClr val="8899AA"/>
                </a:solidFill>
                <a:latin typeface="Arial" pitchFamily="34" charset="0"/>
                <a:ea typeface="Arial" pitchFamily="34" charset="-122"/>
                <a:cs typeface="Arial" pitchFamily="34" charset="-120"/>
              </a:rPr>
              <a:t>Website: www.cic.com.vn  •  Email: anhnq@cic.com.vn
</a:t>
            </a:r>
            <a:endParaRPr lang="en-US" sz="1400" dirty="0"/>
          </a:p>
          <a:p>
            <a:pPr marL="0" indent="0" algn="ctr">
              <a:lnSpc>
                <a:spcPct val="130000"/>
              </a:lnSpc>
              <a:buNone/>
            </a:pPr>
            <a:r>
              <a:rPr lang="en-US" sz="1100" dirty="0">
                <a:solidFill>
                  <a:srgbClr val="8899AA"/>
                </a:solidFill>
                <a:latin typeface="Arial" pitchFamily="34" charset="0"/>
                <a:ea typeface="Arial" pitchFamily="34" charset="-122"/>
                <a:cs typeface="Arial" pitchFamily="34" charset="-120"/>
              </a:rPr>
              <a:t>TP. Hồ Chí Minh, Việt Nam</a:t>
            </a:r>
            <a:endParaRPr lang="en-US" sz="1400" dirty="0"/>
          </a:p>
        </p:txBody>
      </p:sp>
      <p:sp>
        <p:nvSpPr>
          <p:cNvPr id="8" name="Shape 6"/>
          <p:cNvSpPr/>
          <p:nvPr/>
        </p:nvSpPr>
        <p:spPr>
          <a:xfrm>
            <a:off x="0" y="5088636"/>
            <a:ext cx="9144000" cy="54864"/>
          </a:xfrm>
          <a:prstGeom prst="rect">
            <a:avLst/>
          </a:prstGeom>
          <a:solidFill>
            <a:srgbClr val="D4A017"/>
          </a:solidFill>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2059</Words>
  <Application>Microsoft Office PowerPoint</Application>
  <PresentationFormat>On-screen Show (16:9)</PresentationFormat>
  <Paragraphs>220</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Giới thiệu Phần mềm QLDA ĐTXD DDCN — TP. Hồ Chí Minh</dc:title>
  <dc:subject>PptxGenJS Presentation</dc:subject>
  <dc:creator>CIC Technology and Consultancy JSC</dc:creator>
  <cp:lastModifiedBy>Nguyen Quoc Anh</cp:lastModifiedBy>
  <cp:revision>2</cp:revision>
  <dcterms:created xsi:type="dcterms:W3CDTF">2026-03-12T10:01:03Z</dcterms:created>
  <dcterms:modified xsi:type="dcterms:W3CDTF">2026-03-17T15:37:58Z</dcterms:modified>
</cp:coreProperties>
</file>