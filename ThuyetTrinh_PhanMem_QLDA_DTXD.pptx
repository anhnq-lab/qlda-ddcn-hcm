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QUẢN LÝ DỰ ÁN</a:t>
            </a:r>
            <a:endParaRPr lang="en-US" sz="3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TƯ XÂY DỰNG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828800" cy="457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8346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0D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QLDA ĐTXD các công trình Dân dụng và Công nghiệp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0D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UBND Thành phố Hồ Chí Minh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Phiên bản 1.0  •  12/03/2026</a:t>
            </a:r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 CIC — Construction Information Center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THUYẾT TRÌNH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8046720" cy="438912"/>
          </a:xfrm>
          <a:prstGeom prst="roundRect">
            <a:avLst>
              <a:gd name="adj" fmla="val 2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89888"/>
            <a:ext cx="411480" cy="4114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8988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371600"/>
            <a:ext cx="6400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Mục tiêu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901952"/>
            <a:ext cx="8046720" cy="438912"/>
          </a:xfrm>
          <a:prstGeom prst="roundRect">
            <a:avLst>
              <a:gd name="adj" fmla="val 2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92024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1901952"/>
            <a:ext cx="6400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 Hệ thống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8046720" cy="438912"/>
          </a:xfrm>
          <a:prstGeom prst="roundRect">
            <a:avLst>
              <a:gd name="adj" fmla="val 2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450592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4505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2432304"/>
            <a:ext cx="6400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Module Chức năng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2962656"/>
            <a:ext cx="8046720" cy="438912"/>
          </a:xfrm>
          <a:prstGeom prst="roundRect">
            <a:avLst>
              <a:gd name="adj" fmla="val 2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2980944"/>
            <a:ext cx="411480" cy="4114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9809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2962656"/>
            <a:ext cx="6400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&amp; Kiến trúc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493008"/>
            <a:ext cx="8046720" cy="438912"/>
          </a:xfrm>
          <a:prstGeom prst="roundRect">
            <a:avLst>
              <a:gd name="adj" fmla="val 2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511296"/>
            <a:ext cx="411480" cy="4114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5112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493008"/>
            <a:ext cx="6400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 &amp; Phân quyền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023360"/>
            <a:ext cx="8046720" cy="438912"/>
          </a:xfrm>
          <a:prstGeom prst="roundRect">
            <a:avLst>
              <a:gd name="adj" fmla="val 2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023360"/>
            <a:ext cx="6400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Lợi ích &amp; Giá trị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4553712"/>
            <a:ext cx="8046720" cy="438912"/>
          </a:xfrm>
          <a:prstGeom prst="roundRect">
            <a:avLst>
              <a:gd name="adj" fmla="val 2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1520" y="4572000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572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71600" y="4553712"/>
            <a:ext cx="6400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Triển khai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CUỘC CÁCH MẠNG CÔNG NGHIỆP &amp; CHUYỂN ĐỔI SỐ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— tài sản cốt lõi trong kỷ nguyên 4.0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91640"/>
            <a:ext cx="76809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1554480"/>
            <a:ext cx="274320" cy="274320"/>
          </a:xfrm>
          <a:prstGeom prst="ellipse">
            <a:avLst/>
          </a:prstGeom>
          <a:solidFill>
            <a:srgbClr val="8899A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2011680"/>
            <a:ext cx="1965960" cy="1645920"/>
          </a:xfrm>
          <a:prstGeom prst="roundRect">
            <a:avLst>
              <a:gd name="adj" fmla="val 6667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21031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TK 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2606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giới hóa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2926080"/>
            <a:ext cx="868680" cy="18288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0175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hơi nước thay sức lao động thủ công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554480"/>
            <a:ext cx="274320" cy="274320"/>
          </a:xfrm>
          <a:prstGeom prst="ellipse">
            <a:avLst/>
          </a:prstGeom>
          <a:solidFill>
            <a:srgbClr val="8899AA"/>
          </a:solidFill>
          <a:ln/>
        </p:spPr>
      </p:sp>
      <p:sp>
        <p:nvSpPr>
          <p:cNvPr id="14" name="Shape 12"/>
          <p:cNvSpPr/>
          <p:nvPr/>
        </p:nvSpPr>
        <p:spPr>
          <a:xfrm>
            <a:off x="2514600" y="2011680"/>
            <a:ext cx="1965960" cy="1645920"/>
          </a:xfrm>
          <a:prstGeom prst="roundRect">
            <a:avLst>
              <a:gd name="adj" fmla="val 6667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514600" y="21031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514600" y="2377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TK 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14600" y="2606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xuất hàng loạt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63240" y="2926080"/>
            <a:ext cx="868680" cy="18288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19" name="Text 17"/>
          <p:cNvSpPr/>
          <p:nvPr/>
        </p:nvSpPr>
        <p:spPr>
          <a:xfrm>
            <a:off x="2606040" y="30175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khí hóa, công nghiệp hiện đại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40680" y="1554480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011680"/>
            <a:ext cx="1965960" cy="1645920"/>
          </a:xfrm>
          <a:prstGeom prst="roundRect">
            <a:avLst>
              <a:gd name="adj" fmla="val 6667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63440" y="21031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63440" y="2377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TK 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663440" y="2606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hóa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12080" y="2926080"/>
            <a:ext cx="868680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0175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tính, Internet, kết nối toàn cầu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9520" y="1554480"/>
            <a:ext cx="274320" cy="2743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2011680"/>
            <a:ext cx="1965960" cy="1645920"/>
          </a:xfrm>
          <a:prstGeom prst="roundRect">
            <a:avLst>
              <a:gd name="adj" fmla="val 6667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812280" y="21031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12280" y="2377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tại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12280" y="2606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hóa toàn diện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60920" y="2926080"/>
            <a:ext cx="868680" cy="182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6903720" y="30175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IoT, BIM — dữ liệu là tài sản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931920"/>
            <a:ext cx="841248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40080" y="397764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</a:t>
            </a:r>
            <a:pPr indent="0" marL="0">
              <a:buNone/>
            </a:pPr>
            <a:r>
              <a:rPr lang="en-US" sz="1300" i="1" dirty="0">
                <a:solidFill>
                  <a:srgbClr val="F0D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 chức nào làm chủ dữ liệu sớm — tổ chức đó sẽ quản lý hiệu quả hơn, minh bạch hơn và tiết kiệm nguồn lực hơn.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CĂN CỨ PHÁP LÝ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pháp lý cho quản lý dự án đầu tư xây dựng và chuyển đổi số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  VỀ QUẢN LÝ DỰ ÁN ĐTXD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Đầu tư công 58/2024/QH15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lý, sử dụng vốn đầu tư công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Xây dựng 135/2025/QH15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QLDA ĐTXD, chuyển đổi số và BIM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Đấu thầu 22/2023/QH15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Lựa chọn nhà thầu, nhà đầu tư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NĐ 175/2024 • NĐ 214/2025 • TT 24/2025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dẫn thi hành, biểu mẫu QLDA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VỀ CHUYỂN ĐỔI SỐ &amp; CSDL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92024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GDĐT 20/2023/QH15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nhận giá trị pháp lý dữ liệu điện tử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NĐ 111/2024/NĐ-CP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CSDL quốc gia về hoạt động xây dựng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Nghị quyết 57-NQ/TW (22/12/2024)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Đột phá KHCN, đổi mới sáng tạo &amp; CĐS quốc gia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QĐ 749/QĐ-TTg • QĐ 2289 • NQ 52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CĐS quốc gia, chiến lược CMCN 4.0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 &amp; GIẢI PHÁP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vấn đề cốt lõi và 5 trụ cột giải pháp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THÁCH THỨC HIỆN TẠI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phân tán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Excel, email, giấy tờ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minh bạch tiến độ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theo dõi được realtime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thủ công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tốn thời gian, dễ sai sót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Rủi ro pháp lý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ĐTC 2024, Luật XD 135/2025, Luật ĐT 2023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đáp ứng CĐS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kết nối CSDL QG, chưa BIM/AI/CDE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GIẢI PHÁP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tập trung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tất cả dữ liệu trên một hệ thống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thời gian thực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KPI, biểu đồ, bản đồ cập nhật tức thì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hóa báo cáo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mẫu theo TT24/2025, Luật ĐTC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Tuân thủ pháp luật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tích hợp, cảnh báo tự động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cho 4.0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BIM, AI, CDE, CSDL quốc gia (NĐ 111)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 HỆ THỐNG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web hiện đại — truy cập mọi lúc, không cần cài đặt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1572768" cy="1463040"/>
          </a:xfrm>
          <a:prstGeom prst="roundRect">
            <a:avLst>
              <a:gd name="adj" fmla="val 75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463040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chức năng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21408" y="1371600"/>
            <a:ext cx="1572768" cy="1463040"/>
          </a:xfrm>
          <a:prstGeom prst="roundRect">
            <a:avLst>
              <a:gd name="adj" fmla="val 75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21408" y="1463040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121408" y="2103120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QLDA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trực thuộc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77056" y="1371600"/>
            <a:ext cx="1572768" cy="1463040"/>
          </a:xfrm>
          <a:prstGeom prst="roundRect">
            <a:avLst>
              <a:gd name="adj" fmla="val 75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77056" y="1463040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IFC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877056" y="2103120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3D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32704" y="1371600"/>
            <a:ext cx="1572768" cy="1463040"/>
          </a:xfrm>
          <a:prstGeom prst="roundRect">
            <a:avLst>
              <a:gd name="adj" fmla="val 75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632704" y="1463040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32704" y="2103120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88352" y="1371600"/>
            <a:ext cx="1572768" cy="1463040"/>
          </a:xfrm>
          <a:prstGeom prst="roundRect">
            <a:avLst>
              <a:gd name="adj" fmla="val 75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88352" y="1463040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88352" y="2103120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Dashboard realtime với 5 KPI chính, biểu đồ giải ngân, bản đồ dự án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3465576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🏗️  Quản lý toàn bộ vòng đời dự án: Chuẩn bị → Thực hiện → Kết thúc XD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386791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AI tóm tắt tình hình, phát hiện bất thường, chấm điểm nhà thầu tự động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427024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 BIM 3D Viewer — xem mô hình công trình trong trình duyệt, không cần phần mềm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672584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CDE — Môi trường dữ liệu chung theo ISO 19650, workflow duyệt tài liệu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MODULE CHỨC NĂNG (1/2)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module phục vụ toàn bộ quy trình quản lý dự án đầu tư xây dựng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463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1463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KPI, biểu đồ giải ngân, bản đồ vị trí, cảnh báo rủi ro, AI Summary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37160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463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🏢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703320" y="1463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án đầu tư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tab: Thông tin, Vốn, Tuân thủ PL, Tài liệu, BIM, Vận hành, Gói thầu, Kế hoạch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37160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463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🏗️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1463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3D Viewer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7220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IFC, ViewCube, Walkthrough, Section, Measurement, Facility Mgmt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1089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" y="3200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📁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" y="3200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36118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19650, WIP/SHARED/PUBLISHED, Workflow duyệt, Transmittal, Permission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31089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91840" y="3200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703320" y="3200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đồng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37560" y="36118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vòng đời HĐ, phụ lục, liên kết thanh toán, trạng thái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35040" y="31089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3200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537960" y="3200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toán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72200" y="36118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Tạm ứng, khối lượng, quyết toán — theo dõi trạng thái chuyển khoản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MODULE CHỨC NĂNG (2/2)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2801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71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việc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Kanban Board, 17+ Template quy trình, subtask, phụ thuộc, lọc đa tiêu chí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2801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371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0332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sự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7830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cán bộ Ban QLDA (Ban 1–5), hồ sơ, chức vụ, sơ đồ tổ chức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2801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371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🏭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53796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Nhà thầu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17830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 sơ năng lực, AI Scoring, đánh giá hiệu suất, danh sách HĐ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1752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108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📂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1089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 sơ tài liệu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Upload/download, phân loại theo giai đoạn, preview trực tiếp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301752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91840" y="3108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31089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Văn bản pháp luật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 cứu Luật ĐTC, Luật XD 135, NĐ, TT — liên kết trực tiếp dự án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301752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3108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537960" y="31089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&amp; Quản trị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7220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Xuất Excel/PDF, RBAC, Audit Log, Impersonation, Dark/Light mode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NỔI BẬT: BIM 3D VIEWER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mô hình BIM trực tiếp trong trình duyệt — không cần cài phần mềm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54480"/>
            <a:ext cx="320040" cy="32004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&amp; Render IFC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Tải lên file IFC, tự động render 3D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55448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ViewCube &amp; Walkthrough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hướng trực quan, chế độ đi bộ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24028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242316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286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Tree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6060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Cây phân cấp cấu kiện, bật/tắt nhóm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24028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2423160"/>
            <a:ext cx="320040" cy="3200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286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Panel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6060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thuộc tính chi tiết cấu kiện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10896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3291840"/>
            <a:ext cx="320040" cy="32004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1546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Plane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474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Cắt mặt cắt ngang/dọc mô hình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0896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329184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31546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Tools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3474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khoảng cách, diện tích, góc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97764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416052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023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Management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tài sản theo vị trí BIM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3977640"/>
            <a:ext cx="4114800" cy="731520"/>
          </a:xfrm>
          <a:prstGeom prst="roundRect">
            <a:avLst>
              <a:gd name="adj" fmla="val 15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00600" y="4160520"/>
            <a:ext cx="320040" cy="3200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5" name="Text 33"/>
          <p:cNvSpPr/>
          <p:nvPr/>
        </p:nvSpPr>
        <p:spPr>
          <a:xfrm>
            <a:off x="5212080" y="4023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Shortcuts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21208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Phím tắt tối ưu hiệu suất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&amp; KIẾN TRÚC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web hiện đại — Không cần cài đặt, truy cập mọi lúc mọi nơi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71600"/>
            <a:ext cx="73152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1417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TypeScript + Vite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17830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SPA, Code-splitting, Lazy loading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8600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286000"/>
            <a:ext cx="73152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8600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/ UX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TailwindCSS + Recharts + Leaflet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19456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Dark/Light mode, Charts, Maps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20040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200400"/>
            <a:ext cx="73152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0040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3246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(PostgreSQL + Auth)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94560" y="3611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RESTful API, Realtime, Storage, RLS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411480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4114800"/>
            <a:ext cx="73152" cy="7772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11480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BIM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41605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+ Three.js + IFC.js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194560" y="4526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Summary, Risk Detection, 3D BIM Viewer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 &amp; PHÂN QUYỀN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lớp bảo mật — chỉ người có quyền mới truy cập được dữ liệu tương ứng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463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75564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nhập email/password qua Supabase Auth, phiên đăng nhập an toàn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463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75564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theo Vai trò × Tài nguyên × Hành động (xem/sửa/xóa/duyệt)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46888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560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2514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Level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28529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RLS — mỗi truy vấn tự động lọc theo quyền người dùng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46888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560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12080" y="2514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28529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nhận mọi thao tác: ai làm gì, lúc nào — không thể chối bỏ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56616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3657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HTTPS/TLS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395020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kết nối được mã hóa, chứng chỉ SSL tự động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56616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3657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1208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395020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xem hệ thống dưới góc nhìn người dùng khác để hỗ trợ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LỢI ÍCH &amp; GIÁ TRỊ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 trị mang lại cho Ban QLDA ĐTXD DDCN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371600"/>
            <a:ext cx="2011680" cy="256032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544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74320" y="22402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thời gian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báo cáo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914400" cy="2743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9260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hóa biểu mẫu TT24, Luật ĐTC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1371600"/>
            <a:ext cx="2011680" cy="256032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5544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468880" y="22402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Minh bạch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 độ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17520" y="2834640"/>
            <a:ext cx="91440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2560320" y="29260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dashboard, bản đồ, cảnh báo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2011680" cy="256032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15544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663440" y="22402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 cứu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0" y="2834640"/>
            <a:ext cx="914400" cy="274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9260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Tập trung dữ liệu, tìm kiếm thông minh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0" y="1371600"/>
            <a:ext cx="2011680" cy="256032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0" y="15544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858000" y="22402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Cài đặt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mềm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2834640"/>
            <a:ext cx="914400" cy="2743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0" y="29260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Web-based, truy cập mọi thiết bị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06908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Tuân thủ pháp luật: checklist TT24/2025, Luật ĐTC 58/2024, Luật XD 135/2025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4343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BIM tích hợp: xem mô hình 3D trực tiếp, không cần phần mềm chuyên dụng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617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thông minh: tóm tắt tự động, phát hiện bất thường, tối ưu nguồn lực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4892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CDE theo ISO 19650: môi trường dữ liệu chung, workflow duyệt tài liệu chuyên nghiệp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TRIỂN KHAI — Q2/2026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Gói gọn trong 1 quý (12 tuần) — 4 giai đoạn liên tiếp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371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20240"/>
            <a:ext cx="768096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1069848" y="1755648"/>
            <a:ext cx="274320" cy="27432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286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697480"/>
            <a:ext cx="914400" cy="182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lập &amp;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Nhập dữ liệu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 tầng, RBAC,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nhập dữ liệu hiện có,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&amp; Quản trị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64408" y="175564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3264408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68880" y="2286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6888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3–6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17520" y="2697480"/>
            <a:ext cx="914400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nghiệp vụ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60320" y="329184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án (8 tab), HĐ,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toán, Kanban,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CDE, BIM, VB pháp luật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58968" y="175564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5458968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286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7–10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0" y="2697480"/>
            <a:ext cx="914400" cy="18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Nâng cao &amp;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29184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Analytics, Báo cáo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TT24, CSDL Quốc gia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(NĐ 111), Responsive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653528" y="1755648"/>
            <a:ext cx="274320" cy="2743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7653528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0" y="2286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85800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11–12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06640" y="2697480"/>
            <a:ext cx="914400" cy="1828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tạo &amp;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329184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tạo 5 Ban QLDA,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song song,</a:t>
            </a:r>
            <a:endParaRPr lang="en-US" sz="9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nghiệm thu &amp; vận hành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QUÝ BAN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LẮNG NGHE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0" y="2286000"/>
            <a:ext cx="1828800" cy="457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5603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0D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QLDA ĐTXD — Giải pháp số hóa toàn diện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0D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quản lý dự án đầu tư xây dựng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474720"/>
            <a:ext cx="4572000" cy="1097280"/>
          </a:xfrm>
          <a:prstGeom prst="roundRect">
            <a:avLst>
              <a:gd name="adj" fmla="val 10000"/>
            </a:avLst>
          </a:prstGeom>
          <a:solidFill>
            <a:srgbClr val="1E2A4A"/>
          </a:solidFill>
          <a:ln w="12700">
            <a:solidFill>
              <a:srgbClr val="2A3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5661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 — Construction Information Center
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Website: www.cic.com.vn  •  Email: support@cic.com.vn
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TP. Hồ Chí Minh, Việt Nam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Giới thiệu Phần mềm QLDA ĐTXD DDCN — TP. Hồ Chí Minh</dc:title>
  <dc:subject>PptxGenJS Presentation</dc:subject>
  <dc:creator>CIC — Construction Information Center</dc:creator>
  <cp:lastModifiedBy>CIC — Construction Information Center</cp:lastModifiedBy>
  <cp:revision>1</cp:revision>
  <dcterms:created xsi:type="dcterms:W3CDTF">2026-03-12T08:56:18Z</dcterms:created>
  <dcterms:modified xsi:type="dcterms:W3CDTF">2026-03-12T08:56:18Z</dcterms:modified>
</cp:coreProperties>
</file>